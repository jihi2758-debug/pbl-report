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8" r:id="rId22"/>
    <p:sldId id="279" r:id="rId23"/>
    <p:sldId id="280" r:id="rId24"/>
    <p:sldId id="283" r:id="rId25"/>
    <p:sldId id="276" r:id="rId26"/>
    <p:sldId id="277" r:id="rId27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04" autoAdjust="0"/>
    <p:restoredTop sz="94660"/>
  </p:normalViewPr>
  <p:slideViewPr>
    <p:cSldViewPr>
      <p:cViewPr varScale="1">
        <p:scale>
          <a:sx n="110" d="100"/>
          <a:sy n="110" d="100"/>
        </p:scale>
        <p:origin x="144" y="8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41929" y="719709"/>
            <a:ext cx="5772784" cy="8483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772159"/>
            <a:ext cx="767080" cy="5334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1435080" y="772159"/>
            <a:ext cx="756920" cy="5334000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0" y="0"/>
            <a:ext cx="12192000" cy="77215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337686" y="-88950"/>
            <a:ext cx="8252459" cy="8489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1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68667" y="1721485"/>
            <a:ext cx="5575300" cy="30899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hyperlink" Target="https://pubmed.ncbi.nlm.nih.gov/30179205" TargetMode="External"/><Relationship Id="rId3" Type="http://schemas.openxmlformats.org/officeDocument/2006/relationships/hyperlink" Target="https://pubmed.ncbi.nlm.nih.gov/30213694" TargetMode="External"/><Relationship Id="rId7" Type="http://schemas.openxmlformats.org/officeDocument/2006/relationships/hyperlink" Target="https://www.ncbi.nlm.nih.gov/pmc/articles/PMC6146200/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ubmed.ncbi.nlm.nih.gov/30209413" TargetMode="External"/><Relationship Id="rId5" Type="http://schemas.openxmlformats.org/officeDocument/2006/relationships/hyperlink" Target="https://pubmed.ncbi.nlm.nih.gov/30211351" TargetMode="External"/><Relationship Id="rId10" Type="http://schemas.openxmlformats.org/officeDocument/2006/relationships/hyperlink" Target="https://pubmed.ncbi.nlm.nih.gov/29803938" TargetMode="External"/><Relationship Id="rId4" Type="http://schemas.openxmlformats.org/officeDocument/2006/relationships/hyperlink" Target="https://www.ncbi.nlm.nih.gov/pmc/articles/PMC6132295/" TargetMode="External"/><Relationship Id="rId9" Type="http://schemas.openxmlformats.org/officeDocument/2006/relationships/hyperlink" Target="https://www.ncbi.nlm.nih.gov/pmc/articles/PMC6146013/" TargetMode="Externa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57211" y="3187699"/>
            <a:ext cx="10124440" cy="678180"/>
          </a:xfrm>
          <a:custGeom>
            <a:avLst/>
            <a:gdLst/>
            <a:ahLst/>
            <a:cxnLst/>
            <a:rect l="l" t="t" r="r" b="b"/>
            <a:pathLst>
              <a:path w="10124440" h="678179">
                <a:moveTo>
                  <a:pt x="4718304" y="0"/>
                </a:moveTo>
                <a:lnTo>
                  <a:pt x="0" y="0"/>
                </a:lnTo>
                <a:lnTo>
                  <a:pt x="0" y="678180"/>
                </a:lnTo>
                <a:lnTo>
                  <a:pt x="4718304" y="678180"/>
                </a:lnTo>
                <a:lnTo>
                  <a:pt x="4718304" y="0"/>
                </a:lnTo>
                <a:close/>
              </a:path>
              <a:path w="10124440" h="678179">
                <a:moveTo>
                  <a:pt x="10123970" y="0"/>
                </a:moveTo>
                <a:lnTo>
                  <a:pt x="4718342" y="0"/>
                </a:lnTo>
                <a:lnTo>
                  <a:pt x="4718342" y="678180"/>
                </a:lnTo>
                <a:lnTo>
                  <a:pt x="10123970" y="678180"/>
                </a:lnTo>
                <a:lnTo>
                  <a:pt x="1012397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844702" y="2957829"/>
            <a:ext cx="10155555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b="1" spc="-440" dirty="0">
                <a:solidFill>
                  <a:srgbClr val="121522"/>
                </a:solidFill>
                <a:latin typeface="Arial"/>
                <a:cs typeface="Arial"/>
              </a:rPr>
              <a:t>DETECTION</a:t>
            </a:r>
            <a:r>
              <a:rPr sz="5400" b="1" spc="-100" dirty="0">
                <a:solidFill>
                  <a:srgbClr val="121522"/>
                </a:solidFill>
                <a:latin typeface="Arial"/>
                <a:cs typeface="Arial"/>
              </a:rPr>
              <a:t> </a:t>
            </a:r>
            <a:r>
              <a:rPr sz="5400" b="1" spc="-270" dirty="0">
                <a:solidFill>
                  <a:srgbClr val="121522"/>
                </a:solidFill>
                <a:latin typeface="Arial"/>
                <a:cs typeface="Arial"/>
              </a:rPr>
              <a:t>OF</a:t>
            </a:r>
            <a:r>
              <a:rPr sz="5400" b="1" spc="-90" dirty="0">
                <a:solidFill>
                  <a:srgbClr val="121522"/>
                </a:solidFill>
                <a:latin typeface="Arial"/>
                <a:cs typeface="Arial"/>
              </a:rPr>
              <a:t> </a:t>
            </a:r>
            <a:r>
              <a:rPr sz="5400" b="1" spc="-390" dirty="0">
                <a:solidFill>
                  <a:srgbClr val="121522"/>
                </a:solidFill>
                <a:latin typeface="Arial"/>
                <a:cs typeface="Arial"/>
              </a:rPr>
              <a:t>OSTEOARTHRITIS</a:t>
            </a:r>
            <a:endParaRPr sz="54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72286" y="4897627"/>
            <a:ext cx="2849880" cy="102425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44780" marR="137160" indent="-635" algn="ctr">
              <a:lnSpc>
                <a:spcPts val="2280"/>
              </a:lnSpc>
              <a:spcBef>
                <a:spcPts val="280"/>
              </a:spcBef>
            </a:pPr>
            <a:r>
              <a:rPr sz="2000" b="1" spc="-45" dirty="0">
                <a:latin typeface="Tahoma"/>
                <a:cs typeface="Tahoma"/>
              </a:rPr>
              <a:t>Submitted</a:t>
            </a:r>
            <a:r>
              <a:rPr sz="2000" b="1" spc="-70" dirty="0">
                <a:latin typeface="Tahoma"/>
                <a:cs typeface="Tahoma"/>
              </a:rPr>
              <a:t> </a:t>
            </a:r>
            <a:r>
              <a:rPr sz="2000" b="1" spc="-25" dirty="0">
                <a:latin typeface="Tahoma"/>
                <a:cs typeface="Tahoma"/>
              </a:rPr>
              <a:t>By: </a:t>
            </a:r>
            <a:r>
              <a:rPr sz="2000" b="1" spc="55" dirty="0">
                <a:latin typeface="Tahoma"/>
                <a:cs typeface="Tahoma"/>
              </a:rPr>
              <a:t>NAME</a:t>
            </a:r>
            <a:r>
              <a:rPr sz="2000" b="1" spc="-85" dirty="0">
                <a:latin typeface="Tahoma"/>
                <a:cs typeface="Tahoma"/>
              </a:rPr>
              <a:t> </a:t>
            </a:r>
            <a:r>
              <a:rPr sz="2000" b="1" spc="-160" dirty="0">
                <a:latin typeface="Tahoma"/>
                <a:cs typeface="Tahoma"/>
              </a:rPr>
              <a:t>:-</a:t>
            </a:r>
            <a:r>
              <a:rPr sz="2000" b="1" i="1" u="sng" spc="-22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YASH</a:t>
            </a:r>
            <a:r>
              <a:rPr sz="2000" b="1" i="1" u="sng" spc="-16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2000" b="1" i="1" u="sng" spc="-220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SINGH</a:t>
            </a:r>
            <a:endParaRPr sz="2000">
              <a:latin typeface="Verdana"/>
              <a:cs typeface="Verdana"/>
            </a:endParaRPr>
          </a:p>
          <a:p>
            <a:pPr algn="ctr">
              <a:lnSpc>
                <a:spcPct val="100000"/>
              </a:lnSpc>
              <a:spcBef>
                <a:spcPts val="725"/>
              </a:spcBef>
            </a:pPr>
            <a:r>
              <a:rPr sz="2000" b="1" spc="-90" dirty="0">
                <a:latin typeface="Tahoma"/>
                <a:cs typeface="Tahoma"/>
              </a:rPr>
              <a:t>REG-</a:t>
            </a:r>
            <a:r>
              <a:rPr sz="2000" b="1" spc="-30" dirty="0">
                <a:latin typeface="Tahoma"/>
                <a:cs typeface="Tahoma"/>
              </a:rPr>
              <a:t>NO:-</a:t>
            </a:r>
            <a:r>
              <a:rPr sz="2000" b="1" spc="-10" dirty="0">
                <a:latin typeface="Tahoma"/>
                <a:cs typeface="Tahoma"/>
              </a:rPr>
              <a:t>2427030760</a:t>
            </a:r>
            <a:endParaRPr sz="20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127618" y="4867782"/>
            <a:ext cx="2736850" cy="1049655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indent="-1270" algn="ctr">
              <a:lnSpc>
                <a:spcPts val="2590"/>
              </a:lnSpc>
              <a:spcBef>
                <a:spcPts val="425"/>
              </a:spcBef>
            </a:pPr>
            <a:r>
              <a:rPr sz="2400" b="1" spc="-35" dirty="0">
                <a:latin typeface="Tahoma"/>
                <a:cs typeface="Tahoma"/>
              </a:rPr>
              <a:t>Supervised</a:t>
            </a:r>
            <a:r>
              <a:rPr sz="2400" b="1" spc="-105" dirty="0">
                <a:latin typeface="Tahoma"/>
                <a:cs typeface="Tahoma"/>
              </a:rPr>
              <a:t> </a:t>
            </a:r>
            <a:r>
              <a:rPr sz="2400" b="1" spc="-25" dirty="0">
                <a:latin typeface="Tahoma"/>
                <a:cs typeface="Tahoma"/>
              </a:rPr>
              <a:t>By: </a:t>
            </a:r>
            <a:r>
              <a:rPr sz="2400" b="1" i="1" u="sng" spc="-27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DR.TAPAN</a:t>
            </a:r>
            <a:r>
              <a:rPr sz="2400" b="1" i="1" u="sng" spc="-22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 </a:t>
            </a:r>
            <a:r>
              <a:rPr sz="2400" b="1" i="1" u="sng" spc="-16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KUMAR</a:t>
            </a:r>
            <a:r>
              <a:rPr sz="2400" b="1" i="1" spc="-165" dirty="0">
                <a:latin typeface="Verdana"/>
                <a:cs typeface="Verdana"/>
              </a:rPr>
              <a:t> </a:t>
            </a:r>
            <a:r>
              <a:rPr sz="2400" b="1" i="1" u="sng" spc="-25" dirty="0">
                <a:uFill>
                  <a:solidFill>
                    <a:srgbClr val="000000"/>
                  </a:solidFill>
                </a:uFill>
                <a:latin typeface="Verdana"/>
                <a:cs typeface="Verdana"/>
              </a:rPr>
              <a:t>DEY</a:t>
            </a:r>
            <a:endParaRPr sz="2400">
              <a:latin typeface="Verdana"/>
              <a:cs typeface="Verdan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7006" y="-50"/>
            <a:ext cx="3127248" cy="91610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216911" y="1247622"/>
            <a:ext cx="7764780" cy="10560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15925">
              <a:lnSpc>
                <a:spcPct val="130000"/>
              </a:lnSpc>
              <a:spcBef>
                <a:spcPts val="100"/>
              </a:spcBef>
            </a:pPr>
            <a:r>
              <a:rPr sz="2600" spc="-105" dirty="0">
                <a:latin typeface="Arial"/>
                <a:cs typeface="Arial"/>
              </a:rPr>
              <a:t>School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of</a:t>
            </a:r>
            <a:r>
              <a:rPr sz="2600" spc="-5" dirty="0">
                <a:latin typeface="Arial"/>
                <a:cs typeface="Arial"/>
              </a:rPr>
              <a:t> </a:t>
            </a:r>
            <a:r>
              <a:rPr sz="2600" spc="-35" dirty="0">
                <a:latin typeface="Arial"/>
                <a:cs typeface="Arial"/>
              </a:rPr>
              <a:t>Computer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spc="-135" dirty="0">
                <a:latin typeface="Arial"/>
                <a:cs typeface="Arial"/>
              </a:rPr>
              <a:t>Science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and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Engineering </a:t>
            </a:r>
            <a:r>
              <a:rPr sz="2600" dirty="0">
                <a:latin typeface="Arial"/>
                <a:cs typeface="Arial"/>
              </a:rPr>
              <a:t>Department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of</a:t>
            </a:r>
            <a:r>
              <a:rPr sz="2600" spc="10" dirty="0">
                <a:latin typeface="Arial"/>
                <a:cs typeface="Arial"/>
              </a:rPr>
              <a:t> </a:t>
            </a:r>
            <a:r>
              <a:rPr sz="2600" spc="-35" dirty="0">
                <a:latin typeface="Arial"/>
                <a:cs typeface="Arial"/>
              </a:rPr>
              <a:t>Computer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-130" dirty="0">
                <a:latin typeface="Arial"/>
                <a:cs typeface="Arial"/>
              </a:rPr>
              <a:t>Science</a:t>
            </a:r>
            <a:r>
              <a:rPr sz="2600" spc="2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and</a:t>
            </a:r>
            <a:r>
              <a:rPr sz="2600" spc="15" dirty="0">
                <a:latin typeface="Arial"/>
                <a:cs typeface="Arial"/>
              </a:rPr>
              <a:t> </a:t>
            </a:r>
            <a:r>
              <a:rPr sz="2600" spc="-35" dirty="0">
                <a:latin typeface="Arial"/>
                <a:cs typeface="Arial"/>
              </a:rPr>
              <a:t>Engineering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56" y="36017"/>
            <a:ext cx="3127248" cy="916101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84605" y="812368"/>
            <a:ext cx="2435225" cy="8801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600" u="sng" spc="-45" dirty="0">
                <a:solidFill>
                  <a:srgbClr val="F92381"/>
                </a:solidFill>
                <a:uFill>
                  <a:solidFill>
                    <a:srgbClr val="F92381"/>
                  </a:solidFill>
                </a:uFill>
                <a:latin typeface="Arial"/>
                <a:cs typeface="Arial"/>
              </a:rPr>
              <a:t>Outline</a:t>
            </a:r>
            <a:endParaRPr sz="5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1710111"/>
            <a:ext cx="6028690" cy="2515870"/>
          </a:xfrm>
          <a:prstGeom prst="rect">
            <a:avLst/>
          </a:prstGeom>
        </p:spPr>
        <p:txBody>
          <a:bodyPr vert="horz" wrap="square" lIns="0" tIns="144780" rIns="0" bIns="0" rtlCol="0">
            <a:spAutoFit/>
          </a:bodyPr>
          <a:lstStyle/>
          <a:p>
            <a:pPr marL="283210" indent="-273050">
              <a:lnSpc>
                <a:spcPct val="100000"/>
              </a:lnSpc>
              <a:spcBef>
                <a:spcPts val="1140"/>
              </a:spcBef>
              <a:buClr>
                <a:srgbClr val="F92381"/>
              </a:buClr>
              <a:buSzPct val="95833"/>
              <a:buFont typeface="Wingdings"/>
              <a:buChar char=""/>
              <a:tabLst>
                <a:tab pos="283210" algn="l"/>
              </a:tabLst>
            </a:pPr>
            <a:r>
              <a:rPr sz="2400" b="1" spc="-20" dirty="0">
                <a:latin typeface="Arial"/>
                <a:cs typeface="Arial"/>
              </a:rPr>
              <a:t>Introduction</a:t>
            </a:r>
            <a:r>
              <a:rPr sz="2400" b="1" spc="-95" dirty="0">
                <a:latin typeface="Arial"/>
                <a:cs typeface="Arial"/>
              </a:rPr>
              <a:t> </a:t>
            </a:r>
            <a:r>
              <a:rPr sz="2400" b="1" spc="-155" dirty="0">
                <a:latin typeface="Arial"/>
                <a:cs typeface="Arial"/>
              </a:rPr>
              <a:t>To</a:t>
            </a:r>
            <a:r>
              <a:rPr sz="2400" b="1" spc="-10" dirty="0"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121522"/>
                </a:solidFill>
                <a:latin typeface="Tahoma"/>
                <a:cs typeface="Tahoma"/>
              </a:rPr>
              <a:t>OSTEOARTHRITIS</a:t>
            </a:r>
            <a:endParaRPr sz="2400">
              <a:latin typeface="Tahoma"/>
              <a:cs typeface="Tahoma"/>
            </a:endParaRPr>
          </a:p>
          <a:p>
            <a:pPr marL="283845" indent="-273050">
              <a:lnSpc>
                <a:spcPct val="100000"/>
              </a:lnSpc>
              <a:spcBef>
                <a:spcPts val="1045"/>
              </a:spcBef>
              <a:buClr>
                <a:srgbClr val="F92381"/>
              </a:buClr>
              <a:buSzPct val="95833"/>
              <a:buFont typeface="Wingdings"/>
              <a:buChar char=""/>
              <a:tabLst>
                <a:tab pos="283845" algn="l"/>
              </a:tabLst>
            </a:pPr>
            <a:r>
              <a:rPr sz="2400" b="1" spc="-120" dirty="0">
                <a:latin typeface="Tahoma"/>
                <a:cs typeface="Tahoma"/>
              </a:rPr>
              <a:t>LITERATURE</a:t>
            </a:r>
            <a:r>
              <a:rPr sz="2400" b="1" spc="-15" dirty="0">
                <a:latin typeface="Tahoma"/>
                <a:cs typeface="Tahoma"/>
              </a:rPr>
              <a:t> </a:t>
            </a:r>
            <a:r>
              <a:rPr sz="2400" b="1" spc="-10" dirty="0">
                <a:latin typeface="Tahoma"/>
                <a:cs typeface="Tahoma"/>
              </a:rPr>
              <a:t>REVIEW</a:t>
            </a:r>
            <a:endParaRPr sz="2400">
              <a:latin typeface="Tahoma"/>
              <a:cs typeface="Tahoma"/>
            </a:endParaRPr>
          </a:p>
          <a:p>
            <a:pPr marL="283210" indent="-273050">
              <a:lnSpc>
                <a:spcPct val="100000"/>
              </a:lnSpc>
              <a:spcBef>
                <a:spcPts val="1035"/>
              </a:spcBef>
              <a:buClr>
                <a:srgbClr val="F92381"/>
              </a:buClr>
              <a:buSzPct val="95833"/>
              <a:buFont typeface="Wingdings"/>
              <a:buChar char=""/>
              <a:tabLst>
                <a:tab pos="283210" algn="l"/>
              </a:tabLst>
            </a:pPr>
            <a:r>
              <a:rPr sz="2400" b="1" spc="-45" dirty="0">
                <a:latin typeface="Arial"/>
                <a:cs typeface="Arial"/>
              </a:rPr>
              <a:t>Detection</a:t>
            </a:r>
            <a:r>
              <a:rPr sz="2400" b="1" spc="-3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of</a:t>
            </a:r>
            <a:r>
              <a:rPr sz="2400" b="1" spc="-2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Disease</a:t>
            </a:r>
            <a:endParaRPr sz="2400">
              <a:latin typeface="Arial"/>
              <a:cs typeface="Arial"/>
            </a:endParaRPr>
          </a:p>
          <a:p>
            <a:pPr marL="283210" indent="-273050">
              <a:lnSpc>
                <a:spcPct val="100000"/>
              </a:lnSpc>
              <a:spcBef>
                <a:spcPts val="1040"/>
              </a:spcBef>
              <a:buClr>
                <a:srgbClr val="F92381"/>
              </a:buClr>
              <a:buSzPct val="95833"/>
              <a:buFont typeface="Wingdings"/>
              <a:buChar char=""/>
              <a:tabLst>
                <a:tab pos="283210" algn="l"/>
              </a:tabLst>
            </a:pPr>
            <a:r>
              <a:rPr sz="2400" b="1" dirty="0">
                <a:latin typeface="Arial"/>
                <a:cs typeface="Arial"/>
              </a:rPr>
              <a:t>Image</a:t>
            </a:r>
            <a:r>
              <a:rPr sz="2400" b="1" spc="50" dirty="0">
                <a:latin typeface="Arial"/>
                <a:cs typeface="Arial"/>
              </a:rPr>
              <a:t> </a:t>
            </a:r>
            <a:r>
              <a:rPr sz="2400" b="1" spc="-55" dirty="0">
                <a:latin typeface="Arial"/>
                <a:cs typeface="Arial"/>
              </a:rPr>
              <a:t>Recognition</a:t>
            </a:r>
            <a:r>
              <a:rPr sz="2400" b="1" spc="7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to</a:t>
            </a:r>
            <a:r>
              <a:rPr sz="2400" b="1" spc="40" dirty="0">
                <a:latin typeface="Arial"/>
                <a:cs typeface="Arial"/>
              </a:rPr>
              <a:t> </a:t>
            </a:r>
            <a:r>
              <a:rPr sz="2400" b="1" spc="-30" dirty="0">
                <a:latin typeface="Arial"/>
                <a:cs typeface="Arial"/>
              </a:rPr>
              <a:t>detect</a:t>
            </a:r>
            <a:r>
              <a:rPr sz="2400" b="1" spc="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early-</a:t>
            </a:r>
            <a:r>
              <a:rPr sz="2400" b="1" spc="-10" dirty="0">
                <a:latin typeface="Arial"/>
                <a:cs typeface="Arial"/>
              </a:rPr>
              <a:t>stage</a:t>
            </a:r>
            <a:endParaRPr sz="2400">
              <a:latin typeface="Arial"/>
              <a:cs typeface="Arial"/>
            </a:endParaRPr>
          </a:p>
          <a:p>
            <a:pPr marL="283210" indent="-273050">
              <a:lnSpc>
                <a:spcPct val="100000"/>
              </a:lnSpc>
              <a:spcBef>
                <a:spcPts val="1045"/>
              </a:spcBef>
              <a:buClr>
                <a:srgbClr val="F92381"/>
              </a:buClr>
              <a:buSzPct val="95833"/>
              <a:buFont typeface="Wingdings"/>
              <a:buChar char=""/>
              <a:tabLst>
                <a:tab pos="283210" algn="l"/>
              </a:tabLst>
            </a:pPr>
            <a:r>
              <a:rPr sz="2400" b="1" dirty="0">
                <a:latin typeface="Arial"/>
                <a:cs typeface="Arial"/>
              </a:rPr>
              <a:t>CNN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Models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to</a:t>
            </a:r>
            <a:r>
              <a:rPr sz="2400" b="1" spc="-50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analysis</a:t>
            </a:r>
            <a:r>
              <a:rPr sz="2400" b="1" spc="-35" dirty="0">
                <a:latin typeface="Arial"/>
                <a:cs typeface="Arial"/>
              </a:rPr>
              <a:t> </a:t>
            </a:r>
            <a:r>
              <a:rPr sz="2400" b="1" spc="-10" dirty="0">
                <a:latin typeface="Arial"/>
                <a:cs typeface="Arial"/>
              </a:rPr>
              <a:t>Image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56" y="36017"/>
            <a:ext cx="3127248" cy="91610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78560" y="424016"/>
            <a:ext cx="10601960" cy="6442075"/>
          </a:xfrm>
          <a:prstGeom prst="rect">
            <a:avLst/>
          </a:prstGeom>
        </p:spPr>
        <p:txBody>
          <a:bodyPr vert="horz" wrap="square" lIns="0" tIns="327025" rIns="0" bIns="0" rtlCol="0">
            <a:spAutoFit/>
          </a:bodyPr>
          <a:lstStyle/>
          <a:p>
            <a:pPr marL="476250" indent="-454025">
              <a:lnSpc>
                <a:spcPct val="100000"/>
              </a:lnSpc>
              <a:spcBef>
                <a:spcPts val="2575"/>
              </a:spcBef>
              <a:buSzPct val="97500"/>
              <a:buFont typeface="Wingdings"/>
              <a:buChar char=""/>
              <a:tabLst>
                <a:tab pos="476250" algn="l"/>
              </a:tabLst>
            </a:pPr>
            <a:r>
              <a:rPr sz="4000" b="1" spc="-405" dirty="0">
                <a:latin typeface="Arial"/>
                <a:cs typeface="Arial"/>
              </a:rPr>
              <a:t>LITERATURE</a:t>
            </a:r>
            <a:r>
              <a:rPr sz="4000" b="1" spc="60" dirty="0">
                <a:latin typeface="Arial"/>
                <a:cs typeface="Arial"/>
              </a:rPr>
              <a:t> </a:t>
            </a:r>
            <a:r>
              <a:rPr sz="4000" b="1" spc="-20" dirty="0">
                <a:latin typeface="Arial"/>
                <a:cs typeface="Arial"/>
              </a:rPr>
              <a:t>REVIEW</a:t>
            </a:r>
            <a:endParaRPr sz="4000">
              <a:latin typeface="Arial"/>
              <a:cs typeface="Arial"/>
            </a:endParaRPr>
          </a:p>
          <a:p>
            <a:pPr marL="208915">
              <a:lnSpc>
                <a:spcPct val="100000"/>
              </a:lnSpc>
              <a:spcBef>
                <a:spcPts val="1115"/>
              </a:spcBef>
            </a:pPr>
            <a:r>
              <a:rPr sz="1800" b="1" spc="-70" dirty="0">
                <a:latin typeface="Tahoma"/>
                <a:cs typeface="Tahoma"/>
              </a:rPr>
              <a:t>REFER</a:t>
            </a:r>
            <a:r>
              <a:rPr sz="1800" b="1" spc="-35" dirty="0">
                <a:latin typeface="Tahoma"/>
                <a:cs typeface="Tahoma"/>
              </a:rPr>
              <a:t> </a:t>
            </a:r>
            <a:r>
              <a:rPr sz="1800" b="1" spc="-135" dirty="0">
                <a:latin typeface="Tahoma"/>
                <a:cs typeface="Tahoma"/>
              </a:rPr>
              <a:t>:-</a:t>
            </a:r>
            <a:r>
              <a:rPr sz="1800" b="1" spc="-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2024</a:t>
            </a:r>
            <a:r>
              <a:rPr sz="1800" spc="-2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4th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International</a:t>
            </a:r>
            <a:r>
              <a:rPr sz="1800" spc="-65" dirty="0">
                <a:latin typeface="Tahoma"/>
                <a:cs typeface="Tahoma"/>
              </a:rPr>
              <a:t> </a:t>
            </a:r>
            <a:r>
              <a:rPr sz="1800" spc="55" dirty="0">
                <a:latin typeface="Tahoma"/>
                <a:cs typeface="Tahoma"/>
              </a:rPr>
              <a:t>Conference</a:t>
            </a:r>
            <a:r>
              <a:rPr sz="1800" spc="-45" dirty="0">
                <a:latin typeface="Tahoma"/>
                <a:cs typeface="Tahoma"/>
              </a:rPr>
              <a:t> </a:t>
            </a:r>
            <a:r>
              <a:rPr sz="1800" spc="80" dirty="0">
                <a:latin typeface="Tahoma"/>
                <a:cs typeface="Tahoma"/>
              </a:rPr>
              <a:t>on</a:t>
            </a:r>
            <a:r>
              <a:rPr sz="1800" spc="-85" dirty="0">
                <a:latin typeface="Tahoma"/>
                <a:cs typeface="Tahoma"/>
              </a:rPr>
              <a:t> </a:t>
            </a:r>
            <a:r>
              <a:rPr sz="1800" spc="80" dirty="0">
                <a:latin typeface="Tahoma"/>
                <a:cs typeface="Tahoma"/>
              </a:rPr>
              <a:t>Advanced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Research</a:t>
            </a:r>
            <a:r>
              <a:rPr sz="1800" spc="-55" dirty="0">
                <a:latin typeface="Tahoma"/>
                <a:cs typeface="Tahoma"/>
              </a:rPr>
              <a:t> </a:t>
            </a:r>
            <a:r>
              <a:rPr sz="1800" dirty="0">
                <a:latin typeface="Tahoma"/>
                <a:cs typeface="Tahoma"/>
              </a:rPr>
              <a:t>in</a:t>
            </a:r>
            <a:r>
              <a:rPr sz="1800" spc="-50" dirty="0">
                <a:latin typeface="Tahoma"/>
                <a:cs typeface="Tahoma"/>
              </a:rPr>
              <a:t> </a:t>
            </a:r>
            <a:r>
              <a:rPr sz="1800" spc="80" dirty="0">
                <a:latin typeface="Tahoma"/>
                <a:cs typeface="Tahoma"/>
              </a:rPr>
              <a:t>Computing</a:t>
            </a:r>
            <a:r>
              <a:rPr sz="1800" spc="-35" dirty="0">
                <a:latin typeface="Tahoma"/>
                <a:cs typeface="Tahoma"/>
              </a:rPr>
              <a:t> </a:t>
            </a:r>
            <a:r>
              <a:rPr sz="1800" spc="-10" dirty="0">
                <a:latin typeface="Tahoma"/>
                <a:cs typeface="Tahoma"/>
              </a:rPr>
              <a:t>(ICARC)</a:t>
            </a:r>
            <a:endParaRPr sz="1800">
              <a:latin typeface="Tahoma"/>
              <a:cs typeface="Tahoma"/>
            </a:endParaRPr>
          </a:p>
          <a:p>
            <a:pPr marL="12700" marR="5080">
              <a:lnSpc>
                <a:spcPct val="95000"/>
              </a:lnSpc>
              <a:spcBef>
                <a:spcPts val="1660"/>
              </a:spcBef>
            </a:pPr>
            <a:r>
              <a:rPr sz="2400" spc="55" dirty="0">
                <a:latin typeface="Tahoma"/>
                <a:cs typeface="Tahoma"/>
              </a:rPr>
              <a:t>A</a:t>
            </a:r>
            <a:r>
              <a:rPr sz="2400" spc="-105" dirty="0">
                <a:latin typeface="Tahoma"/>
                <a:cs typeface="Tahoma"/>
              </a:rPr>
              <a:t> </a:t>
            </a:r>
            <a:r>
              <a:rPr sz="2400" spc="-75" dirty="0">
                <a:latin typeface="Tahoma"/>
                <a:cs typeface="Tahoma"/>
              </a:rPr>
              <a:t>thorough</a:t>
            </a:r>
            <a:r>
              <a:rPr sz="2400" spc="-114" dirty="0">
                <a:latin typeface="Tahoma"/>
                <a:cs typeface="Tahoma"/>
              </a:rPr>
              <a:t> </a:t>
            </a:r>
            <a:r>
              <a:rPr sz="2400" spc="-70" dirty="0">
                <a:latin typeface="Tahoma"/>
                <a:cs typeface="Tahoma"/>
              </a:rPr>
              <a:t>history</a:t>
            </a:r>
            <a:r>
              <a:rPr sz="2400" spc="-110" dirty="0">
                <a:latin typeface="Tahoma"/>
                <a:cs typeface="Tahoma"/>
              </a:rPr>
              <a:t> </a:t>
            </a:r>
            <a:r>
              <a:rPr sz="2400" spc="-90" dirty="0">
                <a:latin typeface="Tahoma"/>
                <a:cs typeface="Tahoma"/>
              </a:rPr>
              <a:t>and</a:t>
            </a:r>
            <a:r>
              <a:rPr sz="2400" spc="-110" dirty="0">
                <a:latin typeface="Tahoma"/>
                <a:cs typeface="Tahoma"/>
              </a:rPr>
              <a:t> </a:t>
            </a:r>
            <a:r>
              <a:rPr sz="2400" spc="-80" dirty="0">
                <a:latin typeface="Tahoma"/>
                <a:cs typeface="Tahoma"/>
              </a:rPr>
              <a:t>physical</a:t>
            </a:r>
            <a:r>
              <a:rPr sz="2400" spc="-145" dirty="0">
                <a:latin typeface="Tahoma"/>
                <a:cs typeface="Tahoma"/>
              </a:rPr>
              <a:t> </a:t>
            </a:r>
            <a:r>
              <a:rPr sz="2400" spc="-140" dirty="0">
                <a:latin typeface="Tahoma"/>
                <a:cs typeface="Tahoma"/>
              </a:rPr>
              <a:t>exam</a:t>
            </a:r>
            <a:r>
              <a:rPr sz="2400" spc="-114" dirty="0">
                <a:latin typeface="Tahoma"/>
                <a:cs typeface="Tahoma"/>
              </a:rPr>
              <a:t> </a:t>
            </a:r>
            <a:r>
              <a:rPr sz="2400" spc="-135" dirty="0">
                <a:latin typeface="Tahoma"/>
                <a:cs typeface="Tahoma"/>
              </a:rPr>
              <a:t>(with</a:t>
            </a:r>
            <a:r>
              <a:rPr sz="2400" spc="-114" dirty="0">
                <a:latin typeface="Tahoma"/>
                <a:cs typeface="Tahoma"/>
              </a:rPr>
              <a:t> </a:t>
            </a:r>
            <a:r>
              <a:rPr sz="2400" spc="-95" dirty="0">
                <a:latin typeface="Tahoma"/>
                <a:cs typeface="Tahoma"/>
              </a:rPr>
              <a:t>a</a:t>
            </a:r>
            <a:r>
              <a:rPr sz="2400" spc="-105" dirty="0">
                <a:latin typeface="Tahoma"/>
                <a:cs typeface="Tahoma"/>
              </a:rPr>
              <a:t> </a:t>
            </a:r>
            <a:r>
              <a:rPr sz="2400" spc="-90" dirty="0">
                <a:latin typeface="Tahoma"/>
                <a:cs typeface="Tahoma"/>
              </a:rPr>
              <a:t>focused</a:t>
            </a:r>
            <a:r>
              <a:rPr sz="2400" spc="-110" dirty="0">
                <a:latin typeface="Tahoma"/>
                <a:cs typeface="Tahoma"/>
              </a:rPr>
              <a:t> </a:t>
            </a:r>
            <a:r>
              <a:rPr sz="2400" spc="-100" dirty="0">
                <a:latin typeface="Tahoma"/>
                <a:cs typeface="Tahoma"/>
              </a:rPr>
              <a:t>musculoskeletal</a:t>
            </a:r>
            <a:r>
              <a:rPr sz="2400" spc="-140" dirty="0">
                <a:latin typeface="Tahoma"/>
                <a:cs typeface="Tahoma"/>
              </a:rPr>
              <a:t> </a:t>
            </a:r>
            <a:r>
              <a:rPr sz="2400" spc="-180" dirty="0">
                <a:latin typeface="Tahoma"/>
                <a:cs typeface="Tahoma"/>
              </a:rPr>
              <a:t>exam)</a:t>
            </a:r>
            <a:r>
              <a:rPr sz="2400" spc="-10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should </a:t>
            </a:r>
            <a:r>
              <a:rPr sz="2400" spc="-50" dirty="0">
                <a:latin typeface="Tahoma"/>
                <a:cs typeface="Tahoma"/>
              </a:rPr>
              <a:t>be</a:t>
            </a:r>
            <a:r>
              <a:rPr sz="2400" spc="-114" dirty="0">
                <a:latin typeface="Tahoma"/>
                <a:cs typeface="Tahoma"/>
              </a:rPr>
              <a:t> </a:t>
            </a:r>
            <a:r>
              <a:rPr sz="2400" spc="-90" dirty="0">
                <a:latin typeface="Tahoma"/>
                <a:cs typeface="Tahoma"/>
              </a:rPr>
              <a:t>performed</a:t>
            </a:r>
            <a:r>
              <a:rPr sz="2400" spc="-110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on</a:t>
            </a:r>
            <a:r>
              <a:rPr sz="2400" spc="-95" dirty="0">
                <a:latin typeface="Tahoma"/>
                <a:cs typeface="Tahoma"/>
              </a:rPr>
              <a:t> </a:t>
            </a:r>
            <a:r>
              <a:rPr sz="2400" spc="-50" dirty="0">
                <a:latin typeface="Tahoma"/>
                <a:cs typeface="Tahoma"/>
              </a:rPr>
              <a:t>all</a:t>
            </a:r>
            <a:r>
              <a:rPr sz="2400" spc="-114" dirty="0">
                <a:latin typeface="Tahoma"/>
                <a:cs typeface="Tahoma"/>
              </a:rPr>
              <a:t> </a:t>
            </a:r>
            <a:r>
              <a:rPr sz="2400" spc="-100" dirty="0">
                <a:latin typeface="Tahoma"/>
                <a:cs typeface="Tahoma"/>
              </a:rPr>
              <a:t>patients,</a:t>
            </a:r>
            <a:r>
              <a:rPr sz="2400" spc="-120" dirty="0">
                <a:latin typeface="Tahoma"/>
                <a:cs typeface="Tahoma"/>
              </a:rPr>
              <a:t> </a:t>
            </a:r>
            <a:r>
              <a:rPr sz="2400" spc="-95" dirty="0">
                <a:latin typeface="Tahoma"/>
                <a:cs typeface="Tahoma"/>
              </a:rPr>
              <a:t>with</a:t>
            </a:r>
            <a:r>
              <a:rPr sz="2400" spc="-130" dirty="0">
                <a:latin typeface="Tahoma"/>
                <a:cs typeface="Tahoma"/>
              </a:rPr>
              <a:t> </a:t>
            </a:r>
            <a:r>
              <a:rPr sz="2400" spc="-100" dirty="0">
                <a:latin typeface="Tahoma"/>
                <a:cs typeface="Tahoma"/>
              </a:rPr>
              <a:t>some</a:t>
            </a:r>
            <a:r>
              <a:rPr sz="2400" spc="-105" dirty="0">
                <a:latin typeface="Tahoma"/>
                <a:cs typeface="Tahoma"/>
              </a:rPr>
              <a:t> </a:t>
            </a:r>
            <a:r>
              <a:rPr sz="2400" spc="-70" dirty="0">
                <a:latin typeface="Tahoma"/>
                <a:cs typeface="Tahoma"/>
              </a:rPr>
              <a:t>findings</a:t>
            </a:r>
            <a:r>
              <a:rPr sz="2400" spc="-125" dirty="0">
                <a:latin typeface="Tahoma"/>
                <a:cs typeface="Tahoma"/>
              </a:rPr>
              <a:t> </a:t>
            </a:r>
            <a:r>
              <a:rPr sz="2400" spc="-100" dirty="0">
                <a:latin typeface="Tahoma"/>
                <a:cs typeface="Tahoma"/>
              </a:rPr>
              <a:t>summarized</a:t>
            </a:r>
            <a:r>
              <a:rPr sz="2400" spc="-125" dirty="0">
                <a:latin typeface="Tahoma"/>
                <a:cs typeface="Tahoma"/>
              </a:rPr>
              <a:t> </a:t>
            </a:r>
            <a:r>
              <a:rPr sz="2400" spc="-130" dirty="0">
                <a:latin typeface="Tahoma"/>
                <a:cs typeface="Tahoma"/>
              </a:rPr>
              <a:t>above.</a:t>
            </a:r>
            <a:r>
              <a:rPr sz="2400" spc="-105" dirty="0">
                <a:latin typeface="Tahoma"/>
                <a:cs typeface="Tahoma"/>
              </a:rPr>
              <a:t> </a:t>
            </a:r>
            <a:r>
              <a:rPr sz="2400" spc="-75" dirty="0">
                <a:latin typeface="Tahoma"/>
                <a:cs typeface="Tahoma"/>
              </a:rPr>
              <a:t>Osteoarthritis</a:t>
            </a:r>
            <a:r>
              <a:rPr sz="2400" spc="-13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is </a:t>
            </a:r>
            <a:r>
              <a:rPr sz="2400" spc="-95" dirty="0">
                <a:latin typeface="Tahoma"/>
                <a:cs typeface="Tahoma"/>
              </a:rPr>
              <a:t>a</a:t>
            </a:r>
            <a:r>
              <a:rPr sz="2400" spc="-125" dirty="0">
                <a:latin typeface="Tahoma"/>
                <a:cs typeface="Tahoma"/>
              </a:rPr>
              <a:t> </a:t>
            </a:r>
            <a:r>
              <a:rPr sz="2400" spc="-70" dirty="0">
                <a:latin typeface="Tahoma"/>
                <a:cs typeface="Tahoma"/>
              </a:rPr>
              <a:t>clinical</a:t>
            </a:r>
            <a:r>
              <a:rPr sz="2400" spc="-145" dirty="0">
                <a:latin typeface="Tahoma"/>
                <a:cs typeface="Tahoma"/>
              </a:rPr>
              <a:t> </a:t>
            </a:r>
            <a:r>
              <a:rPr sz="2400" spc="-60" dirty="0">
                <a:latin typeface="Tahoma"/>
                <a:cs typeface="Tahoma"/>
              </a:rPr>
              <a:t>diagnosis</a:t>
            </a:r>
            <a:r>
              <a:rPr sz="2400" spc="-155" dirty="0">
                <a:latin typeface="Tahoma"/>
                <a:cs typeface="Tahoma"/>
              </a:rPr>
              <a:t> </a:t>
            </a:r>
            <a:r>
              <a:rPr sz="2400" spc="-85" dirty="0">
                <a:latin typeface="Tahoma"/>
                <a:cs typeface="Tahoma"/>
              </a:rPr>
              <a:t>and</a:t>
            </a:r>
            <a:r>
              <a:rPr sz="2400" spc="-120" dirty="0">
                <a:latin typeface="Tahoma"/>
                <a:cs typeface="Tahoma"/>
              </a:rPr>
              <a:t> </a:t>
            </a:r>
            <a:r>
              <a:rPr sz="2400" spc="-114" dirty="0">
                <a:latin typeface="Tahoma"/>
                <a:cs typeface="Tahoma"/>
              </a:rPr>
              <a:t>can</a:t>
            </a:r>
            <a:r>
              <a:rPr sz="2400" spc="-135" dirty="0">
                <a:latin typeface="Tahoma"/>
                <a:cs typeface="Tahoma"/>
              </a:rPr>
              <a:t> </a:t>
            </a:r>
            <a:r>
              <a:rPr sz="2400" spc="-30" dirty="0">
                <a:latin typeface="Tahoma"/>
                <a:cs typeface="Tahoma"/>
              </a:rPr>
              <a:t>be</a:t>
            </a:r>
            <a:r>
              <a:rPr sz="2400" spc="-125" dirty="0">
                <a:latin typeface="Tahoma"/>
                <a:cs typeface="Tahoma"/>
              </a:rPr>
              <a:t> </a:t>
            </a:r>
            <a:r>
              <a:rPr sz="2400" spc="-65" dirty="0">
                <a:latin typeface="Tahoma"/>
                <a:cs typeface="Tahoma"/>
              </a:rPr>
              <a:t>diagnosed</a:t>
            </a:r>
            <a:r>
              <a:rPr sz="2400" spc="-155" dirty="0">
                <a:latin typeface="Tahoma"/>
                <a:cs typeface="Tahoma"/>
              </a:rPr>
              <a:t> </a:t>
            </a:r>
            <a:r>
              <a:rPr sz="2400" spc="-90" dirty="0">
                <a:latin typeface="Tahoma"/>
                <a:cs typeface="Tahoma"/>
              </a:rPr>
              <a:t>with</a:t>
            </a:r>
            <a:r>
              <a:rPr sz="2400" spc="-140" dirty="0">
                <a:latin typeface="Tahoma"/>
                <a:cs typeface="Tahoma"/>
              </a:rPr>
              <a:t> </a:t>
            </a:r>
            <a:r>
              <a:rPr sz="2400" spc="-90" dirty="0">
                <a:latin typeface="Tahoma"/>
                <a:cs typeface="Tahoma"/>
              </a:rPr>
              <a:t>confidence</a:t>
            </a:r>
            <a:r>
              <a:rPr sz="2400" spc="-1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if</a:t>
            </a:r>
            <a:r>
              <a:rPr sz="2400" spc="190" dirty="0">
                <a:latin typeface="Tahoma"/>
                <a:cs typeface="Tahoma"/>
              </a:rPr>
              <a:t> </a:t>
            </a:r>
            <a:r>
              <a:rPr sz="2400" spc="-90" dirty="0">
                <a:latin typeface="Tahoma"/>
                <a:cs typeface="Tahoma"/>
              </a:rPr>
              <a:t>the</a:t>
            </a:r>
            <a:r>
              <a:rPr sz="2400" spc="-120" dirty="0">
                <a:latin typeface="Tahoma"/>
                <a:cs typeface="Tahoma"/>
              </a:rPr>
              <a:t> </a:t>
            </a:r>
            <a:r>
              <a:rPr sz="2400" spc="-70" dirty="0">
                <a:latin typeface="Tahoma"/>
                <a:cs typeface="Tahoma"/>
              </a:rPr>
              <a:t>following</a:t>
            </a:r>
            <a:r>
              <a:rPr sz="2400" spc="-13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are </a:t>
            </a:r>
            <a:r>
              <a:rPr sz="2400" spc="-130" dirty="0">
                <a:latin typeface="Tahoma"/>
                <a:cs typeface="Tahoma"/>
              </a:rPr>
              <a:t>present:</a:t>
            </a:r>
            <a:r>
              <a:rPr sz="2400" spc="-135" dirty="0">
                <a:latin typeface="Tahoma"/>
                <a:cs typeface="Tahoma"/>
              </a:rPr>
              <a:t> </a:t>
            </a:r>
            <a:r>
              <a:rPr sz="2400" spc="-75" dirty="0">
                <a:latin typeface="Tahoma"/>
                <a:cs typeface="Tahoma"/>
              </a:rPr>
              <a:t>pain</a:t>
            </a:r>
            <a:r>
              <a:rPr sz="2400" spc="-110" dirty="0">
                <a:latin typeface="Tahoma"/>
                <a:cs typeface="Tahoma"/>
              </a:rPr>
              <a:t> </a:t>
            </a:r>
            <a:r>
              <a:rPr sz="2400" spc="-85" dirty="0">
                <a:latin typeface="Tahoma"/>
                <a:cs typeface="Tahoma"/>
              </a:rPr>
              <a:t>worse</a:t>
            </a:r>
            <a:r>
              <a:rPr sz="2400" spc="-110" dirty="0">
                <a:latin typeface="Tahoma"/>
                <a:cs typeface="Tahoma"/>
              </a:rPr>
              <a:t> </a:t>
            </a:r>
            <a:r>
              <a:rPr sz="2400" spc="-95" dirty="0">
                <a:latin typeface="Tahoma"/>
                <a:cs typeface="Tahoma"/>
              </a:rPr>
              <a:t>with</a:t>
            </a:r>
            <a:r>
              <a:rPr sz="2400" spc="-110" dirty="0">
                <a:latin typeface="Tahoma"/>
                <a:cs typeface="Tahoma"/>
              </a:rPr>
              <a:t> </a:t>
            </a:r>
            <a:r>
              <a:rPr sz="2400" spc="-90" dirty="0">
                <a:latin typeface="Tahoma"/>
                <a:cs typeface="Tahoma"/>
              </a:rPr>
              <a:t>activity</a:t>
            </a:r>
            <a:r>
              <a:rPr sz="2400" spc="-130" dirty="0">
                <a:latin typeface="Tahoma"/>
                <a:cs typeface="Tahoma"/>
              </a:rPr>
              <a:t> </a:t>
            </a:r>
            <a:r>
              <a:rPr sz="2400" spc="-85" dirty="0">
                <a:latin typeface="Tahoma"/>
                <a:cs typeface="Tahoma"/>
              </a:rPr>
              <a:t>and</a:t>
            </a:r>
            <a:r>
              <a:rPr sz="2400" spc="-95" dirty="0">
                <a:latin typeface="Tahoma"/>
                <a:cs typeface="Tahoma"/>
              </a:rPr>
              <a:t> </a:t>
            </a:r>
            <a:r>
              <a:rPr sz="2400" spc="-80" dirty="0">
                <a:latin typeface="Tahoma"/>
                <a:cs typeface="Tahoma"/>
              </a:rPr>
              <a:t>better</a:t>
            </a:r>
            <a:r>
              <a:rPr sz="2400" spc="-140" dirty="0">
                <a:latin typeface="Tahoma"/>
                <a:cs typeface="Tahoma"/>
              </a:rPr>
              <a:t> </a:t>
            </a:r>
            <a:r>
              <a:rPr sz="2400" spc="-95" dirty="0">
                <a:latin typeface="Tahoma"/>
                <a:cs typeface="Tahoma"/>
              </a:rPr>
              <a:t>with</a:t>
            </a:r>
            <a:r>
              <a:rPr sz="2400" spc="-110" dirty="0">
                <a:latin typeface="Tahoma"/>
                <a:cs typeface="Tahoma"/>
              </a:rPr>
              <a:t> </a:t>
            </a:r>
            <a:r>
              <a:rPr sz="2400" spc="-130" dirty="0">
                <a:latin typeface="Tahoma"/>
                <a:cs typeface="Tahoma"/>
              </a:rPr>
              <a:t>rest,</a:t>
            </a:r>
            <a:r>
              <a:rPr sz="2400" spc="-120" dirty="0">
                <a:latin typeface="Tahoma"/>
                <a:cs typeface="Tahoma"/>
              </a:rPr>
              <a:t> </a:t>
            </a:r>
            <a:r>
              <a:rPr sz="2400" spc="-100" dirty="0">
                <a:latin typeface="Tahoma"/>
                <a:cs typeface="Tahoma"/>
              </a:rPr>
              <a:t>age</a:t>
            </a:r>
            <a:r>
              <a:rPr sz="2400" spc="-110" dirty="0">
                <a:latin typeface="Tahoma"/>
                <a:cs typeface="Tahoma"/>
              </a:rPr>
              <a:t> </a:t>
            </a:r>
            <a:r>
              <a:rPr sz="2400" spc="-120" dirty="0">
                <a:latin typeface="Tahoma"/>
                <a:cs typeface="Tahoma"/>
              </a:rPr>
              <a:t>more</a:t>
            </a:r>
            <a:r>
              <a:rPr sz="2400" spc="-100" dirty="0">
                <a:latin typeface="Tahoma"/>
                <a:cs typeface="Tahoma"/>
              </a:rPr>
              <a:t> </a:t>
            </a:r>
            <a:r>
              <a:rPr sz="2400" spc="-105" dirty="0">
                <a:latin typeface="Tahoma"/>
                <a:cs typeface="Tahoma"/>
              </a:rPr>
              <a:t>than</a:t>
            </a:r>
            <a:r>
              <a:rPr sz="2400" spc="-100" dirty="0">
                <a:latin typeface="Tahoma"/>
                <a:cs typeface="Tahoma"/>
              </a:rPr>
              <a:t> </a:t>
            </a:r>
            <a:r>
              <a:rPr sz="2400" spc="105" dirty="0">
                <a:latin typeface="Tahoma"/>
                <a:cs typeface="Tahoma"/>
              </a:rPr>
              <a:t>45</a:t>
            </a:r>
            <a:r>
              <a:rPr sz="2400" spc="-11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years, </a:t>
            </a:r>
            <a:r>
              <a:rPr sz="2400" spc="-75" dirty="0">
                <a:latin typeface="Tahoma"/>
                <a:cs typeface="Tahoma"/>
              </a:rPr>
              <a:t>morning</a:t>
            </a:r>
            <a:r>
              <a:rPr sz="2400" spc="-114" dirty="0">
                <a:latin typeface="Tahoma"/>
                <a:cs typeface="Tahoma"/>
              </a:rPr>
              <a:t> </a:t>
            </a:r>
            <a:r>
              <a:rPr sz="2400" spc="-95" dirty="0">
                <a:latin typeface="Tahoma"/>
                <a:cs typeface="Tahoma"/>
              </a:rPr>
              <a:t>stiffness</a:t>
            </a:r>
            <a:r>
              <a:rPr sz="2400" spc="-140" dirty="0">
                <a:latin typeface="Tahoma"/>
                <a:cs typeface="Tahoma"/>
              </a:rPr>
              <a:t> </a:t>
            </a:r>
            <a:r>
              <a:rPr sz="2400" spc="-65" dirty="0">
                <a:latin typeface="Tahoma"/>
                <a:cs typeface="Tahoma"/>
              </a:rPr>
              <a:t>lasting</a:t>
            </a:r>
            <a:r>
              <a:rPr sz="2400" spc="-125" dirty="0">
                <a:latin typeface="Tahoma"/>
                <a:cs typeface="Tahoma"/>
              </a:rPr>
              <a:t> </a:t>
            </a:r>
            <a:r>
              <a:rPr sz="2400" spc="-70" dirty="0">
                <a:latin typeface="Tahoma"/>
                <a:cs typeface="Tahoma"/>
              </a:rPr>
              <a:t>less</a:t>
            </a:r>
            <a:r>
              <a:rPr sz="2400" spc="-114" dirty="0">
                <a:latin typeface="Tahoma"/>
                <a:cs typeface="Tahoma"/>
              </a:rPr>
              <a:t> </a:t>
            </a:r>
            <a:r>
              <a:rPr sz="2400" spc="-105" dirty="0">
                <a:latin typeface="Tahoma"/>
                <a:cs typeface="Tahoma"/>
              </a:rPr>
              <a:t>than</a:t>
            </a:r>
            <a:r>
              <a:rPr sz="2400" spc="-114" dirty="0">
                <a:latin typeface="Tahoma"/>
                <a:cs typeface="Tahoma"/>
              </a:rPr>
              <a:t> </a:t>
            </a:r>
            <a:r>
              <a:rPr sz="2400" spc="105" dirty="0">
                <a:latin typeface="Tahoma"/>
                <a:cs typeface="Tahoma"/>
              </a:rPr>
              <a:t>30</a:t>
            </a:r>
            <a:r>
              <a:rPr sz="2400" spc="-105" dirty="0">
                <a:latin typeface="Tahoma"/>
                <a:cs typeface="Tahoma"/>
              </a:rPr>
              <a:t> </a:t>
            </a:r>
            <a:r>
              <a:rPr sz="2400" spc="-125" dirty="0">
                <a:latin typeface="Tahoma"/>
                <a:cs typeface="Tahoma"/>
              </a:rPr>
              <a:t>minutes, </a:t>
            </a:r>
            <a:r>
              <a:rPr sz="2400" spc="-75" dirty="0">
                <a:latin typeface="Tahoma"/>
                <a:cs typeface="Tahoma"/>
              </a:rPr>
              <a:t>bony</a:t>
            </a:r>
            <a:r>
              <a:rPr sz="2400" spc="-105" dirty="0">
                <a:latin typeface="Tahoma"/>
                <a:cs typeface="Tahoma"/>
              </a:rPr>
              <a:t> </a:t>
            </a:r>
            <a:r>
              <a:rPr sz="2400" spc="-80" dirty="0">
                <a:latin typeface="Tahoma"/>
                <a:cs typeface="Tahoma"/>
              </a:rPr>
              <a:t>joint</a:t>
            </a:r>
            <a:r>
              <a:rPr sz="2400" spc="-110" dirty="0">
                <a:latin typeface="Tahoma"/>
                <a:cs typeface="Tahoma"/>
              </a:rPr>
              <a:t> </a:t>
            </a:r>
            <a:r>
              <a:rPr sz="2400" spc="-120" dirty="0">
                <a:latin typeface="Tahoma"/>
                <a:cs typeface="Tahoma"/>
              </a:rPr>
              <a:t>enlargement,</a:t>
            </a:r>
            <a:r>
              <a:rPr sz="2400" spc="-130" dirty="0">
                <a:latin typeface="Tahoma"/>
                <a:cs typeface="Tahoma"/>
              </a:rPr>
              <a:t> </a:t>
            </a:r>
            <a:r>
              <a:rPr sz="2400" spc="-90" dirty="0">
                <a:latin typeface="Tahoma"/>
                <a:cs typeface="Tahoma"/>
              </a:rPr>
              <a:t>and</a:t>
            </a:r>
            <a:r>
              <a:rPr sz="2400" spc="-11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limitation </a:t>
            </a:r>
            <a:r>
              <a:rPr sz="2400" spc="-45" dirty="0">
                <a:latin typeface="Tahoma"/>
                <a:cs typeface="Tahoma"/>
              </a:rPr>
              <a:t>in</a:t>
            </a:r>
            <a:r>
              <a:rPr sz="2400" spc="-120" dirty="0">
                <a:latin typeface="Tahoma"/>
                <a:cs typeface="Tahoma"/>
              </a:rPr>
              <a:t> </a:t>
            </a:r>
            <a:r>
              <a:rPr sz="2400" spc="-105" dirty="0">
                <a:latin typeface="Tahoma"/>
                <a:cs typeface="Tahoma"/>
              </a:rPr>
              <a:t>range</a:t>
            </a:r>
            <a:r>
              <a:rPr sz="2400" spc="-1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of</a:t>
            </a:r>
            <a:r>
              <a:rPr sz="2400" spc="204" dirty="0">
                <a:latin typeface="Tahoma"/>
                <a:cs typeface="Tahoma"/>
              </a:rPr>
              <a:t> </a:t>
            </a:r>
            <a:r>
              <a:rPr sz="2400" spc="-105" dirty="0">
                <a:latin typeface="Tahoma"/>
                <a:cs typeface="Tahoma"/>
              </a:rPr>
              <a:t>motion.</a:t>
            </a:r>
            <a:r>
              <a:rPr sz="2400" spc="-114" dirty="0">
                <a:latin typeface="Tahoma"/>
                <a:cs typeface="Tahoma"/>
              </a:rPr>
              <a:t> </a:t>
            </a:r>
            <a:r>
              <a:rPr sz="2400" spc="55" dirty="0">
                <a:latin typeface="Tahoma"/>
                <a:cs typeface="Tahoma"/>
              </a:rPr>
              <a:t>A</a:t>
            </a:r>
            <a:r>
              <a:rPr sz="2400" spc="-114" dirty="0">
                <a:latin typeface="Tahoma"/>
                <a:cs typeface="Tahoma"/>
              </a:rPr>
              <a:t> </a:t>
            </a:r>
            <a:r>
              <a:rPr sz="2400" spc="-95" dirty="0">
                <a:latin typeface="Tahoma"/>
                <a:cs typeface="Tahoma"/>
              </a:rPr>
              <a:t>differential</a:t>
            </a:r>
            <a:r>
              <a:rPr sz="2400" spc="-150" dirty="0">
                <a:latin typeface="Tahoma"/>
                <a:cs typeface="Tahoma"/>
              </a:rPr>
              <a:t> </a:t>
            </a:r>
            <a:r>
              <a:rPr sz="2400" spc="-65" dirty="0">
                <a:latin typeface="Tahoma"/>
                <a:cs typeface="Tahoma"/>
              </a:rPr>
              <a:t>diagnosis</a:t>
            </a:r>
            <a:r>
              <a:rPr sz="2400" spc="-145" dirty="0">
                <a:latin typeface="Tahoma"/>
                <a:cs typeface="Tahoma"/>
              </a:rPr>
              <a:t> </a:t>
            </a:r>
            <a:r>
              <a:rPr sz="2400" spc="-70" dirty="0">
                <a:latin typeface="Tahoma"/>
                <a:cs typeface="Tahoma"/>
              </a:rPr>
              <a:t>should</a:t>
            </a:r>
            <a:r>
              <a:rPr sz="2400" spc="-120" dirty="0">
                <a:latin typeface="Tahoma"/>
                <a:cs typeface="Tahoma"/>
              </a:rPr>
              <a:t> </a:t>
            </a:r>
            <a:r>
              <a:rPr sz="2400" spc="-70" dirty="0">
                <a:latin typeface="Tahoma"/>
                <a:cs typeface="Tahoma"/>
              </a:rPr>
              <a:t>include</a:t>
            </a:r>
            <a:r>
              <a:rPr sz="2400" spc="-130" dirty="0">
                <a:latin typeface="Tahoma"/>
                <a:cs typeface="Tahoma"/>
              </a:rPr>
              <a:t> </a:t>
            </a:r>
            <a:r>
              <a:rPr sz="2400" spc="-90" dirty="0">
                <a:latin typeface="Tahoma"/>
                <a:cs typeface="Tahoma"/>
              </a:rPr>
              <a:t>rheumatoid</a:t>
            </a:r>
            <a:r>
              <a:rPr sz="2400" spc="-12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arthritis, </a:t>
            </a:r>
            <a:r>
              <a:rPr sz="2400" spc="-65" dirty="0">
                <a:latin typeface="Tahoma"/>
                <a:cs typeface="Tahoma"/>
              </a:rPr>
              <a:t>psoriatic</a:t>
            </a:r>
            <a:r>
              <a:rPr sz="2400" spc="-120" dirty="0">
                <a:latin typeface="Tahoma"/>
                <a:cs typeface="Tahoma"/>
              </a:rPr>
              <a:t> </a:t>
            </a:r>
            <a:r>
              <a:rPr sz="2400" spc="-90" dirty="0">
                <a:latin typeface="Tahoma"/>
                <a:cs typeface="Tahoma"/>
              </a:rPr>
              <a:t>arthritis,</a:t>
            </a:r>
            <a:r>
              <a:rPr sz="2400" spc="-114" dirty="0">
                <a:latin typeface="Tahoma"/>
                <a:cs typeface="Tahoma"/>
              </a:rPr>
              <a:t> </a:t>
            </a:r>
            <a:r>
              <a:rPr sz="2400" spc="-85" dirty="0">
                <a:latin typeface="Tahoma"/>
                <a:cs typeface="Tahoma"/>
              </a:rPr>
              <a:t>crystalline</a:t>
            </a:r>
            <a:r>
              <a:rPr sz="2400" spc="-120" dirty="0">
                <a:latin typeface="Tahoma"/>
                <a:cs typeface="Tahoma"/>
              </a:rPr>
              <a:t> </a:t>
            </a:r>
            <a:r>
              <a:rPr sz="2400" spc="-90" dirty="0">
                <a:latin typeface="Tahoma"/>
                <a:cs typeface="Tahoma"/>
              </a:rPr>
              <a:t>arthritis,</a:t>
            </a:r>
            <a:r>
              <a:rPr sz="2400" spc="-95" dirty="0">
                <a:latin typeface="Tahoma"/>
                <a:cs typeface="Tahoma"/>
              </a:rPr>
              <a:t> </a:t>
            </a:r>
            <a:r>
              <a:rPr sz="2400" spc="-110" dirty="0">
                <a:latin typeface="Tahoma"/>
                <a:cs typeface="Tahoma"/>
              </a:rPr>
              <a:t>hemochromatosis,</a:t>
            </a:r>
            <a:r>
              <a:rPr sz="2400" spc="-130" dirty="0">
                <a:latin typeface="Tahoma"/>
                <a:cs typeface="Tahoma"/>
              </a:rPr>
              <a:t> </a:t>
            </a:r>
            <a:r>
              <a:rPr sz="2400" spc="-90" dirty="0">
                <a:latin typeface="Tahoma"/>
                <a:cs typeface="Tahoma"/>
              </a:rPr>
              <a:t>bursitis,</a:t>
            </a:r>
            <a:r>
              <a:rPr sz="2400" spc="-114" dirty="0">
                <a:latin typeface="Tahoma"/>
                <a:cs typeface="Tahoma"/>
              </a:rPr>
              <a:t> </a:t>
            </a:r>
            <a:r>
              <a:rPr sz="2400" spc="-110" dirty="0">
                <a:latin typeface="Tahoma"/>
                <a:cs typeface="Tahoma"/>
              </a:rPr>
              <a:t>avascular</a:t>
            </a:r>
            <a:r>
              <a:rPr sz="2400" spc="-10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necrosis, </a:t>
            </a:r>
            <a:r>
              <a:rPr sz="2400" spc="-90" dirty="0">
                <a:latin typeface="Tahoma"/>
                <a:cs typeface="Tahoma"/>
              </a:rPr>
              <a:t>tendinitis,</a:t>
            </a:r>
            <a:r>
              <a:rPr sz="2400" spc="-110" dirty="0">
                <a:latin typeface="Tahoma"/>
                <a:cs typeface="Tahoma"/>
              </a:rPr>
              <a:t> </a:t>
            </a:r>
            <a:r>
              <a:rPr sz="2400" spc="-90" dirty="0">
                <a:latin typeface="Tahoma"/>
                <a:cs typeface="Tahoma"/>
              </a:rPr>
              <a:t>and</a:t>
            </a:r>
            <a:r>
              <a:rPr sz="2400" spc="-135" dirty="0">
                <a:latin typeface="Tahoma"/>
                <a:cs typeface="Tahoma"/>
              </a:rPr>
              <a:t> </a:t>
            </a:r>
            <a:r>
              <a:rPr sz="2400" spc="-110" dirty="0">
                <a:latin typeface="Tahoma"/>
                <a:cs typeface="Tahoma"/>
              </a:rPr>
              <a:t>radiculopathy,</a:t>
            </a:r>
            <a:r>
              <a:rPr sz="2400" spc="-145" dirty="0">
                <a:latin typeface="Tahoma"/>
                <a:cs typeface="Tahoma"/>
              </a:rPr>
              <a:t> </a:t>
            </a:r>
            <a:r>
              <a:rPr sz="2400" spc="-95" dirty="0">
                <a:latin typeface="Tahoma"/>
                <a:cs typeface="Tahoma"/>
              </a:rPr>
              <a:t>among </a:t>
            </a:r>
            <a:r>
              <a:rPr sz="2400" spc="-85" dirty="0">
                <a:latin typeface="Tahoma"/>
                <a:cs typeface="Tahoma"/>
              </a:rPr>
              <a:t>other</a:t>
            </a:r>
            <a:r>
              <a:rPr sz="2400" spc="-95" dirty="0">
                <a:latin typeface="Tahoma"/>
                <a:cs typeface="Tahoma"/>
              </a:rPr>
              <a:t> </a:t>
            </a:r>
            <a:r>
              <a:rPr sz="2400" spc="-80" dirty="0">
                <a:latin typeface="Tahoma"/>
                <a:cs typeface="Tahoma"/>
              </a:rPr>
              <a:t>soft</a:t>
            </a:r>
            <a:r>
              <a:rPr sz="2400" spc="-100" dirty="0">
                <a:latin typeface="Tahoma"/>
                <a:cs typeface="Tahoma"/>
              </a:rPr>
              <a:t> </a:t>
            </a:r>
            <a:r>
              <a:rPr sz="2400" spc="-75" dirty="0">
                <a:latin typeface="Tahoma"/>
                <a:cs typeface="Tahoma"/>
              </a:rPr>
              <a:t>tissue</a:t>
            </a:r>
            <a:r>
              <a:rPr sz="2400" spc="-114" dirty="0">
                <a:latin typeface="Tahoma"/>
                <a:cs typeface="Tahoma"/>
              </a:rPr>
              <a:t> </a:t>
            </a:r>
            <a:r>
              <a:rPr sz="2400" spc="-85" dirty="0">
                <a:latin typeface="Tahoma"/>
                <a:cs typeface="Tahoma"/>
              </a:rPr>
              <a:t>abnormalitiesn</a:t>
            </a:r>
            <a:r>
              <a:rPr sz="2400" spc="-14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Blood</a:t>
            </a:r>
            <a:r>
              <a:rPr sz="2400" spc="-9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tests </a:t>
            </a:r>
            <a:r>
              <a:rPr sz="2400" spc="-95" dirty="0">
                <a:latin typeface="Tahoma"/>
                <a:cs typeface="Tahoma"/>
              </a:rPr>
              <a:t>such</a:t>
            </a:r>
            <a:r>
              <a:rPr sz="2400" spc="-105" dirty="0">
                <a:latin typeface="Tahoma"/>
                <a:cs typeface="Tahoma"/>
              </a:rPr>
              <a:t> </a:t>
            </a:r>
            <a:r>
              <a:rPr sz="2400" spc="-95" dirty="0">
                <a:latin typeface="Tahoma"/>
                <a:cs typeface="Tahoma"/>
              </a:rPr>
              <a:t>as </a:t>
            </a:r>
            <a:r>
              <a:rPr sz="2400" spc="-85" dirty="0">
                <a:latin typeface="Tahoma"/>
                <a:cs typeface="Tahoma"/>
              </a:rPr>
              <a:t>complete</a:t>
            </a:r>
            <a:r>
              <a:rPr sz="2400" spc="-110" dirty="0">
                <a:latin typeface="Tahoma"/>
                <a:cs typeface="Tahoma"/>
              </a:rPr>
              <a:t> </a:t>
            </a:r>
            <a:r>
              <a:rPr sz="2400" spc="-45" dirty="0">
                <a:latin typeface="Tahoma"/>
                <a:cs typeface="Tahoma"/>
              </a:rPr>
              <a:t>blood</a:t>
            </a:r>
            <a:r>
              <a:rPr sz="2400" spc="-85" dirty="0">
                <a:latin typeface="Tahoma"/>
                <a:cs typeface="Tahoma"/>
              </a:rPr>
              <a:t> </a:t>
            </a:r>
            <a:r>
              <a:rPr sz="2400" spc="-114" dirty="0">
                <a:latin typeface="Tahoma"/>
                <a:cs typeface="Tahoma"/>
              </a:rPr>
              <a:t>count,</a:t>
            </a:r>
            <a:r>
              <a:rPr sz="2400" spc="-100" dirty="0">
                <a:latin typeface="Tahoma"/>
                <a:cs typeface="Tahoma"/>
              </a:rPr>
              <a:t> </a:t>
            </a:r>
            <a:r>
              <a:rPr sz="2400" spc="-95" dirty="0">
                <a:latin typeface="Tahoma"/>
                <a:cs typeface="Tahoma"/>
              </a:rPr>
              <a:t>erythrocyte</a:t>
            </a:r>
            <a:r>
              <a:rPr sz="2400" spc="-130" dirty="0">
                <a:latin typeface="Tahoma"/>
                <a:cs typeface="Tahoma"/>
              </a:rPr>
              <a:t> </a:t>
            </a:r>
            <a:r>
              <a:rPr sz="2400" spc="-90" dirty="0">
                <a:latin typeface="Tahoma"/>
                <a:cs typeface="Tahoma"/>
              </a:rPr>
              <a:t>sedimentation</a:t>
            </a:r>
            <a:r>
              <a:rPr sz="2400" spc="-114" dirty="0">
                <a:latin typeface="Tahoma"/>
                <a:cs typeface="Tahoma"/>
              </a:rPr>
              <a:t> </a:t>
            </a:r>
            <a:r>
              <a:rPr sz="2400" spc="-125" dirty="0">
                <a:latin typeface="Tahoma"/>
                <a:cs typeface="Tahoma"/>
              </a:rPr>
              <a:t>rate,</a:t>
            </a:r>
            <a:r>
              <a:rPr sz="2400" spc="-105" dirty="0">
                <a:latin typeface="Tahoma"/>
                <a:cs typeface="Tahoma"/>
              </a:rPr>
              <a:t> </a:t>
            </a:r>
            <a:r>
              <a:rPr sz="2400" spc="-90" dirty="0">
                <a:latin typeface="Tahoma"/>
                <a:cs typeface="Tahoma"/>
              </a:rPr>
              <a:t>rheumatoid</a:t>
            </a:r>
            <a:r>
              <a:rPr sz="2400" spc="-9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factor, </a:t>
            </a:r>
            <a:r>
              <a:rPr sz="2400" spc="-90" dirty="0">
                <a:latin typeface="Tahoma"/>
                <a:cs typeface="Tahoma"/>
              </a:rPr>
              <a:t>and</a:t>
            </a:r>
            <a:r>
              <a:rPr sz="2400" spc="-110" dirty="0">
                <a:latin typeface="Tahoma"/>
                <a:cs typeface="Tahoma"/>
              </a:rPr>
              <a:t> </a:t>
            </a:r>
            <a:r>
              <a:rPr sz="2400" spc="-95" dirty="0">
                <a:latin typeface="Tahoma"/>
                <a:cs typeface="Tahoma"/>
              </a:rPr>
              <a:t>antinuclear</a:t>
            </a:r>
            <a:r>
              <a:rPr sz="2400" spc="-110" dirty="0">
                <a:latin typeface="Tahoma"/>
                <a:cs typeface="Tahoma"/>
              </a:rPr>
              <a:t> </a:t>
            </a:r>
            <a:r>
              <a:rPr sz="2400" spc="-75" dirty="0">
                <a:latin typeface="Tahoma"/>
                <a:cs typeface="Tahoma"/>
              </a:rPr>
              <a:t>antibody</a:t>
            </a:r>
            <a:r>
              <a:rPr sz="2400" spc="-130" dirty="0">
                <a:latin typeface="Tahoma"/>
                <a:cs typeface="Tahoma"/>
              </a:rPr>
              <a:t> </a:t>
            </a:r>
            <a:r>
              <a:rPr sz="2400" spc="-75" dirty="0">
                <a:latin typeface="Tahoma"/>
                <a:cs typeface="Tahoma"/>
              </a:rPr>
              <a:t>test</a:t>
            </a:r>
            <a:r>
              <a:rPr sz="2400" spc="-125" dirty="0">
                <a:latin typeface="Tahoma"/>
                <a:cs typeface="Tahoma"/>
              </a:rPr>
              <a:t> </a:t>
            </a:r>
            <a:r>
              <a:rPr sz="2400" spc="-130" dirty="0">
                <a:latin typeface="Tahoma"/>
                <a:cs typeface="Tahoma"/>
              </a:rPr>
              <a:t>are</a:t>
            </a:r>
            <a:r>
              <a:rPr sz="2400" spc="-100" dirty="0">
                <a:latin typeface="Tahoma"/>
                <a:cs typeface="Tahoma"/>
              </a:rPr>
              <a:t> </a:t>
            </a:r>
            <a:r>
              <a:rPr sz="2400" spc="-85" dirty="0">
                <a:latin typeface="Tahoma"/>
                <a:cs typeface="Tahoma"/>
              </a:rPr>
              <a:t>usually</a:t>
            </a:r>
            <a:r>
              <a:rPr sz="2400" spc="-120" dirty="0">
                <a:latin typeface="Tahoma"/>
                <a:cs typeface="Tahoma"/>
              </a:rPr>
              <a:t> </a:t>
            </a:r>
            <a:r>
              <a:rPr sz="2400" spc="-95" dirty="0">
                <a:latin typeface="Tahoma"/>
                <a:cs typeface="Tahoma"/>
              </a:rPr>
              <a:t>normal</a:t>
            </a:r>
            <a:r>
              <a:rPr sz="2400" spc="-100" dirty="0">
                <a:latin typeface="Tahoma"/>
                <a:cs typeface="Tahoma"/>
              </a:rPr>
              <a:t> </a:t>
            </a:r>
            <a:r>
              <a:rPr sz="2400" spc="-45" dirty="0">
                <a:latin typeface="Tahoma"/>
                <a:cs typeface="Tahoma"/>
              </a:rPr>
              <a:t>in</a:t>
            </a:r>
            <a:r>
              <a:rPr sz="2400" spc="-105" dirty="0">
                <a:latin typeface="Tahoma"/>
                <a:cs typeface="Tahoma"/>
              </a:rPr>
              <a:t> </a:t>
            </a:r>
            <a:r>
              <a:rPr sz="2400" spc="-85" dirty="0">
                <a:latin typeface="Tahoma"/>
                <a:cs typeface="Tahoma"/>
              </a:rPr>
              <a:t>osteoarthritis.</a:t>
            </a:r>
            <a:r>
              <a:rPr sz="2400" spc="-130" dirty="0">
                <a:latin typeface="Tahoma"/>
                <a:cs typeface="Tahoma"/>
              </a:rPr>
              <a:t> </a:t>
            </a:r>
            <a:r>
              <a:rPr sz="2400" spc="-165" dirty="0">
                <a:latin typeface="Tahoma"/>
                <a:cs typeface="Tahoma"/>
              </a:rPr>
              <a:t>However,</a:t>
            </a:r>
            <a:r>
              <a:rPr sz="2400" spc="-110" dirty="0">
                <a:latin typeface="Tahoma"/>
                <a:cs typeface="Tahoma"/>
              </a:rPr>
              <a:t> </a:t>
            </a:r>
            <a:r>
              <a:rPr sz="2400" spc="-100" dirty="0">
                <a:latin typeface="Tahoma"/>
                <a:cs typeface="Tahoma"/>
              </a:rPr>
              <a:t>they</a:t>
            </a:r>
            <a:r>
              <a:rPr sz="2400" spc="-10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may </a:t>
            </a:r>
            <a:r>
              <a:rPr sz="2400" spc="-50" dirty="0">
                <a:latin typeface="Tahoma"/>
                <a:cs typeface="Tahoma"/>
              </a:rPr>
              <a:t>be</a:t>
            </a:r>
            <a:r>
              <a:rPr sz="2400" spc="-140" dirty="0">
                <a:latin typeface="Tahoma"/>
                <a:cs typeface="Tahoma"/>
              </a:rPr>
              <a:t> </a:t>
            </a:r>
            <a:r>
              <a:rPr sz="2400" spc="-85" dirty="0">
                <a:latin typeface="Tahoma"/>
                <a:cs typeface="Tahoma"/>
              </a:rPr>
              <a:t>ordered</a:t>
            </a:r>
            <a:r>
              <a:rPr sz="2400" spc="-150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to</a:t>
            </a:r>
            <a:r>
              <a:rPr sz="2400" spc="-150" dirty="0">
                <a:latin typeface="Tahoma"/>
                <a:cs typeface="Tahoma"/>
              </a:rPr>
              <a:t> </a:t>
            </a:r>
            <a:r>
              <a:rPr sz="2400" spc="-85" dirty="0">
                <a:latin typeface="Tahoma"/>
                <a:cs typeface="Tahoma"/>
              </a:rPr>
              <a:t>rule</a:t>
            </a:r>
            <a:r>
              <a:rPr sz="2400" spc="-130" dirty="0">
                <a:latin typeface="Tahoma"/>
                <a:cs typeface="Tahoma"/>
              </a:rPr>
              <a:t> </a:t>
            </a:r>
            <a:r>
              <a:rPr sz="2400" spc="-65" dirty="0">
                <a:latin typeface="Tahoma"/>
                <a:cs typeface="Tahoma"/>
              </a:rPr>
              <a:t>out</a:t>
            </a:r>
            <a:r>
              <a:rPr sz="2400" spc="-125" dirty="0">
                <a:latin typeface="Tahoma"/>
                <a:cs typeface="Tahoma"/>
              </a:rPr>
              <a:t> </a:t>
            </a:r>
            <a:r>
              <a:rPr sz="2400" spc="-105" dirty="0">
                <a:latin typeface="Tahoma"/>
                <a:cs typeface="Tahoma"/>
              </a:rPr>
              <a:t>inflammatory</a:t>
            </a:r>
            <a:r>
              <a:rPr sz="2400" spc="-150" dirty="0">
                <a:latin typeface="Tahoma"/>
                <a:cs typeface="Tahoma"/>
              </a:rPr>
              <a:t> </a:t>
            </a:r>
            <a:r>
              <a:rPr sz="2400" spc="-90" dirty="0">
                <a:latin typeface="Tahoma"/>
                <a:cs typeface="Tahoma"/>
              </a:rPr>
              <a:t>arthritis.</a:t>
            </a:r>
            <a:r>
              <a:rPr sz="2400" spc="-160" dirty="0">
                <a:latin typeface="Tahoma"/>
                <a:cs typeface="Tahoma"/>
              </a:rPr>
              <a:t> </a:t>
            </a:r>
            <a:r>
              <a:rPr sz="2400" spc="-130" dirty="0">
                <a:latin typeface="Tahoma"/>
                <a:cs typeface="Tahoma"/>
              </a:rPr>
              <a:t>If</a:t>
            </a:r>
            <a:r>
              <a:rPr sz="2400" spc="180" dirty="0">
                <a:latin typeface="Tahoma"/>
                <a:cs typeface="Tahoma"/>
              </a:rPr>
              <a:t> </a:t>
            </a:r>
            <a:r>
              <a:rPr sz="2400" spc="-95" dirty="0">
                <a:latin typeface="Tahoma"/>
                <a:cs typeface="Tahoma"/>
              </a:rPr>
              <a:t>the</a:t>
            </a:r>
            <a:r>
              <a:rPr sz="2400" spc="-140" dirty="0">
                <a:latin typeface="Tahoma"/>
                <a:cs typeface="Tahoma"/>
              </a:rPr>
              <a:t> </a:t>
            </a:r>
            <a:r>
              <a:rPr sz="2400" spc="-95" dirty="0">
                <a:latin typeface="Tahoma"/>
                <a:cs typeface="Tahoma"/>
              </a:rPr>
              <a:t>synovial</a:t>
            </a:r>
            <a:r>
              <a:rPr sz="2400" spc="-140" dirty="0">
                <a:latin typeface="Tahoma"/>
                <a:cs typeface="Tahoma"/>
              </a:rPr>
              <a:t> </a:t>
            </a:r>
            <a:r>
              <a:rPr sz="2400" spc="-70" dirty="0">
                <a:latin typeface="Tahoma"/>
                <a:cs typeface="Tahoma"/>
              </a:rPr>
              <a:t>fluid</a:t>
            </a:r>
            <a:r>
              <a:rPr sz="2400" spc="-13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is</a:t>
            </a:r>
            <a:r>
              <a:rPr sz="2400" spc="-140" dirty="0">
                <a:latin typeface="Tahoma"/>
                <a:cs typeface="Tahoma"/>
              </a:rPr>
              <a:t> </a:t>
            </a:r>
            <a:r>
              <a:rPr sz="2400" spc="-90" dirty="0">
                <a:latin typeface="Tahoma"/>
                <a:cs typeface="Tahoma"/>
              </a:rPr>
              <a:t>obtained,</a:t>
            </a:r>
            <a:r>
              <a:rPr sz="2400" spc="-15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the </a:t>
            </a:r>
            <a:r>
              <a:rPr sz="2400" spc="-95" dirty="0">
                <a:latin typeface="Tahoma"/>
                <a:cs typeface="Tahoma"/>
              </a:rPr>
              <a:t>white</a:t>
            </a:r>
            <a:r>
              <a:rPr sz="2400" spc="-114" dirty="0">
                <a:latin typeface="Tahoma"/>
                <a:cs typeface="Tahoma"/>
              </a:rPr>
              <a:t> </a:t>
            </a:r>
            <a:r>
              <a:rPr sz="2400" spc="-35" dirty="0">
                <a:latin typeface="Tahoma"/>
                <a:cs typeface="Tahoma"/>
              </a:rPr>
              <a:t>blood</a:t>
            </a:r>
            <a:r>
              <a:rPr sz="2400" spc="-110" dirty="0">
                <a:latin typeface="Tahoma"/>
                <a:cs typeface="Tahoma"/>
              </a:rPr>
              <a:t> </a:t>
            </a:r>
            <a:r>
              <a:rPr sz="2400" spc="-65" dirty="0">
                <a:latin typeface="Tahoma"/>
                <a:cs typeface="Tahoma"/>
              </a:rPr>
              <a:t>cell</a:t>
            </a:r>
            <a:r>
              <a:rPr sz="2400" spc="-114" dirty="0">
                <a:latin typeface="Tahoma"/>
                <a:cs typeface="Tahoma"/>
              </a:rPr>
              <a:t> </a:t>
            </a:r>
            <a:r>
              <a:rPr sz="2400" spc="-90" dirty="0">
                <a:latin typeface="Tahoma"/>
                <a:cs typeface="Tahoma"/>
              </a:rPr>
              <a:t>count</a:t>
            </a:r>
            <a:r>
              <a:rPr sz="2400" spc="-105" dirty="0">
                <a:latin typeface="Tahoma"/>
                <a:cs typeface="Tahoma"/>
              </a:rPr>
              <a:t> </a:t>
            </a:r>
            <a:r>
              <a:rPr sz="2400" spc="-70" dirty="0">
                <a:latin typeface="Tahoma"/>
                <a:cs typeface="Tahoma"/>
              </a:rPr>
              <a:t>should</a:t>
            </a:r>
            <a:r>
              <a:rPr sz="2400" spc="-110" dirty="0">
                <a:latin typeface="Tahoma"/>
                <a:cs typeface="Tahoma"/>
              </a:rPr>
              <a:t> </a:t>
            </a:r>
            <a:r>
              <a:rPr sz="2400" spc="-30" dirty="0">
                <a:latin typeface="Tahoma"/>
                <a:cs typeface="Tahoma"/>
              </a:rPr>
              <a:t>be</a:t>
            </a:r>
            <a:r>
              <a:rPr sz="2400" spc="-105" dirty="0">
                <a:latin typeface="Tahoma"/>
                <a:cs typeface="Tahoma"/>
              </a:rPr>
              <a:t> </a:t>
            </a:r>
            <a:r>
              <a:rPr sz="2400" spc="-70" dirty="0">
                <a:latin typeface="Tahoma"/>
                <a:cs typeface="Tahoma"/>
              </a:rPr>
              <a:t>less</a:t>
            </a:r>
            <a:r>
              <a:rPr sz="2400" spc="-114" dirty="0">
                <a:latin typeface="Tahoma"/>
                <a:cs typeface="Tahoma"/>
              </a:rPr>
              <a:t> </a:t>
            </a:r>
            <a:r>
              <a:rPr sz="2400" spc="-105" dirty="0">
                <a:latin typeface="Tahoma"/>
                <a:cs typeface="Tahoma"/>
              </a:rPr>
              <a:t>than </a:t>
            </a:r>
            <a:r>
              <a:rPr sz="2400" spc="-25" dirty="0">
                <a:latin typeface="Tahoma"/>
                <a:cs typeface="Tahoma"/>
              </a:rPr>
              <a:t>2000/micro</a:t>
            </a:r>
            <a:r>
              <a:rPr sz="2400" spc="-135" dirty="0">
                <a:latin typeface="Tahoma"/>
                <a:cs typeface="Tahoma"/>
              </a:rPr>
              <a:t> </a:t>
            </a:r>
            <a:r>
              <a:rPr sz="2400" spc="-110" dirty="0">
                <a:latin typeface="Tahoma"/>
                <a:cs typeface="Tahoma"/>
              </a:rPr>
              <a:t>L, </a:t>
            </a:r>
            <a:r>
              <a:rPr sz="2400" spc="-10" dirty="0">
                <a:latin typeface="Tahoma"/>
                <a:cs typeface="Tahoma"/>
              </a:rPr>
              <a:t>predominantly </a:t>
            </a:r>
            <a:r>
              <a:rPr sz="2400" spc="-95" dirty="0">
                <a:latin typeface="Tahoma"/>
                <a:cs typeface="Tahoma"/>
              </a:rPr>
              <a:t>mononuclear</a:t>
            </a:r>
            <a:r>
              <a:rPr sz="2400" spc="-100" dirty="0">
                <a:latin typeface="Tahoma"/>
                <a:cs typeface="Tahoma"/>
              </a:rPr>
              <a:t> </a:t>
            </a:r>
            <a:r>
              <a:rPr sz="2400" spc="-65" dirty="0">
                <a:latin typeface="Tahoma"/>
                <a:cs typeface="Tahoma"/>
              </a:rPr>
              <a:t>cells</a:t>
            </a:r>
            <a:r>
              <a:rPr sz="2400" spc="-120" dirty="0">
                <a:latin typeface="Tahoma"/>
                <a:cs typeface="Tahoma"/>
              </a:rPr>
              <a:t> </a:t>
            </a:r>
            <a:r>
              <a:rPr sz="2400" spc="-155" dirty="0">
                <a:latin typeface="Tahoma"/>
                <a:cs typeface="Tahoma"/>
              </a:rPr>
              <a:t>(non-</a:t>
            </a:r>
            <a:r>
              <a:rPr sz="2400" spc="-130" dirty="0">
                <a:latin typeface="Tahoma"/>
                <a:cs typeface="Tahoma"/>
              </a:rPr>
              <a:t>inflammatory),</a:t>
            </a:r>
            <a:r>
              <a:rPr sz="2400" spc="-120" dirty="0">
                <a:latin typeface="Tahoma"/>
                <a:cs typeface="Tahoma"/>
              </a:rPr>
              <a:t> </a:t>
            </a:r>
            <a:r>
              <a:rPr sz="2400" spc="-95" dirty="0">
                <a:latin typeface="Tahoma"/>
                <a:cs typeface="Tahoma"/>
              </a:rPr>
              <a:t>which</a:t>
            </a:r>
            <a:r>
              <a:rPr sz="2400" spc="-114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is</a:t>
            </a:r>
            <a:r>
              <a:rPr sz="2400" spc="-105" dirty="0">
                <a:latin typeface="Tahoma"/>
                <a:cs typeface="Tahoma"/>
              </a:rPr>
              <a:t> </a:t>
            </a:r>
            <a:r>
              <a:rPr sz="2400" spc="-85" dirty="0">
                <a:latin typeface="Tahoma"/>
                <a:cs typeface="Tahoma"/>
              </a:rPr>
              <a:t>consistent</a:t>
            </a:r>
            <a:r>
              <a:rPr sz="2400" spc="-130" dirty="0">
                <a:latin typeface="Tahoma"/>
                <a:cs typeface="Tahoma"/>
              </a:rPr>
              <a:t> </a:t>
            </a:r>
            <a:r>
              <a:rPr sz="2400" spc="-95" dirty="0">
                <a:latin typeface="Tahoma"/>
                <a:cs typeface="Tahoma"/>
              </a:rPr>
              <a:t>with</a:t>
            </a:r>
            <a:r>
              <a:rPr sz="2400" spc="-114" dirty="0">
                <a:latin typeface="Tahoma"/>
                <a:cs typeface="Tahoma"/>
              </a:rPr>
              <a:t> </a:t>
            </a:r>
            <a:r>
              <a:rPr sz="2400" spc="-95" dirty="0">
                <a:latin typeface="Tahoma"/>
                <a:cs typeface="Tahoma"/>
              </a:rPr>
              <a:t>a</a:t>
            </a:r>
            <a:r>
              <a:rPr sz="2400" spc="-100" dirty="0">
                <a:latin typeface="Tahoma"/>
                <a:cs typeface="Tahoma"/>
              </a:rPr>
              <a:t> </a:t>
            </a:r>
            <a:r>
              <a:rPr sz="2400" spc="-65" dirty="0">
                <a:latin typeface="Tahoma"/>
                <a:cs typeface="Tahoma"/>
              </a:rPr>
              <a:t>diagnosis</a:t>
            </a:r>
            <a:r>
              <a:rPr sz="2400" spc="-13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of </a:t>
            </a:r>
            <a:r>
              <a:rPr sz="2400" spc="-20" dirty="0">
                <a:latin typeface="Tahoma"/>
                <a:cs typeface="Tahoma"/>
              </a:rPr>
              <a:t>osteoarthritis.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56" y="36017"/>
            <a:ext cx="3127248" cy="91610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11174" y="800019"/>
            <a:ext cx="10508615" cy="6068695"/>
          </a:xfrm>
          <a:prstGeom prst="rect">
            <a:avLst/>
          </a:prstGeom>
        </p:spPr>
        <p:txBody>
          <a:bodyPr vert="horz" wrap="square" lIns="0" tIns="69850" rIns="0" bIns="0" rtlCol="0">
            <a:spAutoFit/>
          </a:bodyPr>
          <a:lstStyle/>
          <a:p>
            <a:pPr marL="328930" indent="-317500">
              <a:lnSpc>
                <a:spcPct val="100000"/>
              </a:lnSpc>
              <a:spcBef>
                <a:spcPts val="550"/>
              </a:spcBef>
              <a:buSzPct val="96428"/>
              <a:buFont typeface="Wingdings"/>
              <a:buChar char=""/>
              <a:tabLst>
                <a:tab pos="328930" algn="l"/>
              </a:tabLst>
            </a:pPr>
            <a:r>
              <a:rPr sz="2800" b="1" spc="-150" dirty="0">
                <a:latin typeface="Tahoma"/>
                <a:cs typeface="Tahoma"/>
              </a:rPr>
              <a:t>LITERATURE</a:t>
            </a:r>
            <a:r>
              <a:rPr sz="2800" b="1" spc="10" dirty="0">
                <a:latin typeface="Tahoma"/>
                <a:cs typeface="Tahoma"/>
              </a:rPr>
              <a:t> </a:t>
            </a:r>
            <a:r>
              <a:rPr sz="2800" b="1" spc="-10" dirty="0">
                <a:latin typeface="Tahoma"/>
                <a:cs typeface="Tahoma"/>
              </a:rPr>
              <a:t>REVIEW</a:t>
            </a:r>
            <a:endParaRPr sz="2800">
              <a:latin typeface="Tahoma"/>
              <a:cs typeface="Tahoma"/>
            </a:endParaRPr>
          </a:p>
          <a:p>
            <a:pPr marL="12700" marR="334010">
              <a:lnSpc>
                <a:spcPct val="100000"/>
              </a:lnSpc>
              <a:spcBef>
                <a:spcPts val="235"/>
              </a:spcBef>
            </a:pPr>
            <a:r>
              <a:rPr sz="1400" b="1" spc="-65" dirty="0">
                <a:latin typeface="Tahoma"/>
                <a:cs typeface="Tahoma"/>
              </a:rPr>
              <a:t>REFER:-</a:t>
            </a:r>
            <a:r>
              <a:rPr sz="1400" b="1" spc="7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Intelligent</a:t>
            </a:r>
            <a:r>
              <a:rPr sz="1400" spc="3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Systems</a:t>
            </a:r>
            <a:r>
              <a:rPr sz="1400" spc="60" dirty="0">
                <a:latin typeface="Tahoma"/>
                <a:cs typeface="Tahoma"/>
              </a:rPr>
              <a:t> </a:t>
            </a:r>
            <a:r>
              <a:rPr sz="1400" spc="50" dirty="0">
                <a:latin typeface="Tahoma"/>
                <a:cs typeface="Tahoma"/>
              </a:rPr>
              <a:t>and</a:t>
            </a:r>
            <a:r>
              <a:rPr sz="1400" spc="4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Analytics</a:t>
            </a:r>
            <a:r>
              <a:rPr sz="1400" spc="60" dirty="0">
                <a:latin typeface="Tahoma"/>
                <a:cs typeface="Tahoma"/>
              </a:rPr>
              <a:t> </a:t>
            </a:r>
            <a:r>
              <a:rPr sz="1400" spc="-55" dirty="0">
                <a:latin typeface="Tahoma"/>
                <a:cs typeface="Tahoma"/>
              </a:rPr>
              <a:t>(ISA)</a:t>
            </a:r>
            <a:r>
              <a:rPr sz="1400" spc="7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Research</a:t>
            </a:r>
            <a:r>
              <a:rPr sz="1400" spc="3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Group,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Department</a:t>
            </a:r>
            <a:r>
              <a:rPr sz="1400" spc="3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of</a:t>
            </a:r>
            <a:r>
              <a:rPr sz="1400" spc="105" dirty="0">
                <a:latin typeface="Tahoma"/>
                <a:cs typeface="Tahoma"/>
              </a:rPr>
              <a:t> </a:t>
            </a:r>
            <a:r>
              <a:rPr sz="1400" spc="60" dirty="0">
                <a:latin typeface="Tahoma"/>
                <a:cs typeface="Tahoma"/>
              </a:rPr>
              <a:t>Computer</a:t>
            </a:r>
            <a:r>
              <a:rPr sz="1400" spc="5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Science</a:t>
            </a:r>
            <a:r>
              <a:rPr sz="1400" spc="20" dirty="0">
                <a:latin typeface="Tahoma"/>
                <a:cs typeface="Tahoma"/>
              </a:rPr>
              <a:t> </a:t>
            </a:r>
            <a:r>
              <a:rPr sz="1400" spc="-100" dirty="0">
                <a:latin typeface="Tahoma"/>
                <a:cs typeface="Tahoma"/>
              </a:rPr>
              <a:t>(IDI),</a:t>
            </a:r>
            <a:r>
              <a:rPr sz="1400" spc="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Norwegian</a:t>
            </a:r>
            <a:r>
              <a:rPr sz="1400" spc="9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University </a:t>
            </a:r>
            <a:r>
              <a:rPr sz="1400" dirty="0">
                <a:latin typeface="Tahoma"/>
                <a:cs typeface="Tahoma"/>
              </a:rPr>
              <a:t>of</a:t>
            </a:r>
            <a:r>
              <a:rPr sz="1400" spc="8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Science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and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Technology</a:t>
            </a:r>
            <a:r>
              <a:rPr sz="1400" spc="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(NTNU),</a:t>
            </a:r>
            <a:r>
              <a:rPr sz="1400" spc="49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Norway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ts val="2730"/>
              </a:lnSpc>
            </a:pPr>
            <a:r>
              <a:rPr sz="2400" spc="-10" dirty="0">
                <a:latin typeface="Tahoma"/>
                <a:cs typeface="Tahoma"/>
              </a:rPr>
              <a:t>X-rays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spc="50" dirty="0">
                <a:latin typeface="Tahoma"/>
                <a:cs typeface="Tahoma"/>
              </a:rPr>
              <a:t>of</a:t>
            </a:r>
            <a:r>
              <a:rPr sz="2400" spc="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affected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joint</a:t>
            </a:r>
            <a:r>
              <a:rPr sz="2400" spc="-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can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show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spc="60" dirty="0">
                <a:latin typeface="Tahoma"/>
                <a:cs typeface="Tahoma"/>
              </a:rPr>
              <a:t>findings</a:t>
            </a:r>
            <a:r>
              <a:rPr sz="2400" dirty="0">
                <a:latin typeface="Tahoma"/>
                <a:cs typeface="Tahoma"/>
              </a:rPr>
              <a:t> consistent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with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osteoarthritis,</a:t>
            </a:r>
            <a:endParaRPr sz="2400">
              <a:latin typeface="Tahoma"/>
              <a:cs typeface="Tahoma"/>
            </a:endParaRPr>
          </a:p>
          <a:p>
            <a:pPr marL="12700" marR="5080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such</a:t>
            </a:r>
            <a:r>
              <a:rPr sz="2400" spc="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as</a:t>
            </a:r>
            <a:r>
              <a:rPr sz="2400" spc="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marginal</a:t>
            </a:r>
            <a:r>
              <a:rPr sz="2400" spc="6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osteophytes,</a:t>
            </a:r>
            <a:r>
              <a:rPr sz="2400" spc="-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joint</a:t>
            </a:r>
            <a:r>
              <a:rPr sz="2400" spc="50" dirty="0">
                <a:latin typeface="Tahoma"/>
                <a:cs typeface="Tahoma"/>
              </a:rPr>
              <a:t> </a:t>
            </a:r>
            <a:r>
              <a:rPr sz="2400" spc="70" dirty="0">
                <a:latin typeface="Tahoma"/>
                <a:cs typeface="Tahoma"/>
              </a:rPr>
              <a:t>space</a:t>
            </a:r>
            <a:r>
              <a:rPr sz="2400" spc="6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narrowing,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70" dirty="0">
                <a:latin typeface="Tahoma"/>
                <a:cs typeface="Tahoma"/>
              </a:rPr>
              <a:t>subchondral</a:t>
            </a:r>
            <a:r>
              <a:rPr sz="2400" spc="5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sclerosis, </a:t>
            </a:r>
            <a:r>
              <a:rPr sz="2400" spc="85" dirty="0">
                <a:latin typeface="Tahoma"/>
                <a:cs typeface="Tahoma"/>
              </a:rPr>
              <a:t>and</a:t>
            </a:r>
            <a:r>
              <a:rPr sz="2400" spc="-70" dirty="0">
                <a:latin typeface="Tahoma"/>
                <a:cs typeface="Tahoma"/>
              </a:rPr>
              <a:t> </a:t>
            </a:r>
            <a:r>
              <a:rPr sz="2400" spc="-30" dirty="0">
                <a:latin typeface="Tahoma"/>
                <a:cs typeface="Tahoma"/>
              </a:rPr>
              <a:t>cysts;</a:t>
            </a:r>
            <a:r>
              <a:rPr sz="2400" spc="-7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however,</a:t>
            </a:r>
            <a:r>
              <a:rPr sz="2400" spc="-145" dirty="0">
                <a:latin typeface="Tahoma"/>
                <a:cs typeface="Tahoma"/>
              </a:rPr>
              <a:t> </a:t>
            </a:r>
            <a:r>
              <a:rPr sz="2400" spc="75" dirty="0">
                <a:latin typeface="Tahoma"/>
                <a:cs typeface="Tahoma"/>
              </a:rPr>
              <a:t>radiographic</a:t>
            </a:r>
            <a:r>
              <a:rPr sz="2400" spc="-85" dirty="0">
                <a:latin typeface="Tahoma"/>
                <a:cs typeface="Tahoma"/>
              </a:rPr>
              <a:t> </a:t>
            </a:r>
            <a:r>
              <a:rPr sz="2400" spc="55" dirty="0">
                <a:latin typeface="Tahoma"/>
                <a:cs typeface="Tahoma"/>
              </a:rPr>
              <a:t>findings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spc="180" dirty="0">
                <a:latin typeface="Tahoma"/>
                <a:cs typeface="Tahoma"/>
              </a:rPr>
              <a:t>do</a:t>
            </a:r>
            <a:r>
              <a:rPr sz="2400" spc="-85" dirty="0">
                <a:latin typeface="Tahoma"/>
                <a:cs typeface="Tahoma"/>
              </a:rPr>
              <a:t> </a:t>
            </a:r>
            <a:r>
              <a:rPr sz="2400" spc="50" dirty="0">
                <a:latin typeface="Tahoma"/>
                <a:cs typeface="Tahoma"/>
              </a:rPr>
              <a:t>not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correlate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spc="60" dirty="0">
                <a:latin typeface="Tahoma"/>
                <a:cs typeface="Tahoma"/>
              </a:rPr>
              <a:t>to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-7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severity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spc="25" dirty="0">
                <a:latin typeface="Tahoma"/>
                <a:cs typeface="Tahoma"/>
              </a:rPr>
              <a:t>of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spc="60" dirty="0">
                <a:latin typeface="Tahoma"/>
                <a:cs typeface="Tahoma"/>
              </a:rPr>
              <a:t>disease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spc="85" dirty="0">
                <a:latin typeface="Tahoma"/>
                <a:cs typeface="Tahoma"/>
              </a:rPr>
              <a:t>and</a:t>
            </a:r>
            <a:r>
              <a:rPr sz="2400" spc="-7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may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spc="55" dirty="0">
                <a:latin typeface="Tahoma"/>
                <a:cs typeface="Tahoma"/>
              </a:rPr>
              <a:t>not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spc="155" dirty="0">
                <a:latin typeface="Tahoma"/>
                <a:cs typeface="Tahoma"/>
              </a:rPr>
              <a:t>be</a:t>
            </a:r>
            <a:r>
              <a:rPr sz="2400" spc="-7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present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early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disease.</a:t>
            </a:r>
            <a:r>
              <a:rPr sz="2400" spc="-15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MRI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is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spc="55" dirty="0">
                <a:latin typeface="Tahoma"/>
                <a:cs typeface="Tahoma"/>
              </a:rPr>
              <a:t>not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routinely </a:t>
            </a:r>
            <a:r>
              <a:rPr sz="2400" spc="65" dirty="0">
                <a:latin typeface="Tahoma"/>
                <a:cs typeface="Tahoma"/>
              </a:rPr>
              <a:t>indicated</a:t>
            </a:r>
            <a:r>
              <a:rPr sz="2400" spc="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for</a:t>
            </a:r>
            <a:r>
              <a:rPr sz="2400" spc="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osteoarthritis</a:t>
            </a:r>
            <a:r>
              <a:rPr sz="2400" spc="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workup;</a:t>
            </a:r>
            <a:r>
              <a:rPr sz="2400" spc="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however,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it</a:t>
            </a:r>
            <a:r>
              <a:rPr sz="2400" spc="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can</a:t>
            </a:r>
            <a:r>
              <a:rPr sz="2400" spc="25" dirty="0">
                <a:latin typeface="Tahoma"/>
                <a:cs typeface="Tahoma"/>
              </a:rPr>
              <a:t> </a:t>
            </a:r>
            <a:r>
              <a:rPr sz="2400" spc="65" dirty="0">
                <a:latin typeface="Tahoma"/>
                <a:cs typeface="Tahoma"/>
              </a:rPr>
              <a:t>detect</a:t>
            </a:r>
            <a:r>
              <a:rPr sz="2400" spc="5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osteoarthritis</a:t>
            </a:r>
            <a:r>
              <a:rPr sz="2400" spc="2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at </a:t>
            </a:r>
            <a:r>
              <a:rPr sz="2400" dirty="0">
                <a:latin typeface="Tahoma"/>
                <a:cs typeface="Tahoma"/>
              </a:rPr>
              <a:t>earlier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stages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than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spc="60" dirty="0">
                <a:latin typeface="Tahoma"/>
                <a:cs typeface="Tahoma"/>
              </a:rPr>
              <a:t>normal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spc="55" dirty="0">
                <a:latin typeface="Tahoma"/>
                <a:cs typeface="Tahoma"/>
              </a:rPr>
              <a:t>radiographs.</a:t>
            </a:r>
            <a:r>
              <a:rPr sz="2400" spc="-165" dirty="0">
                <a:latin typeface="Tahoma"/>
                <a:cs typeface="Tahoma"/>
              </a:rPr>
              <a:t> </a:t>
            </a:r>
            <a:r>
              <a:rPr sz="2400" spc="50" dirty="0">
                <a:latin typeface="Tahoma"/>
                <a:cs typeface="Tahoma"/>
              </a:rPr>
              <a:t>Ultrasound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can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spc="50" dirty="0">
                <a:latin typeface="Tahoma"/>
                <a:cs typeface="Tahoma"/>
              </a:rPr>
              <a:t>also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identify</a:t>
            </a:r>
            <a:r>
              <a:rPr sz="2400" spc="60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synovial</a:t>
            </a:r>
            <a:r>
              <a:rPr sz="2400" spc="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inflammation,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effusion,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85" dirty="0">
                <a:latin typeface="Tahoma"/>
                <a:cs typeface="Tahoma"/>
              </a:rPr>
              <a:t>and</a:t>
            </a:r>
            <a:r>
              <a:rPr sz="2400" spc="3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osteophytes,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which</a:t>
            </a:r>
            <a:r>
              <a:rPr sz="2400" spc="1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can</a:t>
            </a:r>
            <a:r>
              <a:rPr sz="2400" spc="45" dirty="0">
                <a:latin typeface="Tahoma"/>
                <a:cs typeface="Tahoma"/>
              </a:rPr>
              <a:t> </a:t>
            </a:r>
            <a:r>
              <a:rPr sz="2400" spc="155" dirty="0">
                <a:latin typeface="Tahoma"/>
                <a:cs typeface="Tahoma"/>
              </a:rPr>
              <a:t>be</a:t>
            </a:r>
            <a:r>
              <a:rPr sz="2400" spc="25" dirty="0">
                <a:latin typeface="Tahoma"/>
                <a:cs typeface="Tahoma"/>
              </a:rPr>
              <a:t> </a:t>
            </a:r>
            <a:r>
              <a:rPr sz="2400" spc="45" dirty="0">
                <a:latin typeface="Tahoma"/>
                <a:cs typeface="Tahoma"/>
              </a:rPr>
              <a:t>related</a:t>
            </a:r>
            <a:r>
              <a:rPr sz="2400" spc="50" dirty="0">
                <a:latin typeface="Tahoma"/>
                <a:cs typeface="Tahoma"/>
              </a:rPr>
              <a:t> </a:t>
            </a:r>
            <a:r>
              <a:rPr sz="2400" spc="35" dirty="0">
                <a:latin typeface="Tahoma"/>
                <a:cs typeface="Tahoma"/>
              </a:rPr>
              <a:t>to </a:t>
            </a:r>
            <a:r>
              <a:rPr sz="2400" dirty="0">
                <a:latin typeface="Tahoma"/>
                <a:cs typeface="Tahoma"/>
              </a:rPr>
              <a:t>osteoarthritis.</a:t>
            </a:r>
            <a:r>
              <a:rPr sz="2400" spc="-1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There</a:t>
            </a:r>
            <a:r>
              <a:rPr sz="2400" spc="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are</a:t>
            </a:r>
            <a:r>
              <a:rPr sz="2400" spc="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several</a:t>
            </a:r>
            <a:r>
              <a:rPr sz="2400" spc="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classification</a:t>
            </a:r>
            <a:r>
              <a:rPr sz="2400" spc="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systems</a:t>
            </a:r>
            <a:r>
              <a:rPr sz="2400" spc="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for</a:t>
            </a:r>
            <a:r>
              <a:rPr sz="2400" spc="4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osteoarthritis.</a:t>
            </a:r>
            <a:r>
              <a:rPr sz="2400" spc="-45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In </a:t>
            </a:r>
            <a:r>
              <a:rPr sz="2400" dirty="0">
                <a:latin typeface="Tahoma"/>
                <a:cs typeface="Tahoma"/>
              </a:rPr>
              <a:t>general,</a:t>
            </a:r>
            <a:r>
              <a:rPr sz="2400" spc="-1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they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spc="80" dirty="0">
                <a:latin typeface="Tahoma"/>
                <a:cs typeface="Tahoma"/>
              </a:rPr>
              <a:t>include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effects</a:t>
            </a:r>
            <a:r>
              <a:rPr sz="2400" spc="-25" dirty="0">
                <a:latin typeface="Tahoma"/>
                <a:cs typeface="Tahoma"/>
              </a:rPr>
              <a:t> </a:t>
            </a:r>
            <a:r>
              <a:rPr sz="2400" spc="100" dirty="0">
                <a:latin typeface="Tahoma"/>
                <a:cs typeface="Tahoma"/>
              </a:rPr>
              <a:t>on</a:t>
            </a:r>
            <a:r>
              <a:rPr sz="2400" spc="-7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joints,</a:t>
            </a:r>
            <a:r>
              <a:rPr sz="2400" spc="-13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spc="100" dirty="0">
                <a:latin typeface="Tahoma"/>
                <a:cs typeface="Tahoma"/>
              </a:rPr>
              <a:t>age</a:t>
            </a:r>
            <a:r>
              <a:rPr sz="2400" spc="-65" dirty="0">
                <a:latin typeface="Tahoma"/>
                <a:cs typeface="Tahoma"/>
              </a:rPr>
              <a:t> </a:t>
            </a:r>
            <a:r>
              <a:rPr sz="2400" spc="50" dirty="0">
                <a:latin typeface="Tahoma"/>
                <a:cs typeface="Tahoma"/>
              </a:rPr>
              <a:t>of</a:t>
            </a:r>
            <a:r>
              <a:rPr sz="2400" dirty="0">
                <a:latin typeface="Tahoma"/>
                <a:cs typeface="Tahoma"/>
              </a:rPr>
              <a:t> onset,</a:t>
            </a:r>
            <a:r>
              <a:rPr sz="2400" spc="-145" dirty="0">
                <a:latin typeface="Tahoma"/>
                <a:cs typeface="Tahoma"/>
              </a:rPr>
              <a:t> </a:t>
            </a:r>
            <a:r>
              <a:rPr sz="2400" spc="65" dirty="0">
                <a:latin typeface="Tahoma"/>
                <a:cs typeface="Tahoma"/>
              </a:rPr>
              <a:t>radiographic </a:t>
            </a:r>
            <a:r>
              <a:rPr sz="2400" spc="55" dirty="0">
                <a:latin typeface="Tahoma"/>
                <a:cs typeface="Tahoma"/>
              </a:rPr>
              <a:t>appearance,</a:t>
            </a:r>
            <a:r>
              <a:rPr sz="2400" spc="-165" dirty="0">
                <a:latin typeface="Tahoma"/>
                <a:cs typeface="Tahoma"/>
              </a:rPr>
              <a:t> </a:t>
            </a:r>
            <a:r>
              <a:rPr sz="2400" spc="75" dirty="0">
                <a:latin typeface="Tahoma"/>
                <a:cs typeface="Tahoma"/>
              </a:rPr>
              <a:t>presumed</a:t>
            </a:r>
            <a:r>
              <a:rPr sz="2400" spc="-95" dirty="0">
                <a:latin typeface="Tahoma"/>
                <a:cs typeface="Tahoma"/>
              </a:rPr>
              <a:t> </a:t>
            </a:r>
            <a:r>
              <a:rPr sz="2400" spc="75" dirty="0">
                <a:latin typeface="Tahoma"/>
                <a:cs typeface="Tahoma"/>
              </a:rPr>
              <a:t>etiology</a:t>
            </a:r>
            <a:r>
              <a:rPr sz="2400" spc="-9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(primary</a:t>
            </a:r>
            <a:r>
              <a:rPr sz="2400" spc="-9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vs</a:t>
            </a:r>
            <a:r>
              <a:rPr sz="2400" spc="-10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secondary),</a:t>
            </a:r>
            <a:r>
              <a:rPr sz="2400" spc="-170" dirty="0">
                <a:latin typeface="Tahoma"/>
                <a:cs typeface="Tahoma"/>
              </a:rPr>
              <a:t> </a:t>
            </a:r>
            <a:r>
              <a:rPr sz="2400" spc="85" dirty="0">
                <a:latin typeface="Tahoma"/>
                <a:cs typeface="Tahoma"/>
              </a:rPr>
              <a:t>and</a:t>
            </a:r>
            <a:r>
              <a:rPr sz="2400" spc="-10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rate</a:t>
            </a:r>
            <a:r>
              <a:rPr sz="2400" spc="-105" dirty="0">
                <a:latin typeface="Tahoma"/>
                <a:cs typeface="Tahoma"/>
              </a:rPr>
              <a:t> </a:t>
            </a:r>
            <a:r>
              <a:rPr sz="2400" spc="25" dirty="0">
                <a:latin typeface="Tahoma"/>
                <a:cs typeface="Tahoma"/>
              </a:rPr>
              <a:t>of </a:t>
            </a:r>
            <a:r>
              <a:rPr sz="2400" spc="50" dirty="0">
                <a:latin typeface="Tahoma"/>
                <a:cs typeface="Tahoma"/>
              </a:rPr>
              <a:t>progression.</a:t>
            </a:r>
            <a:r>
              <a:rPr sz="2400" spc="-2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</a:t>
            </a:r>
            <a:r>
              <a:rPr sz="2400" spc="-120" dirty="0">
                <a:latin typeface="Tahoma"/>
                <a:cs typeface="Tahoma"/>
              </a:rPr>
              <a:t> </a:t>
            </a:r>
            <a:r>
              <a:rPr sz="2400" spc="80" dirty="0">
                <a:latin typeface="Tahoma"/>
                <a:cs typeface="Tahoma"/>
              </a:rPr>
              <a:t>American</a:t>
            </a:r>
            <a:r>
              <a:rPr sz="2400" spc="-70" dirty="0">
                <a:latin typeface="Tahoma"/>
                <a:cs typeface="Tahoma"/>
              </a:rPr>
              <a:t> </a:t>
            </a:r>
            <a:r>
              <a:rPr sz="2400" spc="125" dirty="0">
                <a:latin typeface="Tahoma"/>
                <a:cs typeface="Tahoma"/>
              </a:rPr>
              <a:t>College</a:t>
            </a:r>
            <a:r>
              <a:rPr sz="2400" spc="-95" dirty="0">
                <a:latin typeface="Tahoma"/>
                <a:cs typeface="Tahoma"/>
              </a:rPr>
              <a:t> </a:t>
            </a:r>
            <a:r>
              <a:rPr sz="2400" spc="50" dirty="0">
                <a:latin typeface="Tahoma"/>
                <a:cs typeface="Tahoma"/>
              </a:rPr>
              <a:t>of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spc="55" dirty="0">
                <a:latin typeface="Tahoma"/>
                <a:cs typeface="Tahoma"/>
              </a:rPr>
              <a:t>Rheumatology</a:t>
            </a:r>
            <a:r>
              <a:rPr sz="2400" spc="-7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classification</a:t>
            </a:r>
            <a:r>
              <a:rPr sz="2400" spc="-6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is</a:t>
            </a:r>
            <a:r>
              <a:rPr sz="2400" spc="-90" dirty="0">
                <a:latin typeface="Tahoma"/>
                <a:cs typeface="Tahoma"/>
              </a:rPr>
              <a:t> </a:t>
            </a:r>
            <a:r>
              <a:rPr sz="2400" spc="-25" dirty="0">
                <a:latin typeface="Tahoma"/>
                <a:cs typeface="Tahoma"/>
              </a:rPr>
              <a:t>the </a:t>
            </a:r>
            <a:r>
              <a:rPr sz="2400" spc="50" dirty="0">
                <a:latin typeface="Tahoma"/>
                <a:cs typeface="Tahoma"/>
              </a:rPr>
              <a:t>most</a:t>
            </a:r>
            <a:r>
              <a:rPr sz="2400" spc="-90" dirty="0">
                <a:latin typeface="Tahoma"/>
                <a:cs typeface="Tahoma"/>
              </a:rPr>
              <a:t> </a:t>
            </a:r>
            <a:r>
              <a:rPr sz="2400" spc="55" dirty="0">
                <a:latin typeface="Tahoma"/>
                <a:cs typeface="Tahoma"/>
              </a:rPr>
              <a:t>widely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spc="80" dirty="0">
                <a:latin typeface="Tahoma"/>
                <a:cs typeface="Tahoma"/>
              </a:rPr>
              <a:t>used</a:t>
            </a:r>
            <a:r>
              <a:rPr sz="2400" spc="-10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classification</a:t>
            </a:r>
            <a:r>
              <a:rPr sz="2400" spc="-7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system.</a:t>
            </a:r>
            <a:r>
              <a:rPr sz="2400" spc="-215" dirty="0">
                <a:latin typeface="Tahoma"/>
                <a:cs typeface="Tahoma"/>
              </a:rPr>
              <a:t> </a:t>
            </a:r>
            <a:r>
              <a:rPr sz="2400" spc="100" dirty="0">
                <a:latin typeface="Tahoma"/>
                <a:cs typeface="Tahoma"/>
              </a:rPr>
              <a:t>At</a:t>
            </a:r>
            <a:r>
              <a:rPr sz="2400" spc="-9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this</a:t>
            </a:r>
            <a:r>
              <a:rPr sz="2400" spc="-8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time,</a:t>
            </a:r>
            <a:r>
              <a:rPr sz="2400" spc="-15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it</a:t>
            </a:r>
            <a:r>
              <a:rPr sz="2400" spc="-9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is</a:t>
            </a:r>
            <a:r>
              <a:rPr sz="2400" spc="-90" dirty="0">
                <a:latin typeface="Tahoma"/>
                <a:cs typeface="Tahoma"/>
              </a:rPr>
              <a:t> </a:t>
            </a:r>
            <a:r>
              <a:rPr sz="2400" spc="50" dirty="0">
                <a:latin typeface="Tahoma"/>
                <a:cs typeface="Tahoma"/>
              </a:rPr>
              <a:t>not</a:t>
            </a:r>
            <a:r>
              <a:rPr sz="2400" spc="-85" dirty="0">
                <a:latin typeface="Tahoma"/>
                <a:cs typeface="Tahoma"/>
              </a:rPr>
              <a:t> </a:t>
            </a:r>
            <a:r>
              <a:rPr sz="2400" spc="85" dirty="0">
                <a:latin typeface="Tahoma"/>
                <a:cs typeface="Tahoma"/>
              </a:rPr>
              <a:t>possible</a:t>
            </a:r>
            <a:r>
              <a:rPr sz="2400" spc="-110" dirty="0">
                <a:latin typeface="Tahoma"/>
                <a:cs typeface="Tahoma"/>
              </a:rPr>
              <a:t> </a:t>
            </a:r>
            <a:r>
              <a:rPr sz="2400" spc="35" dirty="0">
                <a:latin typeface="Tahoma"/>
                <a:cs typeface="Tahoma"/>
              </a:rPr>
              <a:t>to </a:t>
            </a:r>
            <a:r>
              <a:rPr sz="2400" spc="70" dirty="0">
                <a:latin typeface="Tahoma"/>
                <a:cs typeface="Tahoma"/>
              </a:rPr>
              <a:t>predict</a:t>
            </a:r>
            <a:r>
              <a:rPr sz="2400" spc="2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which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patients</a:t>
            </a:r>
            <a:r>
              <a:rPr sz="2400" spc="30" dirty="0">
                <a:latin typeface="Tahoma"/>
                <a:cs typeface="Tahoma"/>
              </a:rPr>
              <a:t> </a:t>
            </a:r>
            <a:r>
              <a:rPr sz="2400" spc="60" dirty="0">
                <a:latin typeface="Tahoma"/>
                <a:cs typeface="Tahoma"/>
              </a:rPr>
              <a:t>progress</a:t>
            </a:r>
            <a:r>
              <a:rPr sz="2400" spc="10" dirty="0">
                <a:latin typeface="Tahoma"/>
                <a:cs typeface="Tahoma"/>
              </a:rPr>
              <a:t> </a:t>
            </a:r>
            <a:r>
              <a:rPr sz="2400" spc="60" dirty="0">
                <a:latin typeface="Tahoma"/>
                <a:cs typeface="Tahoma"/>
              </a:rPr>
              <a:t>to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severe</a:t>
            </a:r>
            <a:r>
              <a:rPr sz="2400" spc="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osteoarthritis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85" dirty="0">
                <a:latin typeface="Tahoma"/>
                <a:cs typeface="Tahoma"/>
              </a:rPr>
              <a:t>and</a:t>
            </a:r>
            <a:r>
              <a:rPr sz="2400" spc="2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which</a:t>
            </a:r>
            <a:r>
              <a:rPr sz="2400" spc="-5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patients </a:t>
            </a:r>
            <a:r>
              <a:rPr sz="2400" dirty="0">
                <a:latin typeface="Tahoma"/>
                <a:cs typeface="Tahoma"/>
              </a:rPr>
              <a:t>have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their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spc="60" dirty="0">
                <a:latin typeface="Tahoma"/>
                <a:cs typeface="Tahoma"/>
              </a:rPr>
              <a:t>disease</a:t>
            </a:r>
            <a:r>
              <a:rPr sz="2400" spc="-40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arrest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spc="-20" dirty="0">
                <a:latin typeface="Tahoma"/>
                <a:cs typeface="Tahoma"/>
              </a:rPr>
              <a:t>at</a:t>
            </a:r>
            <a:r>
              <a:rPr sz="2400" spc="-55" dirty="0">
                <a:latin typeface="Tahoma"/>
                <a:cs typeface="Tahoma"/>
              </a:rPr>
              <a:t> </a:t>
            </a:r>
            <a:r>
              <a:rPr sz="2400" dirty="0">
                <a:latin typeface="Tahoma"/>
                <a:cs typeface="Tahoma"/>
              </a:rPr>
              <a:t>earlier</a:t>
            </a:r>
            <a:r>
              <a:rPr sz="2400" spc="-50" dirty="0">
                <a:latin typeface="Tahoma"/>
                <a:cs typeface="Tahoma"/>
              </a:rPr>
              <a:t> </a:t>
            </a:r>
            <a:r>
              <a:rPr sz="2400" spc="-10" dirty="0">
                <a:latin typeface="Tahoma"/>
                <a:cs typeface="Tahoma"/>
              </a:rPr>
              <a:t>stages.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56" y="36017"/>
            <a:ext cx="3127248" cy="916101"/>
          </a:xfrm>
          <a:prstGeom prst="rect">
            <a:avLst/>
          </a:prstGeom>
        </p:spPr>
      </p:pic>
      <p:sp>
        <p:nvSpPr>
          <p:cNvPr id="3" name="object 3"/>
          <p:cNvSpPr/>
          <p:nvPr/>
        </p:nvSpPr>
        <p:spPr>
          <a:xfrm>
            <a:off x="4460748" y="2477134"/>
            <a:ext cx="5613400" cy="372110"/>
          </a:xfrm>
          <a:custGeom>
            <a:avLst/>
            <a:gdLst/>
            <a:ahLst/>
            <a:cxnLst/>
            <a:rect l="l" t="t" r="r" b="b"/>
            <a:pathLst>
              <a:path w="5613400" h="372110">
                <a:moveTo>
                  <a:pt x="5612892" y="0"/>
                </a:moveTo>
                <a:lnTo>
                  <a:pt x="5612892" y="0"/>
                </a:lnTo>
                <a:lnTo>
                  <a:pt x="0" y="0"/>
                </a:lnTo>
                <a:lnTo>
                  <a:pt x="0" y="371856"/>
                </a:lnTo>
                <a:lnTo>
                  <a:pt x="5612892" y="371856"/>
                </a:lnTo>
                <a:lnTo>
                  <a:pt x="5612892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40739" y="756665"/>
            <a:ext cx="10471150" cy="60674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75285" indent="-363855">
              <a:lnSpc>
                <a:spcPct val="100000"/>
              </a:lnSpc>
              <a:spcBef>
                <a:spcPts val="105"/>
              </a:spcBef>
              <a:buSzPct val="96875"/>
              <a:buFont typeface="Wingdings"/>
              <a:buChar char=""/>
              <a:tabLst>
                <a:tab pos="375285" algn="l"/>
              </a:tabLst>
            </a:pPr>
            <a:r>
              <a:rPr sz="3200" b="1" spc="-40" dirty="0">
                <a:latin typeface="Arial"/>
                <a:cs typeface="Arial"/>
              </a:rPr>
              <a:t>Detection</a:t>
            </a:r>
            <a:r>
              <a:rPr sz="3200" b="1" spc="-7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of</a:t>
            </a:r>
            <a:r>
              <a:rPr sz="3200" b="1" spc="-4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Disease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sz="4000" b="1" dirty="0">
                <a:solidFill>
                  <a:srgbClr val="1B1C1D"/>
                </a:solidFill>
                <a:latin typeface="Calibri"/>
                <a:cs typeface="Calibri"/>
              </a:rPr>
              <a:t>Current</a:t>
            </a:r>
            <a:r>
              <a:rPr sz="4000" b="1" spc="-22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1B1C1D"/>
                </a:solidFill>
                <a:latin typeface="Calibri"/>
                <a:cs typeface="Calibri"/>
              </a:rPr>
              <a:t>Diagnostic</a:t>
            </a:r>
            <a:r>
              <a:rPr sz="4000" b="1" spc="-19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1B1C1D"/>
                </a:solidFill>
                <a:latin typeface="Calibri"/>
                <a:cs typeface="Calibri"/>
              </a:rPr>
              <a:t>Technology</a:t>
            </a:r>
            <a:endParaRPr sz="4000">
              <a:latin typeface="Calibri"/>
              <a:cs typeface="Calibri"/>
            </a:endParaRPr>
          </a:p>
          <a:p>
            <a:pPr marL="12700" marR="187960">
              <a:lnSpc>
                <a:spcPct val="114100"/>
              </a:lnSpc>
              <a:spcBef>
                <a:spcPts val="819"/>
              </a:spcBef>
            </a:pP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The</a:t>
            </a:r>
            <a:r>
              <a:rPr sz="2400" spc="-3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"gold</a:t>
            </a:r>
            <a:r>
              <a:rPr sz="2400" spc="-5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standard"</a:t>
            </a:r>
            <a:r>
              <a:rPr sz="2400" spc="-5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for</a:t>
            </a:r>
            <a:r>
              <a:rPr sz="2400" spc="-4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diagnosing</a:t>
            </a:r>
            <a:r>
              <a:rPr sz="2400" spc="-5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B1C1D"/>
                </a:solidFill>
                <a:latin typeface="Calibri"/>
                <a:cs typeface="Calibri"/>
              </a:rPr>
              <a:t>osteoporosis</a:t>
            </a:r>
            <a:r>
              <a:rPr sz="2400" spc="-3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is</a:t>
            </a:r>
            <a:r>
              <a:rPr sz="2400" spc="-5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a</a:t>
            </a:r>
            <a:r>
              <a:rPr sz="2400" spc="-4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bone</a:t>
            </a:r>
            <a:r>
              <a:rPr sz="2400" spc="-4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mineral</a:t>
            </a:r>
            <a:r>
              <a:rPr sz="2400" spc="-5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density</a:t>
            </a:r>
            <a:r>
              <a:rPr sz="2400" spc="-5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B1C1D"/>
                </a:solidFill>
                <a:latin typeface="Calibri"/>
                <a:cs typeface="Calibri"/>
              </a:rPr>
              <a:t>(BMD)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test</a:t>
            </a:r>
            <a:r>
              <a:rPr sz="2400" spc="-7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using</a:t>
            </a:r>
            <a:r>
              <a:rPr sz="2400" spc="-6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a</a:t>
            </a:r>
            <a:r>
              <a:rPr sz="2400" spc="-6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machine</a:t>
            </a:r>
            <a:r>
              <a:rPr sz="2400" spc="-6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called</a:t>
            </a:r>
            <a:r>
              <a:rPr sz="2400" spc="-7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a</a:t>
            </a:r>
            <a:r>
              <a:rPr sz="2400" spc="-6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B1C1D"/>
                </a:solidFill>
                <a:latin typeface="Calibri"/>
                <a:cs typeface="Calibri"/>
              </a:rPr>
              <a:t>Dual-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Energy</a:t>
            </a:r>
            <a:r>
              <a:rPr sz="2400" spc="-7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B1C1D"/>
                </a:solidFill>
                <a:latin typeface="Calibri"/>
                <a:cs typeface="Calibri"/>
              </a:rPr>
              <a:t>X-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ray</a:t>
            </a:r>
            <a:r>
              <a:rPr sz="2400" spc="-5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Absorptiometry</a:t>
            </a:r>
            <a:r>
              <a:rPr sz="2400" spc="-7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(DXA)</a:t>
            </a:r>
            <a:r>
              <a:rPr sz="2400" spc="-6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scan.</a:t>
            </a:r>
            <a:r>
              <a:rPr sz="2400" spc="-7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B1C1D"/>
                </a:solidFill>
                <a:latin typeface="Calibri"/>
                <a:cs typeface="Calibri"/>
              </a:rPr>
              <a:t>This </a:t>
            </a:r>
            <a:r>
              <a:rPr sz="2400" spc="-10" dirty="0">
                <a:solidFill>
                  <a:srgbClr val="1B1C1D"/>
                </a:solidFill>
                <a:latin typeface="Calibri"/>
                <a:cs typeface="Calibri"/>
              </a:rPr>
              <a:t>non-invasive</a:t>
            </a:r>
            <a:r>
              <a:rPr sz="2400" spc="-3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test</a:t>
            </a:r>
            <a:r>
              <a:rPr sz="2400" spc="-6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B1C1D"/>
                </a:solidFill>
                <a:latin typeface="Calibri"/>
                <a:cs typeface="Calibri"/>
              </a:rPr>
              <a:t>measures</a:t>
            </a:r>
            <a:r>
              <a:rPr sz="2400" spc="-6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the</a:t>
            </a:r>
            <a:r>
              <a:rPr sz="2400" spc="-5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amount</a:t>
            </a:r>
            <a:r>
              <a:rPr sz="2400" spc="-6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of</a:t>
            </a:r>
            <a:r>
              <a:rPr sz="2400" spc="-5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mineral</a:t>
            </a:r>
            <a:r>
              <a:rPr sz="2400" spc="-7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in</a:t>
            </a:r>
            <a:r>
              <a:rPr sz="2400" spc="-5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specific</a:t>
            </a:r>
            <a:r>
              <a:rPr sz="2400" spc="-6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bones,</a:t>
            </a:r>
            <a:r>
              <a:rPr sz="2400" spc="-4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typically</a:t>
            </a:r>
            <a:r>
              <a:rPr sz="2400" spc="-7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in</a:t>
            </a:r>
            <a:r>
              <a:rPr sz="2400" spc="-5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1B1C1D"/>
                </a:solidFill>
                <a:latin typeface="Calibri"/>
                <a:cs typeface="Calibri"/>
              </a:rPr>
              <a:t>the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hip</a:t>
            </a:r>
            <a:r>
              <a:rPr sz="2400" spc="-6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and</a:t>
            </a:r>
            <a:r>
              <a:rPr sz="2400" spc="-6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spine,</a:t>
            </a:r>
            <a:r>
              <a:rPr sz="2400" spc="-6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to</a:t>
            </a:r>
            <a:r>
              <a:rPr sz="2400" spc="-6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determine</a:t>
            </a:r>
            <a:r>
              <a:rPr sz="2400" spc="-7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bone</a:t>
            </a:r>
            <a:r>
              <a:rPr sz="2400" spc="-5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B1C1D"/>
                </a:solidFill>
                <a:latin typeface="Calibri"/>
                <a:cs typeface="Calibri"/>
              </a:rPr>
              <a:t>density.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10"/>
              </a:spcBef>
            </a:pP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Other</a:t>
            </a:r>
            <a:r>
              <a:rPr sz="2400" spc="-8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emerging</a:t>
            </a:r>
            <a:r>
              <a:rPr sz="2400" spc="-9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technologies</a:t>
            </a:r>
            <a:r>
              <a:rPr sz="2400" spc="-9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B1C1D"/>
                </a:solidFill>
                <a:latin typeface="Calibri"/>
                <a:cs typeface="Calibri"/>
              </a:rPr>
              <a:t>include:</a:t>
            </a:r>
            <a:endParaRPr sz="2400">
              <a:latin typeface="Calibri"/>
              <a:cs typeface="Calibri"/>
            </a:endParaRPr>
          </a:p>
          <a:p>
            <a:pPr marL="355600" marR="75565" indent="-343535">
              <a:lnSpc>
                <a:spcPct val="113999"/>
              </a:lnSpc>
              <a:spcBef>
                <a:spcPts val="595"/>
              </a:spcBef>
              <a:buClr>
                <a:srgbClr val="000000"/>
              </a:buClr>
              <a:buSzPct val="45833"/>
              <a:buFont typeface="Microsoft Sans Serif"/>
              <a:buChar char="●"/>
              <a:tabLst>
                <a:tab pos="355600" algn="l"/>
              </a:tabLst>
            </a:pPr>
            <a:r>
              <a:rPr sz="2400" b="1" spc="-10" dirty="0">
                <a:solidFill>
                  <a:srgbClr val="1B1C1D"/>
                </a:solidFill>
                <a:latin typeface="Calibri"/>
                <a:cs typeface="Calibri"/>
              </a:rPr>
              <a:t>Quantitative</a:t>
            </a:r>
            <a:r>
              <a:rPr sz="2400" b="1" spc="-3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B1C1D"/>
                </a:solidFill>
                <a:latin typeface="Calibri"/>
                <a:cs typeface="Calibri"/>
              </a:rPr>
              <a:t>Ultrasound</a:t>
            </a:r>
            <a:r>
              <a:rPr sz="2400" b="1" spc="-6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B1C1D"/>
                </a:solidFill>
                <a:latin typeface="Calibri"/>
                <a:cs typeface="Calibri"/>
              </a:rPr>
              <a:t>(QUS):</a:t>
            </a:r>
            <a:r>
              <a:rPr sz="2400" b="1" spc="-5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A</a:t>
            </a:r>
            <a:r>
              <a:rPr sz="2400" spc="-5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B1C1D"/>
                </a:solidFill>
                <a:latin typeface="Calibri"/>
                <a:cs typeface="Calibri"/>
              </a:rPr>
              <a:t>non-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ionizing</a:t>
            </a:r>
            <a:r>
              <a:rPr sz="2400" spc="-6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method</a:t>
            </a:r>
            <a:r>
              <a:rPr sz="2400" spc="-7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that</a:t>
            </a:r>
            <a:r>
              <a:rPr sz="2400" spc="-7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uses</a:t>
            </a:r>
            <a:r>
              <a:rPr sz="2400" spc="-5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sound</a:t>
            </a:r>
            <a:r>
              <a:rPr sz="2400" spc="-6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B1C1D"/>
                </a:solidFill>
                <a:latin typeface="Calibri"/>
                <a:cs typeface="Calibri"/>
              </a:rPr>
              <a:t>waves</a:t>
            </a:r>
            <a:r>
              <a:rPr sz="2400" spc="-6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1B1C1D"/>
                </a:solidFill>
                <a:latin typeface="Calibri"/>
                <a:cs typeface="Calibri"/>
              </a:rPr>
              <a:t>to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assess</a:t>
            </a:r>
            <a:r>
              <a:rPr sz="2400" spc="-5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bone</a:t>
            </a:r>
            <a:r>
              <a:rPr sz="2400" spc="-4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B1C1D"/>
                </a:solidFill>
                <a:latin typeface="Calibri"/>
                <a:cs typeface="Calibri"/>
              </a:rPr>
              <a:t>density,</a:t>
            </a:r>
            <a:r>
              <a:rPr sz="2400" spc="-5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often</a:t>
            </a:r>
            <a:r>
              <a:rPr sz="2400" spc="-5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in</a:t>
            </a:r>
            <a:r>
              <a:rPr sz="2400" spc="-5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the</a:t>
            </a:r>
            <a:r>
              <a:rPr sz="2400" spc="-5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heel.</a:t>
            </a:r>
            <a:r>
              <a:rPr sz="2400" spc="-5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It's</a:t>
            </a:r>
            <a:r>
              <a:rPr sz="2400" spc="-5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portable</a:t>
            </a:r>
            <a:r>
              <a:rPr sz="2400" spc="-5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and</a:t>
            </a:r>
            <a:r>
              <a:rPr sz="2400" spc="-5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doesn't</a:t>
            </a:r>
            <a:r>
              <a:rPr sz="2400" spc="-5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use</a:t>
            </a:r>
            <a:r>
              <a:rPr sz="2400" spc="-4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B1C1D"/>
                </a:solidFill>
                <a:latin typeface="Calibri"/>
                <a:cs typeface="Calibri"/>
              </a:rPr>
              <a:t>radiation,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making</a:t>
            </a:r>
            <a:r>
              <a:rPr sz="2400" spc="-6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it</a:t>
            </a:r>
            <a:r>
              <a:rPr sz="2400" spc="-3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useful</a:t>
            </a:r>
            <a:r>
              <a:rPr sz="2400" spc="-3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for</a:t>
            </a:r>
            <a:r>
              <a:rPr sz="2400" spc="-4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B1C1D"/>
                </a:solidFill>
                <a:latin typeface="Calibri"/>
                <a:cs typeface="Calibri"/>
              </a:rPr>
              <a:t>screening.</a:t>
            </a:r>
            <a:endParaRPr sz="2400">
              <a:latin typeface="Calibri"/>
              <a:cs typeface="Calibri"/>
            </a:endParaRPr>
          </a:p>
          <a:p>
            <a:pPr marL="350520" marR="5080" indent="-338455" algn="just">
              <a:lnSpc>
                <a:spcPct val="113999"/>
              </a:lnSpc>
              <a:spcBef>
                <a:spcPts val="5"/>
              </a:spcBef>
              <a:buClr>
                <a:srgbClr val="000000"/>
              </a:buClr>
              <a:buSzPct val="45833"/>
              <a:buFont typeface="Microsoft Sans Serif"/>
              <a:buChar char="●"/>
              <a:tabLst>
                <a:tab pos="355600" algn="l"/>
              </a:tabLst>
            </a:pPr>
            <a:r>
              <a:rPr sz="2400" b="1" spc="-10" dirty="0">
                <a:solidFill>
                  <a:srgbClr val="1B1C1D"/>
                </a:solidFill>
                <a:latin typeface="Calibri"/>
                <a:cs typeface="Calibri"/>
              </a:rPr>
              <a:t>Radiofrequency</a:t>
            </a:r>
            <a:r>
              <a:rPr sz="2400" b="1" spc="-6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B1C1D"/>
                </a:solidFill>
                <a:latin typeface="Calibri"/>
                <a:cs typeface="Calibri"/>
              </a:rPr>
              <a:t>Echo</a:t>
            </a:r>
            <a:r>
              <a:rPr sz="2400" b="1" spc="-7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B1C1D"/>
                </a:solidFill>
                <a:latin typeface="Calibri"/>
                <a:cs typeface="Calibri"/>
              </a:rPr>
              <a:t>graphic</a:t>
            </a:r>
            <a:r>
              <a:rPr sz="2400" b="1" spc="-6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B1C1D"/>
                </a:solidFill>
                <a:latin typeface="Calibri"/>
                <a:cs typeface="Calibri"/>
              </a:rPr>
              <a:t>Multi</a:t>
            </a:r>
            <a:r>
              <a:rPr sz="2400" b="1" spc="-5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1B1C1D"/>
                </a:solidFill>
                <a:latin typeface="Calibri"/>
                <a:cs typeface="Calibri"/>
              </a:rPr>
              <a:t>Spectrometry</a:t>
            </a:r>
            <a:r>
              <a:rPr sz="2400" b="1" spc="-7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1B1C1D"/>
                </a:solidFill>
                <a:latin typeface="Calibri"/>
                <a:cs typeface="Calibri"/>
              </a:rPr>
              <a:t>(REMS):</a:t>
            </a:r>
            <a:r>
              <a:rPr sz="2400" b="1" spc="-3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A</a:t>
            </a:r>
            <a:r>
              <a:rPr sz="2400" spc="-5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spc="-35" dirty="0">
                <a:solidFill>
                  <a:srgbClr val="1B1C1D"/>
                </a:solidFill>
                <a:latin typeface="Calibri"/>
                <a:cs typeface="Calibri"/>
              </a:rPr>
              <a:t>newer,</a:t>
            </a:r>
            <a:r>
              <a:rPr sz="2400" spc="-6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B1C1D"/>
                </a:solidFill>
                <a:latin typeface="Calibri"/>
                <a:cs typeface="Calibri"/>
              </a:rPr>
              <a:t>non-ionizing 	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technology</a:t>
            </a:r>
            <a:r>
              <a:rPr sz="2400" spc="-7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that</a:t>
            </a:r>
            <a:r>
              <a:rPr sz="2400" spc="-6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analyses</a:t>
            </a:r>
            <a:r>
              <a:rPr sz="2400" spc="-6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B1C1D"/>
                </a:solidFill>
                <a:latin typeface="Calibri"/>
                <a:cs typeface="Calibri"/>
              </a:rPr>
              <a:t>ultrasound</a:t>
            </a:r>
            <a:r>
              <a:rPr sz="2400" spc="-6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signals</a:t>
            </a:r>
            <a:r>
              <a:rPr sz="2400" spc="-7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to</a:t>
            </a:r>
            <a:r>
              <a:rPr sz="2400" spc="-6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assess</a:t>
            </a:r>
            <a:r>
              <a:rPr sz="2400" spc="-6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bone</a:t>
            </a:r>
            <a:r>
              <a:rPr sz="2400" spc="-5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quality</a:t>
            </a:r>
            <a:r>
              <a:rPr sz="2400" spc="-6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and</a:t>
            </a:r>
            <a:r>
              <a:rPr sz="2400" spc="-6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quantity</a:t>
            </a:r>
            <a:r>
              <a:rPr sz="2400" spc="-6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1B1C1D"/>
                </a:solidFill>
                <a:latin typeface="Calibri"/>
                <a:cs typeface="Calibri"/>
              </a:rPr>
              <a:t>at 	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the</a:t>
            </a:r>
            <a:r>
              <a:rPr sz="2400" spc="-4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hip</a:t>
            </a:r>
            <a:r>
              <a:rPr sz="2400" spc="-4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and</a:t>
            </a:r>
            <a:r>
              <a:rPr sz="2400" spc="-4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spine,</a:t>
            </a:r>
            <a:r>
              <a:rPr sz="2400" spc="-4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B1C1D"/>
                </a:solidFill>
                <a:latin typeface="Calibri"/>
                <a:cs typeface="Calibri"/>
              </a:rPr>
              <a:t>providing</a:t>
            </a:r>
            <a:r>
              <a:rPr sz="2400" spc="-5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a</a:t>
            </a:r>
            <a:r>
              <a:rPr sz="2400" spc="-45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portable</a:t>
            </a:r>
            <a:r>
              <a:rPr sz="2400" spc="-5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1B1C1D"/>
                </a:solidFill>
                <a:latin typeface="Calibri"/>
                <a:cs typeface="Calibri"/>
              </a:rPr>
              <a:t>alternative</a:t>
            </a:r>
            <a:r>
              <a:rPr sz="2400" spc="-5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1B1C1D"/>
                </a:solidFill>
                <a:latin typeface="Calibri"/>
                <a:cs typeface="Calibri"/>
              </a:rPr>
              <a:t>to</a:t>
            </a:r>
            <a:r>
              <a:rPr sz="2400" spc="-50" dirty="0">
                <a:solidFill>
                  <a:srgbClr val="1B1C1D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1B1C1D"/>
                </a:solidFill>
                <a:latin typeface="Calibri"/>
                <a:cs typeface="Calibri"/>
              </a:rPr>
              <a:t>DXA.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89456" y="841324"/>
            <a:ext cx="10017760" cy="27057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00810">
              <a:lnSpc>
                <a:spcPts val="7130"/>
              </a:lnSpc>
              <a:spcBef>
                <a:spcPts val="100"/>
              </a:spcBef>
            </a:pPr>
            <a:r>
              <a:rPr sz="6000" spc="-55" dirty="0">
                <a:latin typeface="Arial"/>
                <a:cs typeface="Arial"/>
              </a:rPr>
              <a:t>Problem</a:t>
            </a:r>
            <a:r>
              <a:rPr sz="6000" spc="-360" dirty="0">
                <a:latin typeface="Arial"/>
                <a:cs typeface="Arial"/>
              </a:rPr>
              <a:t> </a:t>
            </a:r>
            <a:r>
              <a:rPr sz="6000" spc="-25" dirty="0">
                <a:latin typeface="Arial"/>
                <a:cs typeface="Arial"/>
              </a:rPr>
              <a:t>Statement:-</a:t>
            </a:r>
            <a:endParaRPr sz="6000">
              <a:latin typeface="Arial"/>
              <a:cs typeface="Arial"/>
            </a:endParaRPr>
          </a:p>
          <a:p>
            <a:pPr marL="2237740" marR="5080" indent="-2225675">
              <a:lnSpc>
                <a:spcPts val="6840"/>
              </a:lnSpc>
              <a:spcBef>
                <a:spcPts val="390"/>
              </a:spcBef>
            </a:pPr>
            <a:r>
              <a:rPr sz="6000" b="0" spc="-110" dirty="0">
                <a:latin typeface="Tahoma"/>
                <a:cs typeface="Tahoma"/>
              </a:rPr>
              <a:t>How</a:t>
            </a:r>
            <a:r>
              <a:rPr sz="6000" b="0" spc="-315" dirty="0">
                <a:latin typeface="Tahoma"/>
                <a:cs typeface="Tahoma"/>
              </a:rPr>
              <a:t> </a:t>
            </a:r>
            <a:r>
              <a:rPr sz="6000" b="0" dirty="0">
                <a:latin typeface="Tahoma"/>
                <a:cs typeface="Tahoma"/>
              </a:rPr>
              <a:t>to</a:t>
            </a:r>
            <a:r>
              <a:rPr sz="6000" b="0" spc="-315" dirty="0">
                <a:latin typeface="Tahoma"/>
                <a:cs typeface="Tahoma"/>
              </a:rPr>
              <a:t> </a:t>
            </a:r>
            <a:r>
              <a:rPr sz="6000" b="0" spc="-130" dirty="0">
                <a:latin typeface="Tahoma"/>
                <a:cs typeface="Tahoma"/>
              </a:rPr>
              <a:t>detect</a:t>
            </a:r>
            <a:r>
              <a:rPr sz="6000" b="0" spc="-340" dirty="0">
                <a:latin typeface="Tahoma"/>
                <a:cs typeface="Tahoma"/>
              </a:rPr>
              <a:t> </a:t>
            </a:r>
            <a:r>
              <a:rPr sz="6000" b="0" spc="-135" dirty="0">
                <a:latin typeface="Tahoma"/>
                <a:cs typeface="Tahoma"/>
              </a:rPr>
              <a:t>stage</a:t>
            </a:r>
            <a:r>
              <a:rPr sz="6000" b="0" spc="-325" dirty="0">
                <a:latin typeface="Tahoma"/>
                <a:cs typeface="Tahoma"/>
              </a:rPr>
              <a:t> </a:t>
            </a:r>
            <a:r>
              <a:rPr sz="6000" b="0" dirty="0">
                <a:latin typeface="Tahoma"/>
                <a:cs typeface="Tahoma"/>
              </a:rPr>
              <a:t>of</a:t>
            </a:r>
            <a:r>
              <a:rPr sz="6000" b="0" spc="400" dirty="0">
                <a:latin typeface="Tahoma"/>
                <a:cs typeface="Tahoma"/>
              </a:rPr>
              <a:t> </a:t>
            </a:r>
            <a:r>
              <a:rPr sz="6000" b="0" spc="-80" dirty="0">
                <a:latin typeface="Tahoma"/>
                <a:cs typeface="Tahoma"/>
              </a:rPr>
              <a:t>disease </a:t>
            </a:r>
            <a:r>
              <a:rPr sz="6000" b="0" spc="-50" dirty="0">
                <a:latin typeface="Tahoma"/>
                <a:cs typeface="Tahoma"/>
              </a:rPr>
              <a:t>using</a:t>
            </a:r>
            <a:r>
              <a:rPr sz="6000" b="0" spc="-375" dirty="0">
                <a:latin typeface="Tahoma"/>
                <a:cs typeface="Tahoma"/>
              </a:rPr>
              <a:t> </a:t>
            </a:r>
            <a:r>
              <a:rPr sz="6000" b="0" spc="-55" dirty="0">
                <a:latin typeface="Tahoma"/>
                <a:cs typeface="Tahoma"/>
              </a:rPr>
              <a:t>Ai-</a:t>
            </a:r>
            <a:r>
              <a:rPr sz="6000" b="0" spc="-10" dirty="0">
                <a:latin typeface="Tahoma"/>
                <a:cs typeface="Tahoma"/>
              </a:rPr>
              <a:t>Models?</a:t>
            </a:r>
            <a:endParaRPr sz="6000">
              <a:latin typeface="Tahoma"/>
              <a:cs typeface="Tahoma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56" y="36017"/>
            <a:ext cx="3127248" cy="91610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105" dirty="0">
                <a:latin typeface="Arial"/>
                <a:cs typeface="Arial"/>
              </a:rPr>
              <a:t>Proposed</a:t>
            </a:r>
            <a:r>
              <a:rPr sz="5400" spc="-240" dirty="0">
                <a:latin typeface="Arial"/>
                <a:cs typeface="Arial"/>
              </a:rPr>
              <a:t> </a:t>
            </a:r>
            <a:r>
              <a:rPr sz="5400" spc="-135" dirty="0">
                <a:latin typeface="Arial"/>
                <a:cs typeface="Arial"/>
              </a:rPr>
              <a:t>solution</a:t>
            </a:r>
            <a:endParaRPr sz="5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56" y="36017"/>
            <a:ext cx="3127248" cy="9161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04040" y="3547855"/>
            <a:ext cx="7995994" cy="2826248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06907" y="2245867"/>
            <a:ext cx="10109200" cy="8788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spc="120" dirty="0">
                <a:latin typeface="Tahoma"/>
                <a:cs typeface="Tahoma"/>
              </a:rPr>
              <a:t>WE</a:t>
            </a:r>
            <a:r>
              <a:rPr sz="2800" spc="-155" dirty="0">
                <a:latin typeface="Tahoma"/>
                <a:cs typeface="Tahoma"/>
              </a:rPr>
              <a:t> </a:t>
            </a:r>
            <a:r>
              <a:rPr sz="2800" spc="270" dirty="0">
                <a:latin typeface="Tahoma"/>
                <a:cs typeface="Tahoma"/>
              </a:rPr>
              <a:t>CAN</a:t>
            </a:r>
            <a:r>
              <a:rPr sz="2800" spc="-170" dirty="0">
                <a:latin typeface="Tahoma"/>
                <a:cs typeface="Tahoma"/>
              </a:rPr>
              <a:t> </a:t>
            </a:r>
            <a:r>
              <a:rPr sz="2800" spc="65" dirty="0">
                <a:latin typeface="Tahoma"/>
                <a:cs typeface="Tahoma"/>
              </a:rPr>
              <a:t>USE</a:t>
            </a:r>
            <a:r>
              <a:rPr sz="2800" spc="-150" dirty="0">
                <a:latin typeface="Tahoma"/>
                <a:cs typeface="Tahoma"/>
              </a:rPr>
              <a:t> </a:t>
            </a:r>
            <a:r>
              <a:rPr sz="2800" spc="265" dirty="0">
                <a:latin typeface="Tahoma"/>
                <a:cs typeface="Tahoma"/>
              </a:rPr>
              <a:t>CNN</a:t>
            </a:r>
            <a:r>
              <a:rPr sz="2800" spc="-165" dirty="0">
                <a:latin typeface="Tahoma"/>
                <a:cs typeface="Tahoma"/>
              </a:rPr>
              <a:t> </a:t>
            </a:r>
            <a:r>
              <a:rPr sz="2800" spc="160" dirty="0">
                <a:latin typeface="Tahoma"/>
                <a:cs typeface="Tahoma"/>
              </a:rPr>
              <a:t>MODELS</a:t>
            </a:r>
            <a:r>
              <a:rPr sz="2800" spc="-210" dirty="0">
                <a:latin typeface="Tahoma"/>
                <a:cs typeface="Tahoma"/>
              </a:rPr>
              <a:t> </a:t>
            </a:r>
            <a:r>
              <a:rPr sz="2800" spc="130" dirty="0">
                <a:latin typeface="Tahoma"/>
                <a:cs typeface="Tahoma"/>
              </a:rPr>
              <a:t>TO</a:t>
            </a:r>
            <a:r>
              <a:rPr sz="2800" spc="-165" dirty="0">
                <a:latin typeface="Tahoma"/>
                <a:cs typeface="Tahoma"/>
              </a:rPr>
              <a:t> </a:t>
            </a:r>
            <a:r>
              <a:rPr sz="2800" spc="80" dirty="0">
                <a:latin typeface="Tahoma"/>
                <a:cs typeface="Tahoma"/>
              </a:rPr>
              <a:t>DETECT</a:t>
            </a:r>
            <a:r>
              <a:rPr sz="2800" spc="-275" dirty="0">
                <a:latin typeface="Tahoma"/>
                <a:cs typeface="Tahoma"/>
              </a:rPr>
              <a:t> </a:t>
            </a:r>
            <a:r>
              <a:rPr sz="2800" spc="50" dirty="0">
                <a:latin typeface="Tahoma"/>
                <a:cs typeface="Tahoma"/>
              </a:rPr>
              <a:t>THE</a:t>
            </a:r>
            <a:r>
              <a:rPr sz="2800" spc="-150" dirty="0">
                <a:latin typeface="Tahoma"/>
                <a:cs typeface="Tahoma"/>
              </a:rPr>
              <a:t> </a:t>
            </a:r>
            <a:r>
              <a:rPr sz="2800" spc="45" dirty="0">
                <a:latin typeface="Tahoma"/>
                <a:cs typeface="Tahoma"/>
              </a:rPr>
              <a:t>DISEASE</a:t>
            </a:r>
            <a:r>
              <a:rPr sz="2800" spc="-135" dirty="0">
                <a:latin typeface="Tahoma"/>
                <a:cs typeface="Tahoma"/>
              </a:rPr>
              <a:t> </a:t>
            </a:r>
            <a:r>
              <a:rPr sz="2800" spc="60" dirty="0">
                <a:latin typeface="Tahoma"/>
                <a:cs typeface="Tahoma"/>
              </a:rPr>
              <a:t>USING </a:t>
            </a:r>
            <a:r>
              <a:rPr sz="2800" spc="200" dirty="0">
                <a:latin typeface="Tahoma"/>
                <a:cs typeface="Tahoma"/>
              </a:rPr>
              <a:t>DXA</a:t>
            </a:r>
            <a:r>
              <a:rPr sz="2800" spc="-204" dirty="0">
                <a:latin typeface="Tahoma"/>
                <a:cs typeface="Tahoma"/>
              </a:rPr>
              <a:t> </a:t>
            </a:r>
            <a:r>
              <a:rPr sz="2800" spc="75" dirty="0">
                <a:latin typeface="Tahoma"/>
                <a:cs typeface="Tahoma"/>
              </a:rPr>
              <a:t>IMAGES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56" y="36017"/>
            <a:ext cx="3127248" cy="91610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73074" y="795655"/>
            <a:ext cx="50387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9395" indent="-227329">
              <a:lnSpc>
                <a:spcPct val="100000"/>
              </a:lnSpc>
              <a:spcBef>
                <a:spcPts val="105"/>
              </a:spcBef>
              <a:buSzPct val="95000"/>
              <a:buFont typeface="Wingdings"/>
              <a:buChar char=""/>
              <a:tabLst>
                <a:tab pos="239395" algn="l"/>
              </a:tabLst>
            </a:pPr>
            <a:r>
              <a:rPr sz="2000" b="1" dirty="0">
                <a:latin typeface="Arial"/>
                <a:cs typeface="Arial"/>
              </a:rPr>
              <a:t>Image</a:t>
            </a:r>
            <a:r>
              <a:rPr sz="2000" b="1" spc="65" dirty="0">
                <a:latin typeface="Arial"/>
                <a:cs typeface="Arial"/>
              </a:rPr>
              <a:t> </a:t>
            </a:r>
            <a:r>
              <a:rPr sz="2000" b="1" spc="-45" dirty="0">
                <a:latin typeface="Arial"/>
                <a:cs typeface="Arial"/>
              </a:rPr>
              <a:t>Recognition</a:t>
            </a:r>
            <a:r>
              <a:rPr sz="2000" b="1" spc="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to</a:t>
            </a:r>
            <a:r>
              <a:rPr sz="2000" b="1" spc="65" dirty="0">
                <a:latin typeface="Arial"/>
                <a:cs typeface="Arial"/>
              </a:rPr>
              <a:t> </a:t>
            </a:r>
            <a:r>
              <a:rPr sz="2000" b="1" spc="-20" dirty="0">
                <a:latin typeface="Arial"/>
                <a:cs typeface="Arial"/>
              </a:rPr>
              <a:t>detect</a:t>
            </a:r>
            <a:r>
              <a:rPr sz="2000" b="1" spc="55" dirty="0">
                <a:latin typeface="Arial"/>
                <a:cs typeface="Arial"/>
              </a:rPr>
              <a:t> </a:t>
            </a:r>
            <a:r>
              <a:rPr sz="2000" b="1" dirty="0">
                <a:latin typeface="Arial"/>
                <a:cs typeface="Arial"/>
              </a:rPr>
              <a:t>early-</a:t>
            </a:r>
            <a:r>
              <a:rPr sz="2000" b="1" spc="-10" dirty="0">
                <a:latin typeface="Arial"/>
                <a:cs typeface="Arial"/>
              </a:rPr>
              <a:t>stage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848600" y="1250188"/>
            <a:ext cx="3556761" cy="484886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39032" y="1266061"/>
            <a:ext cx="4572604" cy="89547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58037" y="2233422"/>
            <a:ext cx="4829810" cy="2391155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865428" y="4859858"/>
            <a:ext cx="5923280" cy="1305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Tahoma"/>
                <a:cs typeface="Tahoma"/>
              </a:rPr>
              <a:t>Different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part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spc="60" dirty="0">
                <a:latin typeface="Tahoma"/>
                <a:cs typeface="Tahoma"/>
              </a:rPr>
              <a:t>of</a:t>
            </a:r>
            <a:r>
              <a:rPr sz="2800" spc="-25" dirty="0">
                <a:latin typeface="Tahoma"/>
                <a:cs typeface="Tahoma"/>
              </a:rPr>
              <a:t> </a:t>
            </a:r>
            <a:r>
              <a:rPr sz="2800" spc="95" dirty="0">
                <a:latin typeface="Tahoma"/>
                <a:cs typeface="Tahoma"/>
              </a:rPr>
              <a:t>image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with</a:t>
            </a:r>
            <a:r>
              <a:rPr sz="2800" spc="-105" dirty="0">
                <a:latin typeface="Tahoma"/>
                <a:cs typeface="Tahoma"/>
              </a:rPr>
              <a:t> </a:t>
            </a:r>
            <a:r>
              <a:rPr sz="2800" spc="-10" dirty="0">
                <a:latin typeface="Tahoma"/>
                <a:cs typeface="Tahoma"/>
              </a:rPr>
              <a:t>different </a:t>
            </a:r>
            <a:r>
              <a:rPr sz="2800" spc="80" dirty="0">
                <a:latin typeface="Tahoma"/>
                <a:cs typeface="Tahoma"/>
              </a:rPr>
              <a:t>bone-</a:t>
            </a:r>
            <a:r>
              <a:rPr sz="2800" dirty="0">
                <a:latin typeface="Tahoma"/>
                <a:cs typeface="Tahoma"/>
              </a:rPr>
              <a:t>density</a:t>
            </a:r>
            <a:r>
              <a:rPr sz="2800" spc="-55" dirty="0">
                <a:latin typeface="Tahoma"/>
                <a:cs typeface="Tahoma"/>
              </a:rPr>
              <a:t> </a:t>
            </a:r>
            <a:r>
              <a:rPr sz="2800" spc="50" dirty="0">
                <a:latin typeface="Tahoma"/>
                <a:cs typeface="Tahoma"/>
              </a:rPr>
              <a:t>can</a:t>
            </a:r>
            <a:r>
              <a:rPr sz="2800" spc="-95" dirty="0">
                <a:latin typeface="Tahoma"/>
                <a:cs typeface="Tahoma"/>
              </a:rPr>
              <a:t> </a:t>
            </a:r>
            <a:r>
              <a:rPr sz="2800" spc="165" dirty="0">
                <a:latin typeface="Tahoma"/>
                <a:cs typeface="Tahoma"/>
              </a:rPr>
              <a:t>be</a:t>
            </a:r>
            <a:r>
              <a:rPr sz="2800" spc="-110" dirty="0">
                <a:latin typeface="Tahoma"/>
                <a:cs typeface="Tahoma"/>
              </a:rPr>
              <a:t> </a:t>
            </a:r>
            <a:r>
              <a:rPr sz="2800" spc="85" dirty="0">
                <a:latin typeface="Tahoma"/>
                <a:cs typeface="Tahoma"/>
              </a:rPr>
              <a:t>used</a:t>
            </a:r>
            <a:r>
              <a:rPr sz="2800" spc="-80" dirty="0">
                <a:latin typeface="Tahoma"/>
                <a:cs typeface="Tahoma"/>
              </a:rPr>
              <a:t> </a:t>
            </a:r>
            <a:r>
              <a:rPr sz="2800" spc="60" dirty="0">
                <a:latin typeface="Tahoma"/>
                <a:cs typeface="Tahoma"/>
              </a:rPr>
              <a:t>to</a:t>
            </a:r>
            <a:r>
              <a:rPr sz="2800" spc="-110" dirty="0">
                <a:latin typeface="Tahoma"/>
                <a:cs typeface="Tahoma"/>
              </a:rPr>
              <a:t> </a:t>
            </a:r>
            <a:r>
              <a:rPr sz="2800" spc="65" dirty="0">
                <a:latin typeface="Tahoma"/>
                <a:cs typeface="Tahoma"/>
              </a:rPr>
              <a:t>detect </a:t>
            </a:r>
            <a:r>
              <a:rPr sz="2800" dirty="0">
                <a:latin typeface="Tahoma"/>
                <a:cs typeface="Tahoma"/>
              </a:rPr>
              <a:t>the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dirty="0">
                <a:latin typeface="Tahoma"/>
                <a:cs typeface="Tahoma"/>
              </a:rPr>
              <a:t>early</a:t>
            </a:r>
            <a:r>
              <a:rPr sz="2800" spc="-60" dirty="0">
                <a:latin typeface="Tahoma"/>
                <a:cs typeface="Tahoma"/>
              </a:rPr>
              <a:t> </a:t>
            </a:r>
            <a:r>
              <a:rPr sz="2800" spc="45" dirty="0">
                <a:latin typeface="Tahoma"/>
                <a:cs typeface="Tahoma"/>
              </a:rPr>
              <a:t>diseases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44423" y="6347256"/>
            <a:ext cx="1065720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-60" dirty="0">
                <a:latin typeface="Tahoma"/>
                <a:cs typeface="Tahoma"/>
              </a:rPr>
              <a:t>REFER:-</a:t>
            </a:r>
            <a:r>
              <a:rPr sz="1200" b="1" spc="60" dirty="0">
                <a:latin typeface="Tahoma"/>
                <a:cs typeface="Tahoma"/>
              </a:rPr>
              <a:t> </a:t>
            </a:r>
            <a:r>
              <a:rPr sz="1200" spc="-95" dirty="0">
                <a:latin typeface="Tahoma"/>
                <a:cs typeface="Tahoma"/>
              </a:rPr>
              <a:t>T.</a:t>
            </a:r>
            <a:r>
              <a:rPr sz="1200" spc="-1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Woloszynski,</a:t>
            </a:r>
            <a:r>
              <a:rPr sz="1200" spc="4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"Automated</a:t>
            </a:r>
            <a:r>
              <a:rPr sz="1200" spc="6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classification</a:t>
            </a:r>
            <a:r>
              <a:rPr sz="1200" spc="7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system</a:t>
            </a:r>
            <a:r>
              <a:rPr sz="1200" spc="5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for</a:t>
            </a:r>
            <a:r>
              <a:rPr sz="1200" spc="6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detection</a:t>
            </a:r>
            <a:r>
              <a:rPr sz="1200" spc="4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and</a:t>
            </a:r>
            <a:r>
              <a:rPr sz="1200" spc="5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prediction</a:t>
            </a:r>
            <a:r>
              <a:rPr sz="1200" spc="6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of</a:t>
            </a:r>
            <a:r>
              <a:rPr sz="1200" spc="8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osteoarthritis</a:t>
            </a:r>
            <a:r>
              <a:rPr sz="1200" spc="7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in</a:t>
            </a:r>
            <a:r>
              <a:rPr sz="1200" spc="4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human</a:t>
            </a:r>
            <a:r>
              <a:rPr sz="1200" spc="7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knee</a:t>
            </a:r>
            <a:r>
              <a:rPr sz="1200" spc="6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joints,"</a:t>
            </a:r>
            <a:r>
              <a:rPr sz="1200" spc="5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Doctor</a:t>
            </a:r>
            <a:r>
              <a:rPr sz="1200" spc="65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of</a:t>
            </a:r>
            <a:r>
              <a:rPr sz="1200" spc="80" dirty="0">
                <a:latin typeface="Tahoma"/>
                <a:cs typeface="Tahoma"/>
              </a:rPr>
              <a:t> </a:t>
            </a:r>
            <a:r>
              <a:rPr sz="1200" dirty="0">
                <a:latin typeface="Tahoma"/>
                <a:cs typeface="Tahoma"/>
              </a:rPr>
              <a:t>Philosophy,</a:t>
            </a:r>
            <a:r>
              <a:rPr sz="1200" spc="45" dirty="0">
                <a:latin typeface="Tahoma"/>
                <a:cs typeface="Tahoma"/>
              </a:rPr>
              <a:t> </a:t>
            </a:r>
            <a:r>
              <a:rPr sz="1200" spc="-10" dirty="0">
                <a:latin typeface="Tahoma"/>
                <a:cs typeface="Tahoma"/>
              </a:rPr>
              <a:t>2011.</a:t>
            </a:r>
            <a:endParaRPr sz="12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47344" y="2823844"/>
            <a:ext cx="4304030" cy="271780"/>
          </a:xfrm>
          <a:custGeom>
            <a:avLst/>
            <a:gdLst/>
            <a:ahLst/>
            <a:cxnLst/>
            <a:rect l="l" t="t" r="r" b="b"/>
            <a:pathLst>
              <a:path w="4304030" h="271780">
                <a:moveTo>
                  <a:pt x="4303763" y="0"/>
                </a:moveTo>
                <a:lnTo>
                  <a:pt x="4236720" y="0"/>
                </a:lnTo>
                <a:lnTo>
                  <a:pt x="0" y="0"/>
                </a:lnTo>
                <a:lnTo>
                  <a:pt x="0" y="271272"/>
                </a:lnTo>
                <a:lnTo>
                  <a:pt x="4236720" y="271272"/>
                </a:lnTo>
                <a:lnTo>
                  <a:pt x="4303763" y="271272"/>
                </a:lnTo>
                <a:lnTo>
                  <a:pt x="430376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847344" y="3982084"/>
            <a:ext cx="3203575" cy="271780"/>
          </a:xfrm>
          <a:custGeom>
            <a:avLst/>
            <a:gdLst/>
            <a:ahLst/>
            <a:cxnLst/>
            <a:rect l="l" t="t" r="r" b="b"/>
            <a:pathLst>
              <a:path w="3203575" h="271779">
                <a:moveTo>
                  <a:pt x="3203448" y="0"/>
                </a:moveTo>
                <a:lnTo>
                  <a:pt x="3136392" y="0"/>
                </a:lnTo>
                <a:lnTo>
                  <a:pt x="0" y="0"/>
                </a:lnTo>
                <a:lnTo>
                  <a:pt x="0" y="271272"/>
                </a:lnTo>
                <a:lnTo>
                  <a:pt x="3136392" y="271272"/>
                </a:lnTo>
                <a:lnTo>
                  <a:pt x="3203448" y="271272"/>
                </a:lnTo>
                <a:lnTo>
                  <a:pt x="3203448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47344" y="5429846"/>
            <a:ext cx="1442085" cy="271780"/>
          </a:xfrm>
          <a:custGeom>
            <a:avLst/>
            <a:gdLst/>
            <a:ahLst/>
            <a:cxnLst/>
            <a:rect l="l" t="t" r="r" b="b"/>
            <a:pathLst>
              <a:path w="1442085" h="271779">
                <a:moveTo>
                  <a:pt x="1374635" y="0"/>
                </a:moveTo>
                <a:lnTo>
                  <a:pt x="0" y="0"/>
                </a:lnTo>
                <a:lnTo>
                  <a:pt x="0" y="271272"/>
                </a:lnTo>
                <a:lnTo>
                  <a:pt x="1374635" y="271272"/>
                </a:lnTo>
                <a:lnTo>
                  <a:pt x="1374635" y="0"/>
                </a:lnTo>
                <a:close/>
              </a:path>
              <a:path w="1442085" h="271779">
                <a:moveTo>
                  <a:pt x="1441704" y="0"/>
                </a:moveTo>
                <a:lnTo>
                  <a:pt x="1374648" y="0"/>
                </a:lnTo>
                <a:lnTo>
                  <a:pt x="1374648" y="271272"/>
                </a:lnTo>
                <a:lnTo>
                  <a:pt x="1441704" y="271272"/>
                </a:lnTo>
                <a:lnTo>
                  <a:pt x="1441704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56" y="36017"/>
            <a:ext cx="3127248" cy="916101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64540" y="751072"/>
            <a:ext cx="9061450" cy="610806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328930" indent="-317500">
              <a:lnSpc>
                <a:spcPct val="100000"/>
              </a:lnSpc>
              <a:spcBef>
                <a:spcPts val="725"/>
              </a:spcBef>
              <a:buSzPct val="96428"/>
              <a:buFont typeface="Wingdings"/>
              <a:buChar char=""/>
              <a:tabLst>
                <a:tab pos="328930" algn="l"/>
              </a:tabLst>
            </a:pPr>
            <a:r>
              <a:rPr sz="2800" b="1" dirty="0">
                <a:latin typeface="Arial"/>
                <a:cs typeface="Arial"/>
              </a:rPr>
              <a:t>CNN</a:t>
            </a:r>
            <a:r>
              <a:rPr sz="2800" b="1" spc="-5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Models</a:t>
            </a:r>
            <a:r>
              <a:rPr sz="2800" b="1" spc="-2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to</a:t>
            </a:r>
            <a:r>
              <a:rPr sz="2800" b="1" spc="-40" dirty="0">
                <a:latin typeface="Arial"/>
                <a:cs typeface="Arial"/>
              </a:rPr>
              <a:t> </a:t>
            </a:r>
            <a:r>
              <a:rPr sz="2800" b="1" spc="-25" dirty="0">
                <a:latin typeface="Arial"/>
                <a:cs typeface="Arial"/>
              </a:rPr>
              <a:t>analysis</a:t>
            </a:r>
            <a:r>
              <a:rPr sz="2800" b="1" spc="-3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Image</a:t>
            </a:r>
            <a:endParaRPr sz="2800">
              <a:latin typeface="Arial"/>
              <a:cs typeface="Arial"/>
            </a:endParaRPr>
          </a:p>
          <a:p>
            <a:pPr marL="82550" marR="335280">
              <a:lnSpc>
                <a:spcPct val="95000"/>
              </a:lnSpc>
              <a:spcBef>
                <a:spcPts val="575"/>
              </a:spcBef>
            </a:pPr>
            <a:r>
              <a:rPr sz="2000" spc="-65" dirty="0">
                <a:latin typeface="Tahoma"/>
                <a:cs typeface="Tahoma"/>
              </a:rPr>
              <a:t>Based</a:t>
            </a:r>
            <a:r>
              <a:rPr sz="2000" spc="-140" dirty="0">
                <a:latin typeface="Tahoma"/>
                <a:cs typeface="Tahoma"/>
              </a:rPr>
              <a:t> </a:t>
            </a:r>
            <a:r>
              <a:rPr sz="2000" spc="-55" dirty="0">
                <a:latin typeface="Tahoma"/>
                <a:cs typeface="Tahoma"/>
              </a:rPr>
              <a:t>on</a:t>
            </a:r>
            <a:r>
              <a:rPr sz="2000" spc="-110" dirty="0">
                <a:latin typeface="Tahoma"/>
                <a:cs typeface="Tahoma"/>
              </a:rPr>
              <a:t> </a:t>
            </a:r>
            <a:r>
              <a:rPr sz="2000" spc="-80" dirty="0">
                <a:latin typeface="Tahoma"/>
                <a:cs typeface="Tahoma"/>
              </a:rPr>
              <a:t>a</a:t>
            </a:r>
            <a:r>
              <a:rPr sz="2000" spc="-110" dirty="0">
                <a:latin typeface="Tahoma"/>
                <a:cs typeface="Tahoma"/>
              </a:rPr>
              <a:t> </a:t>
            </a:r>
            <a:r>
              <a:rPr sz="2000" spc="-95" dirty="0">
                <a:latin typeface="Tahoma"/>
                <a:cs typeface="Tahoma"/>
              </a:rPr>
              <a:t>review</a:t>
            </a:r>
            <a:r>
              <a:rPr sz="2000" spc="-13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of</a:t>
            </a:r>
            <a:r>
              <a:rPr sz="2000" spc="160" dirty="0">
                <a:latin typeface="Tahoma"/>
                <a:cs typeface="Tahoma"/>
              </a:rPr>
              <a:t> </a:t>
            </a:r>
            <a:r>
              <a:rPr sz="2000" spc="-105" dirty="0">
                <a:latin typeface="Tahoma"/>
                <a:cs typeface="Tahoma"/>
              </a:rPr>
              <a:t>recent</a:t>
            </a:r>
            <a:r>
              <a:rPr sz="2000" spc="-135" dirty="0">
                <a:latin typeface="Tahoma"/>
                <a:cs typeface="Tahoma"/>
              </a:rPr>
              <a:t> </a:t>
            </a:r>
            <a:r>
              <a:rPr sz="2000" spc="-80" dirty="0">
                <a:latin typeface="Tahoma"/>
                <a:cs typeface="Tahoma"/>
              </a:rPr>
              <a:t>scientific</a:t>
            </a:r>
            <a:r>
              <a:rPr sz="2000" spc="-135" dirty="0">
                <a:latin typeface="Tahoma"/>
                <a:cs typeface="Tahoma"/>
              </a:rPr>
              <a:t> </a:t>
            </a:r>
            <a:r>
              <a:rPr sz="2000" spc="-75" dirty="0">
                <a:latin typeface="Tahoma"/>
                <a:cs typeface="Tahoma"/>
              </a:rPr>
              <a:t>publications</a:t>
            </a:r>
            <a:r>
              <a:rPr sz="2000" spc="-135" dirty="0">
                <a:latin typeface="Tahoma"/>
                <a:cs typeface="Tahoma"/>
              </a:rPr>
              <a:t> </a:t>
            </a:r>
            <a:r>
              <a:rPr sz="2000" spc="-75" dirty="0">
                <a:latin typeface="Tahoma"/>
                <a:cs typeface="Tahoma"/>
              </a:rPr>
              <a:t>and</a:t>
            </a:r>
            <a:r>
              <a:rPr sz="2000" spc="-130" dirty="0">
                <a:latin typeface="Tahoma"/>
                <a:cs typeface="Tahoma"/>
              </a:rPr>
              <a:t> </a:t>
            </a:r>
            <a:r>
              <a:rPr sz="2000" spc="-120" dirty="0">
                <a:latin typeface="Tahoma"/>
                <a:cs typeface="Tahoma"/>
              </a:rPr>
              <a:t>research,</a:t>
            </a:r>
            <a:r>
              <a:rPr sz="2000" spc="-140" dirty="0">
                <a:latin typeface="Tahoma"/>
                <a:cs typeface="Tahoma"/>
              </a:rPr>
              <a:t> </a:t>
            </a:r>
            <a:r>
              <a:rPr sz="2000" spc="-85" dirty="0">
                <a:latin typeface="Tahoma"/>
                <a:cs typeface="Tahoma"/>
              </a:rPr>
              <a:t>the</a:t>
            </a:r>
            <a:r>
              <a:rPr sz="2000" spc="-105" dirty="0">
                <a:latin typeface="Tahoma"/>
                <a:cs typeface="Tahoma"/>
              </a:rPr>
              <a:t> </a:t>
            </a:r>
            <a:r>
              <a:rPr sz="2000" spc="-80" dirty="0">
                <a:latin typeface="Tahoma"/>
                <a:cs typeface="Tahoma"/>
              </a:rPr>
              <a:t>most</a:t>
            </a:r>
            <a:r>
              <a:rPr sz="2000" spc="-110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prominent </a:t>
            </a:r>
            <a:r>
              <a:rPr sz="2000" spc="-75" dirty="0">
                <a:latin typeface="Tahoma"/>
                <a:cs typeface="Tahoma"/>
              </a:rPr>
              <a:t>and</a:t>
            </a:r>
            <a:r>
              <a:rPr sz="2000" spc="-110" dirty="0">
                <a:latin typeface="Tahoma"/>
                <a:cs typeface="Tahoma"/>
              </a:rPr>
              <a:t> </a:t>
            </a:r>
            <a:r>
              <a:rPr sz="2000" spc="-105" dirty="0">
                <a:latin typeface="Tahoma"/>
                <a:cs typeface="Tahoma"/>
              </a:rPr>
              <a:t>effective</a:t>
            </a:r>
            <a:r>
              <a:rPr sz="2000" spc="-125" dirty="0">
                <a:latin typeface="Tahoma"/>
                <a:cs typeface="Tahoma"/>
              </a:rPr>
              <a:t> </a:t>
            </a:r>
            <a:r>
              <a:rPr sz="2000" spc="-155" dirty="0">
                <a:latin typeface="Tahoma"/>
                <a:cs typeface="Tahoma"/>
              </a:rPr>
              <a:t>AI</a:t>
            </a:r>
            <a:r>
              <a:rPr sz="2000" spc="-65" dirty="0">
                <a:latin typeface="Tahoma"/>
                <a:cs typeface="Tahoma"/>
              </a:rPr>
              <a:t> </a:t>
            </a:r>
            <a:r>
              <a:rPr sz="2000" spc="-70" dirty="0">
                <a:latin typeface="Tahoma"/>
                <a:cs typeface="Tahoma"/>
              </a:rPr>
              <a:t>models</a:t>
            </a:r>
            <a:r>
              <a:rPr sz="2000" spc="-120" dirty="0">
                <a:latin typeface="Tahoma"/>
                <a:cs typeface="Tahoma"/>
              </a:rPr>
              <a:t> </a:t>
            </a:r>
            <a:r>
              <a:rPr sz="2000" spc="-70" dirty="0">
                <a:latin typeface="Tahoma"/>
                <a:cs typeface="Tahoma"/>
              </a:rPr>
              <a:t>used</a:t>
            </a:r>
            <a:r>
              <a:rPr sz="2000" spc="-105" dirty="0">
                <a:latin typeface="Tahoma"/>
                <a:cs typeface="Tahoma"/>
              </a:rPr>
              <a:t> </a:t>
            </a:r>
            <a:r>
              <a:rPr sz="2000" spc="-80" dirty="0">
                <a:latin typeface="Tahoma"/>
                <a:cs typeface="Tahoma"/>
              </a:rPr>
              <a:t>for</a:t>
            </a:r>
            <a:r>
              <a:rPr sz="2000" spc="-100" dirty="0">
                <a:latin typeface="Tahoma"/>
                <a:cs typeface="Tahoma"/>
              </a:rPr>
              <a:t> </a:t>
            </a:r>
            <a:r>
              <a:rPr sz="2000" spc="-75" dirty="0">
                <a:latin typeface="Tahoma"/>
                <a:cs typeface="Tahoma"/>
              </a:rPr>
              <a:t>detecting</a:t>
            </a:r>
            <a:r>
              <a:rPr sz="2000" spc="-135" dirty="0">
                <a:latin typeface="Tahoma"/>
                <a:cs typeface="Tahoma"/>
              </a:rPr>
              <a:t> </a:t>
            </a:r>
            <a:r>
              <a:rPr sz="2000" spc="-65" dirty="0">
                <a:latin typeface="Tahoma"/>
                <a:cs typeface="Tahoma"/>
              </a:rPr>
              <a:t>osteoporosis</a:t>
            </a:r>
            <a:r>
              <a:rPr sz="2000" spc="-135" dirty="0">
                <a:latin typeface="Tahoma"/>
                <a:cs typeface="Tahoma"/>
              </a:rPr>
              <a:t> </a:t>
            </a:r>
            <a:r>
              <a:rPr sz="2000" spc="-114" dirty="0">
                <a:latin typeface="Tahoma"/>
                <a:cs typeface="Tahoma"/>
              </a:rPr>
              <a:t>are</a:t>
            </a:r>
            <a:r>
              <a:rPr sz="2000" spc="-80" dirty="0">
                <a:latin typeface="Tahoma"/>
                <a:cs typeface="Tahoma"/>
              </a:rPr>
              <a:t> </a:t>
            </a:r>
            <a:r>
              <a:rPr sz="2000" b="1" spc="-95" dirty="0">
                <a:latin typeface="Trebuchet MS"/>
                <a:cs typeface="Trebuchet MS"/>
              </a:rPr>
              <a:t>Convolutional</a:t>
            </a:r>
            <a:r>
              <a:rPr sz="2000" b="1" spc="-50" dirty="0">
                <a:latin typeface="Trebuchet MS"/>
                <a:cs typeface="Trebuchet MS"/>
              </a:rPr>
              <a:t> </a:t>
            </a:r>
            <a:r>
              <a:rPr sz="2000" b="1" spc="-10" dirty="0">
                <a:latin typeface="Trebuchet MS"/>
                <a:cs typeface="Trebuchet MS"/>
              </a:rPr>
              <a:t>Neural </a:t>
            </a:r>
            <a:r>
              <a:rPr sz="2000" b="1" spc="-110" dirty="0">
                <a:latin typeface="Trebuchet MS"/>
                <a:cs typeface="Trebuchet MS"/>
              </a:rPr>
              <a:t>Networks</a:t>
            </a:r>
            <a:r>
              <a:rPr sz="2000" b="1" spc="-50" dirty="0">
                <a:latin typeface="Trebuchet MS"/>
                <a:cs typeface="Trebuchet MS"/>
              </a:rPr>
              <a:t> </a:t>
            </a:r>
            <a:r>
              <a:rPr sz="2000" b="1" spc="-90" dirty="0">
                <a:latin typeface="Trebuchet MS"/>
                <a:cs typeface="Trebuchet MS"/>
              </a:rPr>
              <a:t>(CNNs)</a:t>
            </a:r>
            <a:r>
              <a:rPr sz="2000" spc="-90" dirty="0">
                <a:latin typeface="Tahoma"/>
                <a:cs typeface="Tahoma"/>
              </a:rPr>
              <a:t>,</a:t>
            </a:r>
            <a:r>
              <a:rPr sz="2000" spc="-95" dirty="0">
                <a:latin typeface="Tahoma"/>
                <a:cs typeface="Tahoma"/>
              </a:rPr>
              <a:t> </a:t>
            </a:r>
            <a:r>
              <a:rPr sz="2000" spc="-80" dirty="0">
                <a:latin typeface="Tahoma"/>
                <a:cs typeface="Tahoma"/>
              </a:rPr>
              <a:t>with</a:t>
            </a:r>
            <a:r>
              <a:rPr sz="2000" spc="-105" dirty="0">
                <a:latin typeface="Tahoma"/>
                <a:cs typeface="Tahoma"/>
              </a:rPr>
              <a:t> </a:t>
            </a:r>
            <a:r>
              <a:rPr sz="2000" spc="-80" dirty="0">
                <a:latin typeface="Tahoma"/>
                <a:cs typeface="Tahoma"/>
              </a:rPr>
              <a:t>specific</a:t>
            </a:r>
            <a:r>
              <a:rPr sz="2000" spc="-120" dirty="0">
                <a:latin typeface="Tahoma"/>
                <a:cs typeface="Tahoma"/>
              </a:rPr>
              <a:t> </a:t>
            </a:r>
            <a:r>
              <a:rPr sz="2000" spc="-105" dirty="0">
                <a:latin typeface="Tahoma"/>
                <a:cs typeface="Tahoma"/>
              </a:rPr>
              <a:t>architectures</a:t>
            </a:r>
            <a:r>
              <a:rPr sz="2000" spc="-114" dirty="0">
                <a:latin typeface="Tahoma"/>
                <a:cs typeface="Tahoma"/>
              </a:rPr>
              <a:t> </a:t>
            </a:r>
            <a:r>
              <a:rPr sz="2000" spc="-75" dirty="0">
                <a:latin typeface="Tahoma"/>
                <a:cs typeface="Tahoma"/>
              </a:rPr>
              <a:t>like</a:t>
            </a:r>
            <a:r>
              <a:rPr sz="2000" spc="-105" dirty="0">
                <a:latin typeface="Tahoma"/>
                <a:cs typeface="Tahoma"/>
              </a:rPr>
              <a:t> </a:t>
            </a:r>
            <a:r>
              <a:rPr sz="2000" b="1" spc="-45" dirty="0">
                <a:latin typeface="Trebuchet MS"/>
                <a:cs typeface="Trebuchet MS"/>
              </a:rPr>
              <a:t>Res</a:t>
            </a:r>
            <a:r>
              <a:rPr sz="2000" b="1" spc="-30" dirty="0">
                <a:latin typeface="Trebuchet MS"/>
                <a:cs typeface="Trebuchet MS"/>
              </a:rPr>
              <a:t> </a:t>
            </a:r>
            <a:r>
              <a:rPr sz="2000" b="1" spc="-85" dirty="0">
                <a:latin typeface="Trebuchet MS"/>
                <a:cs typeface="Trebuchet MS"/>
              </a:rPr>
              <a:t>Net</a:t>
            </a:r>
            <a:r>
              <a:rPr sz="2000" b="1" spc="-75" dirty="0">
                <a:latin typeface="Trebuchet MS"/>
                <a:cs typeface="Trebuchet MS"/>
              </a:rPr>
              <a:t> </a:t>
            </a:r>
            <a:r>
              <a:rPr sz="2000" spc="-75" dirty="0">
                <a:latin typeface="Tahoma"/>
                <a:cs typeface="Tahoma"/>
              </a:rPr>
              <a:t>and</a:t>
            </a:r>
            <a:r>
              <a:rPr sz="2000" spc="-120" dirty="0">
                <a:latin typeface="Tahoma"/>
                <a:cs typeface="Tahoma"/>
              </a:rPr>
              <a:t> </a:t>
            </a:r>
            <a:r>
              <a:rPr sz="2000" b="1" spc="-145" dirty="0">
                <a:latin typeface="Trebuchet MS"/>
                <a:cs typeface="Trebuchet MS"/>
              </a:rPr>
              <a:t>Efficient</a:t>
            </a:r>
            <a:r>
              <a:rPr sz="2000" b="1" spc="-25" dirty="0">
                <a:latin typeface="Trebuchet MS"/>
                <a:cs typeface="Trebuchet MS"/>
              </a:rPr>
              <a:t> </a:t>
            </a:r>
            <a:r>
              <a:rPr sz="2000" b="1" spc="-85" dirty="0">
                <a:latin typeface="Trebuchet MS"/>
                <a:cs typeface="Trebuchet MS"/>
              </a:rPr>
              <a:t>Net</a:t>
            </a:r>
            <a:r>
              <a:rPr sz="2000" b="1" spc="-70" dirty="0">
                <a:latin typeface="Trebuchet MS"/>
                <a:cs typeface="Trebuchet MS"/>
              </a:rPr>
              <a:t> </a:t>
            </a:r>
            <a:r>
              <a:rPr sz="2000" spc="-10" dirty="0">
                <a:latin typeface="Tahoma"/>
                <a:cs typeface="Tahoma"/>
              </a:rPr>
              <a:t>showing </a:t>
            </a:r>
            <a:r>
              <a:rPr sz="2000" spc="-80" dirty="0">
                <a:latin typeface="Tahoma"/>
                <a:cs typeface="Tahoma"/>
              </a:rPr>
              <a:t>particularly</a:t>
            </a:r>
            <a:r>
              <a:rPr sz="2000" spc="-100" dirty="0">
                <a:latin typeface="Tahoma"/>
                <a:cs typeface="Tahoma"/>
              </a:rPr>
              <a:t> </a:t>
            </a:r>
            <a:r>
              <a:rPr sz="2000" spc="-65" dirty="0">
                <a:latin typeface="Tahoma"/>
                <a:cs typeface="Tahoma"/>
              </a:rPr>
              <a:t>strong</a:t>
            </a:r>
            <a:r>
              <a:rPr sz="2000" spc="-80" dirty="0">
                <a:latin typeface="Tahoma"/>
                <a:cs typeface="Tahoma"/>
              </a:rPr>
              <a:t> </a:t>
            </a:r>
            <a:r>
              <a:rPr sz="2000" spc="-20" dirty="0">
                <a:latin typeface="Tahoma"/>
                <a:cs typeface="Tahoma"/>
              </a:rPr>
              <a:t>performance.</a:t>
            </a:r>
            <a:endParaRPr sz="2000">
              <a:latin typeface="Tahoma"/>
              <a:cs typeface="Tahoma"/>
            </a:endParaRPr>
          </a:p>
          <a:p>
            <a:pPr marL="82550">
              <a:lnSpc>
                <a:spcPts val="2220"/>
              </a:lnSpc>
            </a:pPr>
            <a:r>
              <a:rPr sz="2000" b="1" spc="-95" dirty="0">
                <a:latin typeface="Trebuchet MS"/>
                <a:cs typeface="Trebuchet MS"/>
              </a:rPr>
              <a:t>Key</a:t>
            </a:r>
            <a:r>
              <a:rPr sz="2000" b="1" spc="-90" dirty="0">
                <a:latin typeface="Trebuchet MS"/>
                <a:cs typeface="Trebuchet MS"/>
              </a:rPr>
              <a:t> </a:t>
            </a:r>
            <a:r>
              <a:rPr sz="2000" b="1" spc="-65" dirty="0">
                <a:latin typeface="Trebuchet MS"/>
                <a:cs typeface="Trebuchet MS"/>
              </a:rPr>
              <a:t>AI</a:t>
            </a:r>
            <a:r>
              <a:rPr sz="2000" b="1" spc="-85" dirty="0">
                <a:latin typeface="Trebuchet MS"/>
                <a:cs typeface="Trebuchet MS"/>
              </a:rPr>
              <a:t> </a:t>
            </a:r>
            <a:r>
              <a:rPr sz="2000" b="1" spc="-30" dirty="0">
                <a:latin typeface="Trebuchet MS"/>
                <a:cs typeface="Trebuchet MS"/>
              </a:rPr>
              <a:t>Models</a:t>
            </a:r>
            <a:r>
              <a:rPr sz="2000" b="1" spc="-105" dirty="0">
                <a:latin typeface="Trebuchet MS"/>
                <a:cs typeface="Trebuchet MS"/>
              </a:rPr>
              <a:t> </a:t>
            </a:r>
            <a:r>
              <a:rPr sz="2000" b="1" spc="-40" dirty="0">
                <a:latin typeface="Trebuchet MS"/>
                <a:cs typeface="Trebuchet MS"/>
              </a:rPr>
              <a:t>and</a:t>
            </a:r>
            <a:r>
              <a:rPr sz="2000" b="1" spc="-90" dirty="0">
                <a:latin typeface="Trebuchet MS"/>
                <a:cs typeface="Trebuchet MS"/>
              </a:rPr>
              <a:t> </a:t>
            </a:r>
            <a:r>
              <a:rPr sz="2000" b="1" spc="-20" dirty="0">
                <a:latin typeface="Trebuchet MS"/>
                <a:cs typeface="Trebuchet MS"/>
              </a:rPr>
              <a:t>Techniques</a:t>
            </a:r>
            <a:endParaRPr sz="2000">
              <a:latin typeface="Trebuchet MS"/>
              <a:cs typeface="Trebuchet MS"/>
            </a:endParaRPr>
          </a:p>
          <a:p>
            <a:pPr marL="82550" marR="303530">
              <a:lnSpc>
                <a:spcPct val="95000"/>
              </a:lnSpc>
              <a:spcBef>
                <a:spcPts val="60"/>
              </a:spcBef>
            </a:pPr>
            <a:r>
              <a:rPr sz="2000" b="1" spc="-95" dirty="0">
                <a:latin typeface="Trebuchet MS"/>
                <a:cs typeface="Trebuchet MS"/>
              </a:rPr>
              <a:t>Convolutional</a:t>
            </a:r>
            <a:r>
              <a:rPr sz="2000" b="1" spc="-55" dirty="0">
                <a:latin typeface="Trebuchet MS"/>
                <a:cs typeface="Trebuchet MS"/>
              </a:rPr>
              <a:t> </a:t>
            </a:r>
            <a:r>
              <a:rPr sz="2000" b="1" spc="-95" dirty="0">
                <a:latin typeface="Trebuchet MS"/>
                <a:cs typeface="Trebuchet MS"/>
              </a:rPr>
              <a:t>Neural</a:t>
            </a:r>
            <a:r>
              <a:rPr sz="2000" b="1" spc="-35" dirty="0">
                <a:latin typeface="Trebuchet MS"/>
                <a:cs typeface="Trebuchet MS"/>
              </a:rPr>
              <a:t> </a:t>
            </a:r>
            <a:r>
              <a:rPr sz="2000" b="1" spc="-110" dirty="0">
                <a:latin typeface="Trebuchet MS"/>
                <a:cs typeface="Trebuchet MS"/>
              </a:rPr>
              <a:t>Networks</a:t>
            </a:r>
            <a:r>
              <a:rPr sz="2000" b="1" spc="-50" dirty="0">
                <a:latin typeface="Trebuchet MS"/>
                <a:cs typeface="Trebuchet MS"/>
              </a:rPr>
              <a:t> </a:t>
            </a:r>
            <a:r>
              <a:rPr sz="2000" b="1" spc="-95" dirty="0">
                <a:latin typeface="Trebuchet MS"/>
                <a:cs typeface="Trebuchet MS"/>
              </a:rPr>
              <a:t>(CNNs):</a:t>
            </a:r>
            <a:r>
              <a:rPr sz="2000" b="1" spc="-70" dirty="0">
                <a:latin typeface="Trebuchet MS"/>
                <a:cs typeface="Trebuchet MS"/>
              </a:rPr>
              <a:t> </a:t>
            </a:r>
            <a:r>
              <a:rPr sz="2000" spc="-114" dirty="0">
                <a:latin typeface="Tahoma"/>
                <a:cs typeface="Tahoma"/>
              </a:rPr>
              <a:t>These</a:t>
            </a:r>
            <a:r>
              <a:rPr sz="2000" spc="-130" dirty="0">
                <a:latin typeface="Tahoma"/>
                <a:cs typeface="Tahoma"/>
              </a:rPr>
              <a:t> </a:t>
            </a:r>
            <a:r>
              <a:rPr sz="2000" spc="-114" dirty="0">
                <a:latin typeface="Tahoma"/>
                <a:cs typeface="Tahoma"/>
              </a:rPr>
              <a:t>are</a:t>
            </a:r>
            <a:r>
              <a:rPr sz="2000" spc="-100" dirty="0">
                <a:latin typeface="Tahoma"/>
                <a:cs typeface="Tahoma"/>
              </a:rPr>
              <a:t> </a:t>
            </a:r>
            <a:r>
              <a:rPr sz="2000" spc="-85" dirty="0">
                <a:latin typeface="Tahoma"/>
                <a:cs typeface="Tahoma"/>
              </a:rPr>
              <a:t>the</a:t>
            </a:r>
            <a:r>
              <a:rPr sz="2000" spc="-90" dirty="0">
                <a:latin typeface="Tahoma"/>
                <a:cs typeface="Tahoma"/>
              </a:rPr>
              <a:t> </a:t>
            </a:r>
            <a:r>
              <a:rPr sz="2000" spc="-85" dirty="0">
                <a:latin typeface="Tahoma"/>
                <a:cs typeface="Tahoma"/>
              </a:rPr>
              <a:t>foundational</a:t>
            </a:r>
            <a:r>
              <a:rPr sz="2000" spc="-135" dirty="0">
                <a:latin typeface="Tahoma"/>
                <a:cs typeface="Tahoma"/>
              </a:rPr>
              <a:t> </a:t>
            </a:r>
            <a:r>
              <a:rPr sz="2000" spc="-55" dirty="0">
                <a:latin typeface="Tahoma"/>
                <a:cs typeface="Tahoma"/>
              </a:rPr>
              <a:t>deep</a:t>
            </a:r>
            <a:r>
              <a:rPr sz="2000" spc="-12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learning </a:t>
            </a:r>
            <a:r>
              <a:rPr sz="2000" spc="-70" dirty="0">
                <a:latin typeface="Tahoma"/>
                <a:cs typeface="Tahoma"/>
              </a:rPr>
              <a:t>models</a:t>
            </a:r>
            <a:r>
              <a:rPr sz="2000" spc="-130" dirty="0">
                <a:latin typeface="Tahoma"/>
                <a:cs typeface="Tahoma"/>
              </a:rPr>
              <a:t> </a:t>
            </a:r>
            <a:r>
              <a:rPr sz="2000" spc="-70" dirty="0">
                <a:latin typeface="Tahoma"/>
                <a:cs typeface="Tahoma"/>
              </a:rPr>
              <a:t>used</a:t>
            </a:r>
            <a:r>
              <a:rPr sz="2000" spc="-114" dirty="0">
                <a:latin typeface="Tahoma"/>
                <a:cs typeface="Tahoma"/>
              </a:rPr>
              <a:t> </a:t>
            </a:r>
            <a:r>
              <a:rPr sz="2000" spc="-80" dirty="0">
                <a:latin typeface="Tahoma"/>
                <a:cs typeface="Tahoma"/>
              </a:rPr>
              <a:t>for</a:t>
            </a:r>
            <a:r>
              <a:rPr sz="2000" spc="-85" dirty="0">
                <a:latin typeface="Tahoma"/>
                <a:cs typeface="Tahoma"/>
              </a:rPr>
              <a:t> </a:t>
            </a:r>
            <a:r>
              <a:rPr sz="2000" spc="-80" dirty="0">
                <a:latin typeface="Tahoma"/>
                <a:cs typeface="Tahoma"/>
              </a:rPr>
              <a:t>analyzing</a:t>
            </a:r>
            <a:r>
              <a:rPr sz="2000" spc="-135" dirty="0">
                <a:latin typeface="Tahoma"/>
                <a:cs typeface="Tahoma"/>
              </a:rPr>
              <a:t> </a:t>
            </a:r>
            <a:r>
              <a:rPr sz="2000" spc="-85" dirty="0">
                <a:latin typeface="Tahoma"/>
                <a:cs typeface="Tahoma"/>
              </a:rPr>
              <a:t>medical</a:t>
            </a:r>
            <a:r>
              <a:rPr sz="2000" spc="-145" dirty="0">
                <a:latin typeface="Tahoma"/>
                <a:cs typeface="Tahoma"/>
              </a:rPr>
              <a:t> </a:t>
            </a:r>
            <a:r>
              <a:rPr sz="2000" spc="-114" dirty="0">
                <a:latin typeface="Tahoma"/>
                <a:cs typeface="Tahoma"/>
              </a:rPr>
              <a:t>images.</a:t>
            </a:r>
            <a:r>
              <a:rPr sz="2000" spc="-130" dirty="0">
                <a:latin typeface="Tahoma"/>
                <a:cs typeface="Tahoma"/>
              </a:rPr>
              <a:t> </a:t>
            </a:r>
            <a:r>
              <a:rPr sz="2000" spc="-120" dirty="0">
                <a:latin typeface="Tahoma"/>
                <a:cs typeface="Tahoma"/>
              </a:rPr>
              <a:t>They</a:t>
            </a:r>
            <a:r>
              <a:rPr sz="2000" spc="-125" dirty="0">
                <a:latin typeface="Tahoma"/>
                <a:cs typeface="Tahoma"/>
              </a:rPr>
              <a:t> </a:t>
            </a:r>
            <a:r>
              <a:rPr sz="2000" spc="-110" dirty="0">
                <a:latin typeface="Tahoma"/>
                <a:cs typeface="Tahoma"/>
              </a:rPr>
              <a:t>are</a:t>
            </a:r>
            <a:r>
              <a:rPr sz="2000" spc="-105" dirty="0">
                <a:latin typeface="Tahoma"/>
                <a:cs typeface="Tahoma"/>
              </a:rPr>
              <a:t> </a:t>
            </a:r>
            <a:r>
              <a:rPr sz="2000" spc="-80" dirty="0">
                <a:latin typeface="Tahoma"/>
                <a:cs typeface="Tahoma"/>
              </a:rPr>
              <a:t>exceptional</a:t>
            </a:r>
            <a:r>
              <a:rPr sz="2000" spc="-125" dirty="0">
                <a:latin typeface="Tahoma"/>
                <a:cs typeface="Tahoma"/>
              </a:rPr>
              <a:t> </a:t>
            </a:r>
            <a:r>
              <a:rPr sz="2000" spc="-75" dirty="0">
                <a:latin typeface="Tahoma"/>
                <a:cs typeface="Tahoma"/>
              </a:rPr>
              <a:t>at</a:t>
            </a:r>
            <a:r>
              <a:rPr sz="2000" spc="-10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automatically </a:t>
            </a:r>
            <a:r>
              <a:rPr sz="2000" spc="-70" dirty="0">
                <a:latin typeface="Tahoma"/>
                <a:cs typeface="Tahoma"/>
              </a:rPr>
              <a:t>learning</a:t>
            </a:r>
            <a:r>
              <a:rPr sz="2000" spc="-130" dirty="0">
                <a:latin typeface="Tahoma"/>
                <a:cs typeface="Tahoma"/>
              </a:rPr>
              <a:t> </a:t>
            </a:r>
            <a:r>
              <a:rPr sz="2000" spc="-75" dirty="0">
                <a:latin typeface="Tahoma"/>
                <a:cs typeface="Tahoma"/>
              </a:rPr>
              <a:t>and</a:t>
            </a:r>
            <a:r>
              <a:rPr sz="2000" spc="-125" dirty="0">
                <a:latin typeface="Tahoma"/>
                <a:cs typeface="Tahoma"/>
              </a:rPr>
              <a:t> </a:t>
            </a:r>
            <a:r>
              <a:rPr sz="2000" spc="-90" dirty="0">
                <a:latin typeface="Tahoma"/>
                <a:cs typeface="Tahoma"/>
              </a:rPr>
              <a:t>extracting</a:t>
            </a:r>
            <a:r>
              <a:rPr sz="2000" spc="-125" dirty="0">
                <a:latin typeface="Tahoma"/>
                <a:cs typeface="Tahoma"/>
              </a:rPr>
              <a:t> </a:t>
            </a:r>
            <a:r>
              <a:rPr sz="2000" spc="-105" dirty="0">
                <a:latin typeface="Tahoma"/>
                <a:cs typeface="Tahoma"/>
              </a:rPr>
              <a:t>features</a:t>
            </a:r>
            <a:r>
              <a:rPr sz="2000" spc="-125" dirty="0">
                <a:latin typeface="Tahoma"/>
                <a:cs typeface="Tahoma"/>
              </a:rPr>
              <a:t> </a:t>
            </a:r>
            <a:r>
              <a:rPr sz="2000" spc="-95" dirty="0">
                <a:latin typeface="Tahoma"/>
                <a:cs typeface="Tahoma"/>
              </a:rPr>
              <a:t>from</a:t>
            </a:r>
            <a:r>
              <a:rPr sz="2000" spc="-100" dirty="0">
                <a:latin typeface="Tahoma"/>
                <a:cs typeface="Tahoma"/>
              </a:rPr>
              <a:t> </a:t>
            </a:r>
            <a:r>
              <a:rPr sz="2000" spc="-80" dirty="0">
                <a:latin typeface="Tahoma"/>
                <a:cs typeface="Tahoma"/>
              </a:rPr>
              <a:t>visual</a:t>
            </a:r>
            <a:r>
              <a:rPr sz="2000" spc="-125" dirty="0">
                <a:latin typeface="Tahoma"/>
                <a:cs typeface="Tahoma"/>
              </a:rPr>
              <a:t> </a:t>
            </a:r>
            <a:r>
              <a:rPr sz="2000" spc="-100" dirty="0">
                <a:latin typeface="Tahoma"/>
                <a:cs typeface="Tahoma"/>
              </a:rPr>
              <a:t>data,</a:t>
            </a:r>
            <a:r>
              <a:rPr sz="2000" spc="-114" dirty="0">
                <a:latin typeface="Tahoma"/>
                <a:cs typeface="Tahoma"/>
              </a:rPr>
              <a:t> </a:t>
            </a:r>
            <a:r>
              <a:rPr sz="2000" spc="-85" dirty="0">
                <a:latin typeface="Tahoma"/>
                <a:cs typeface="Tahoma"/>
              </a:rPr>
              <a:t>such</a:t>
            </a:r>
            <a:r>
              <a:rPr sz="2000" spc="-110" dirty="0">
                <a:latin typeface="Tahoma"/>
                <a:cs typeface="Tahoma"/>
              </a:rPr>
              <a:t> </a:t>
            </a:r>
            <a:r>
              <a:rPr sz="2000" spc="-75" dirty="0">
                <a:latin typeface="Tahoma"/>
                <a:cs typeface="Tahoma"/>
              </a:rPr>
              <a:t>as</a:t>
            </a:r>
            <a:r>
              <a:rPr sz="2000" spc="-114" dirty="0">
                <a:latin typeface="Tahoma"/>
                <a:cs typeface="Tahoma"/>
              </a:rPr>
              <a:t> </a:t>
            </a:r>
            <a:r>
              <a:rPr sz="2000" spc="-80" dirty="0">
                <a:latin typeface="Tahoma"/>
                <a:cs typeface="Tahoma"/>
              </a:rPr>
              <a:t>the</a:t>
            </a:r>
            <a:r>
              <a:rPr sz="2000" spc="-95" dirty="0">
                <a:latin typeface="Tahoma"/>
                <a:cs typeface="Tahoma"/>
              </a:rPr>
              <a:t> </a:t>
            </a:r>
            <a:r>
              <a:rPr sz="2000" spc="-70" dirty="0">
                <a:latin typeface="Tahoma"/>
                <a:cs typeface="Tahoma"/>
              </a:rPr>
              <a:t>subtle</a:t>
            </a:r>
            <a:r>
              <a:rPr sz="2000" spc="-120" dirty="0">
                <a:latin typeface="Tahoma"/>
                <a:cs typeface="Tahoma"/>
              </a:rPr>
              <a:t> </a:t>
            </a:r>
            <a:r>
              <a:rPr sz="2000" spc="-95" dirty="0">
                <a:latin typeface="Tahoma"/>
                <a:cs typeface="Tahoma"/>
              </a:rPr>
              <a:t>changes</a:t>
            </a:r>
            <a:r>
              <a:rPr sz="2000" spc="-140" dirty="0">
                <a:latin typeface="Tahoma"/>
                <a:cs typeface="Tahoma"/>
              </a:rPr>
              <a:t> </a:t>
            </a:r>
            <a:r>
              <a:rPr sz="2000" spc="-50" dirty="0">
                <a:latin typeface="Tahoma"/>
                <a:cs typeface="Tahoma"/>
              </a:rPr>
              <a:t>in</a:t>
            </a:r>
            <a:r>
              <a:rPr sz="2000" spc="-90" dirty="0">
                <a:latin typeface="Tahoma"/>
                <a:cs typeface="Tahoma"/>
              </a:rPr>
              <a:t> </a:t>
            </a:r>
            <a:r>
              <a:rPr sz="2000" spc="-20" dirty="0">
                <a:latin typeface="Tahoma"/>
                <a:cs typeface="Tahoma"/>
              </a:rPr>
              <a:t>bone </a:t>
            </a:r>
            <a:r>
              <a:rPr sz="2000" spc="-100" dirty="0">
                <a:latin typeface="Tahoma"/>
                <a:cs typeface="Tahoma"/>
              </a:rPr>
              <a:t>texture</a:t>
            </a:r>
            <a:r>
              <a:rPr sz="2000" spc="-105" dirty="0">
                <a:latin typeface="Tahoma"/>
                <a:cs typeface="Tahoma"/>
              </a:rPr>
              <a:t> </a:t>
            </a:r>
            <a:r>
              <a:rPr sz="2000" spc="-75" dirty="0">
                <a:latin typeface="Tahoma"/>
                <a:cs typeface="Tahoma"/>
              </a:rPr>
              <a:t>and</a:t>
            </a:r>
            <a:r>
              <a:rPr sz="2000" spc="-114" dirty="0">
                <a:latin typeface="Tahoma"/>
                <a:cs typeface="Tahoma"/>
              </a:rPr>
              <a:t> </a:t>
            </a:r>
            <a:r>
              <a:rPr sz="2000" spc="-80" dirty="0">
                <a:latin typeface="Tahoma"/>
                <a:cs typeface="Tahoma"/>
              </a:rPr>
              <a:t>density</a:t>
            </a:r>
            <a:r>
              <a:rPr sz="2000" spc="-130" dirty="0">
                <a:latin typeface="Tahoma"/>
                <a:cs typeface="Tahoma"/>
              </a:rPr>
              <a:t> </a:t>
            </a:r>
            <a:r>
              <a:rPr sz="2000" spc="-70" dirty="0">
                <a:latin typeface="Tahoma"/>
                <a:cs typeface="Tahoma"/>
              </a:rPr>
              <a:t>visible</a:t>
            </a:r>
            <a:r>
              <a:rPr sz="2000" spc="-130" dirty="0">
                <a:latin typeface="Tahoma"/>
                <a:cs typeface="Tahoma"/>
              </a:rPr>
              <a:t> </a:t>
            </a:r>
            <a:r>
              <a:rPr sz="2000" spc="-55" dirty="0">
                <a:latin typeface="Tahoma"/>
                <a:cs typeface="Tahoma"/>
              </a:rPr>
              <a:t>on</a:t>
            </a:r>
            <a:r>
              <a:rPr sz="2000" spc="-90" dirty="0">
                <a:latin typeface="Tahoma"/>
                <a:cs typeface="Tahoma"/>
              </a:rPr>
              <a:t> X-</a:t>
            </a:r>
            <a:r>
              <a:rPr sz="2000" spc="-135" dirty="0">
                <a:latin typeface="Tahoma"/>
                <a:cs typeface="Tahoma"/>
              </a:rPr>
              <a:t>rays,</a:t>
            </a:r>
            <a:r>
              <a:rPr sz="2000" spc="-114" dirty="0">
                <a:latin typeface="Tahoma"/>
                <a:cs typeface="Tahoma"/>
              </a:rPr>
              <a:t> </a:t>
            </a:r>
            <a:r>
              <a:rPr sz="2000" spc="-135" dirty="0">
                <a:latin typeface="Tahoma"/>
                <a:cs typeface="Tahoma"/>
              </a:rPr>
              <a:t>CT</a:t>
            </a:r>
            <a:r>
              <a:rPr sz="2000" spc="-105" dirty="0">
                <a:latin typeface="Tahoma"/>
                <a:cs typeface="Tahoma"/>
              </a:rPr>
              <a:t> </a:t>
            </a:r>
            <a:r>
              <a:rPr sz="2000" spc="-120" dirty="0">
                <a:latin typeface="Tahoma"/>
                <a:cs typeface="Tahoma"/>
              </a:rPr>
              <a:t>scans,</a:t>
            </a:r>
            <a:r>
              <a:rPr sz="2000" spc="-114" dirty="0">
                <a:latin typeface="Tahoma"/>
                <a:cs typeface="Tahoma"/>
              </a:rPr>
              <a:t> </a:t>
            </a:r>
            <a:r>
              <a:rPr sz="2000" spc="-75" dirty="0">
                <a:latin typeface="Tahoma"/>
                <a:cs typeface="Tahoma"/>
              </a:rPr>
              <a:t>and</a:t>
            </a:r>
            <a:r>
              <a:rPr sz="2000" spc="-110" dirty="0">
                <a:latin typeface="Tahoma"/>
                <a:cs typeface="Tahoma"/>
              </a:rPr>
              <a:t> </a:t>
            </a:r>
            <a:r>
              <a:rPr sz="2000" spc="-80" dirty="0">
                <a:latin typeface="Tahoma"/>
                <a:cs typeface="Tahoma"/>
              </a:rPr>
              <a:t>other</a:t>
            </a:r>
            <a:r>
              <a:rPr sz="2000" spc="-12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images.</a:t>
            </a:r>
            <a:endParaRPr sz="2000">
              <a:latin typeface="Tahoma"/>
              <a:cs typeface="Tahoma"/>
            </a:endParaRPr>
          </a:p>
          <a:p>
            <a:pPr marL="82550" marR="122555">
              <a:lnSpc>
                <a:spcPct val="95000"/>
              </a:lnSpc>
            </a:pPr>
            <a:r>
              <a:rPr sz="2000" b="1" spc="-45" dirty="0">
                <a:latin typeface="Trebuchet MS"/>
                <a:cs typeface="Trebuchet MS"/>
              </a:rPr>
              <a:t>Res</a:t>
            </a:r>
            <a:r>
              <a:rPr sz="2000" b="1" spc="-60" dirty="0">
                <a:latin typeface="Trebuchet MS"/>
                <a:cs typeface="Trebuchet MS"/>
              </a:rPr>
              <a:t> </a:t>
            </a:r>
            <a:r>
              <a:rPr sz="2000" b="1" spc="-80" dirty="0">
                <a:latin typeface="Trebuchet MS"/>
                <a:cs typeface="Trebuchet MS"/>
              </a:rPr>
              <a:t>Net</a:t>
            </a:r>
            <a:r>
              <a:rPr sz="2000" b="1" spc="-70" dirty="0">
                <a:latin typeface="Trebuchet MS"/>
                <a:cs typeface="Trebuchet MS"/>
              </a:rPr>
              <a:t> </a:t>
            </a:r>
            <a:r>
              <a:rPr sz="2000" b="1" spc="-95" dirty="0">
                <a:latin typeface="Trebuchet MS"/>
                <a:cs typeface="Trebuchet MS"/>
              </a:rPr>
              <a:t>(Residual</a:t>
            </a:r>
            <a:r>
              <a:rPr sz="2000" b="1" spc="-65" dirty="0">
                <a:latin typeface="Trebuchet MS"/>
                <a:cs typeface="Trebuchet MS"/>
              </a:rPr>
              <a:t> </a:t>
            </a:r>
            <a:r>
              <a:rPr sz="2000" b="1" spc="-125" dirty="0">
                <a:latin typeface="Trebuchet MS"/>
                <a:cs typeface="Trebuchet MS"/>
              </a:rPr>
              <a:t>Networks):</a:t>
            </a:r>
            <a:r>
              <a:rPr sz="2000" b="1" spc="-105" dirty="0">
                <a:latin typeface="Trebuchet MS"/>
                <a:cs typeface="Trebuchet MS"/>
              </a:rPr>
              <a:t> </a:t>
            </a:r>
            <a:r>
              <a:rPr sz="2000" dirty="0">
                <a:latin typeface="Tahoma"/>
                <a:cs typeface="Tahoma"/>
              </a:rPr>
              <a:t>A</a:t>
            </a:r>
            <a:r>
              <a:rPr sz="2000" spc="-120" dirty="0">
                <a:latin typeface="Tahoma"/>
                <a:cs typeface="Tahoma"/>
              </a:rPr>
              <a:t> </a:t>
            </a:r>
            <a:r>
              <a:rPr sz="2000" spc="-75" dirty="0">
                <a:latin typeface="Tahoma"/>
                <a:cs typeface="Tahoma"/>
              </a:rPr>
              <a:t>specific</a:t>
            </a:r>
            <a:r>
              <a:rPr sz="2000" spc="-145" dirty="0">
                <a:latin typeface="Tahoma"/>
                <a:cs typeface="Tahoma"/>
              </a:rPr>
              <a:t> </a:t>
            </a:r>
            <a:r>
              <a:rPr sz="2000" spc="-80" dirty="0">
                <a:latin typeface="Tahoma"/>
                <a:cs typeface="Tahoma"/>
              </a:rPr>
              <a:t>type</a:t>
            </a:r>
            <a:r>
              <a:rPr sz="2000" spc="-125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of</a:t>
            </a:r>
            <a:r>
              <a:rPr sz="2000" spc="145" dirty="0">
                <a:latin typeface="Tahoma"/>
                <a:cs typeface="Tahoma"/>
              </a:rPr>
              <a:t> </a:t>
            </a:r>
            <a:r>
              <a:rPr sz="2000" spc="-65" dirty="0">
                <a:latin typeface="Tahoma"/>
                <a:cs typeface="Tahoma"/>
              </a:rPr>
              <a:t>CNN</a:t>
            </a:r>
            <a:r>
              <a:rPr sz="2000" spc="-125" dirty="0">
                <a:latin typeface="Tahoma"/>
                <a:cs typeface="Tahoma"/>
              </a:rPr>
              <a:t> </a:t>
            </a:r>
            <a:r>
              <a:rPr sz="2000" spc="-85" dirty="0">
                <a:latin typeface="Tahoma"/>
                <a:cs typeface="Tahoma"/>
              </a:rPr>
              <a:t>that</a:t>
            </a:r>
            <a:r>
              <a:rPr sz="2000" spc="-135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is</a:t>
            </a:r>
            <a:r>
              <a:rPr sz="2000" spc="-120" dirty="0">
                <a:latin typeface="Tahoma"/>
                <a:cs typeface="Tahoma"/>
              </a:rPr>
              <a:t> </a:t>
            </a:r>
            <a:r>
              <a:rPr sz="2000" spc="-95" dirty="0">
                <a:latin typeface="Tahoma"/>
                <a:cs typeface="Tahoma"/>
              </a:rPr>
              <a:t>frequently</a:t>
            </a:r>
            <a:r>
              <a:rPr sz="2000" spc="-170" dirty="0">
                <a:latin typeface="Tahoma"/>
                <a:cs typeface="Tahoma"/>
              </a:rPr>
              <a:t> </a:t>
            </a:r>
            <a:r>
              <a:rPr sz="2000" spc="-90" dirty="0">
                <a:latin typeface="Tahoma"/>
                <a:cs typeface="Tahoma"/>
              </a:rPr>
              <a:t>used.</a:t>
            </a:r>
            <a:r>
              <a:rPr sz="2000" spc="-114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ResNet </a:t>
            </a:r>
            <a:r>
              <a:rPr sz="2000" spc="-100" dirty="0">
                <a:latin typeface="Tahoma"/>
                <a:cs typeface="Tahoma"/>
              </a:rPr>
              <a:t>architectures</a:t>
            </a:r>
            <a:r>
              <a:rPr sz="2000" spc="-125" dirty="0">
                <a:latin typeface="Tahoma"/>
                <a:cs typeface="Tahoma"/>
              </a:rPr>
              <a:t> </a:t>
            </a:r>
            <a:r>
              <a:rPr sz="2000" spc="-114" dirty="0">
                <a:latin typeface="Tahoma"/>
                <a:cs typeface="Tahoma"/>
              </a:rPr>
              <a:t>are</a:t>
            </a:r>
            <a:r>
              <a:rPr sz="2000" spc="-110" dirty="0">
                <a:latin typeface="Tahoma"/>
                <a:cs typeface="Tahoma"/>
              </a:rPr>
              <a:t> </a:t>
            </a:r>
            <a:r>
              <a:rPr sz="2000" spc="-65" dirty="0">
                <a:latin typeface="Tahoma"/>
                <a:cs typeface="Tahoma"/>
              </a:rPr>
              <a:t>designed</a:t>
            </a:r>
            <a:r>
              <a:rPr sz="2000" spc="-140" dirty="0">
                <a:latin typeface="Tahoma"/>
                <a:cs typeface="Tahoma"/>
              </a:rPr>
              <a:t> </a:t>
            </a:r>
            <a:r>
              <a:rPr sz="2000" spc="-35" dirty="0">
                <a:latin typeface="Tahoma"/>
                <a:cs typeface="Tahoma"/>
              </a:rPr>
              <a:t>to</a:t>
            </a:r>
            <a:r>
              <a:rPr sz="2000" spc="-90" dirty="0">
                <a:latin typeface="Tahoma"/>
                <a:cs typeface="Tahoma"/>
              </a:rPr>
              <a:t> </a:t>
            </a:r>
            <a:r>
              <a:rPr sz="2000" spc="-85" dirty="0">
                <a:latin typeface="Tahoma"/>
                <a:cs typeface="Tahoma"/>
              </a:rPr>
              <a:t>handle</a:t>
            </a:r>
            <a:r>
              <a:rPr sz="2000" spc="-135" dirty="0">
                <a:latin typeface="Tahoma"/>
                <a:cs typeface="Tahoma"/>
              </a:rPr>
              <a:t> </a:t>
            </a:r>
            <a:r>
              <a:rPr sz="2000" spc="-95" dirty="0">
                <a:latin typeface="Tahoma"/>
                <a:cs typeface="Tahoma"/>
              </a:rPr>
              <a:t>very </a:t>
            </a:r>
            <a:r>
              <a:rPr sz="2000" spc="-55" dirty="0">
                <a:latin typeface="Tahoma"/>
                <a:cs typeface="Tahoma"/>
              </a:rPr>
              <a:t>deep</a:t>
            </a:r>
            <a:r>
              <a:rPr sz="2000" spc="-125" dirty="0">
                <a:latin typeface="Tahoma"/>
                <a:cs typeface="Tahoma"/>
              </a:rPr>
              <a:t> </a:t>
            </a:r>
            <a:r>
              <a:rPr sz="2000" spc="-105" dirty="0">
                <a:latin typeface="Tahoma"/>
                <a:cs typeface="Tahoma"/>
              </a:rPr>
              <a:t>networks,</a:t>
            </a:r>
            <a:r>
              <a:rPr sz="2000" spc="-130" dirty="0">
                <a:latin typeface="Tahoma"/>
                <a:cs typeface="Tahoma"/>
              </a:rPr>
              <a:t> </a:t>
            </a:r>
            <a:r>
              <a:rPr sz="2000" spc="-85" dirty="0">
                <a:latin typeface="Tahoma"/>
                <a:cs typeface="Tahoma"/>
              </a:rPr>
              <a:t>which</a:t>
            </a:r>
            <a:r>
              <a:rPr sz="2000" spc="-120" dirty="0">
                <a:latin typeface="Tahoma"/>
                <a:cs typeface="Tahoma"/>
              </a:rPr>
              <a:t> </a:t>
            </a:r>
            <a:r>
              <a:rPr sz="2000" spc="-30" dirty="0">
                <a:latin typeface="Tahoma"/>
                <a:cs typeface="Tahoma"/>
              </a:rPr>
              <a:t>is</a:t>
            </a:r>
            <a:r>
              <a:rPr sz="2000" spc="-100" dirty="0">
                <a:latin typeface="Tahoma"/>
                <a:cs typeface="Tahoma"/>
              </a:rPr>
              <a:t> </a:t>
            </a:r>
            <a:r>
              <a:rPr sz="2000" spc="-85" dirty="0">
                <a:latin typeface="Tahoma"/>
                <a:cs typeface="Tahoma"/>
              </a:rPr>
              <a:t>crucial</a:t>
            </a:r>
            <a:r>
              <a:rPr sz="2000" spc="-125" dirty="0">
                <a:latin typeface="Tahoma"/>
                <a:cs typeface="Tahoma"/>
              </a:rPr>
              <a:t> </a:t>
            </a:r>
            <a:r>
              <a:rPr sz="2000" spc="-80" dirty="0">
                <a:latin typeface="Tahoma"/>
                <a:cs typeface="Tahoma"/>
              </a:rPr>
              <a:t>for</a:t>
            </a:r>
            <a:r>
              <a:rPr sz="2000" spc="-10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learning </a:t>
            </a:r>
            <a:r>
              <a:rPr sz="2000" spc="-80" dirty="0">
                <a:latin typeface="Tahoma"/>
                <a:cs typeface="Tahoma"/>
              </a:rPr>
              <a:t>the</a:t>
            </a:r>
            <a:r>
              <a:rPr sz="2000" spc="-105" dirty="0">
                <a:latin typeface="Tahoma"/>
                <a:cs typeface="Tahoma"/>
              </a:rPr>
              <a:t> </a:t>
            </a:r>
            <a:r>
              <a:rPr sz="2000" spc="-100" dirty="0">
                <a:latin typeface="Tahoma"/>
                <a:cs typeface="Tahoma"/>
              </a:rPr>
              <a:t>complex,</a:t>
            </a:r>
            <a:r>
              <a:rPr sz="2000" spc="-105" dirty="0">
                <a:latin typeface="Tahoma"/>
                <a:cs typeface="Tahoma"/>
              </a:rPr>
              <a:t> </a:t>
            </a:r>
            <a:r>
              <a:rPr sz="2000" spc="-95" dirty="0">
                <a:latin typeface="Tahoma"/>
                <a:cs typeface="Tahoma"/>
              </a:rPr>
              <a:t>multi-</a:t>
            </a:r>
            <a:r>
              <a:rPr sz="2000" spc="-105" dirty="0">
                <a:latin typeface="Tahoma"/>
                <a:cs typeface="Tahoma"/>
              </a:rPr>
              <a:t>layered</a:t>
            </a:r>
            <a:r>
              <a:rPr sz="2000" spc="-130" dirty="0">
                <a:latin typeface="Tahoma"/>
                <a:cs typeface="Tahoma"/>
              </a:rPr>
              <a:t> </a:t>
            </a:r>
            <a:r>
              <a:rPr sz="2000" spc="-75" dirty="0">
                <a:latin typeface="Tahoma"/>
                <a:cs typeface="Tahoma"/>
              </a:rPr>
              <a:t>patterns</a:t>
            </a:r>
            <a:r>
              <a:rPr sz="2000" spc="-110" dirty="0">
                <a:latin typeface="Tahoma"/>
                <a:cs typeface="Tahoma"/>
              </a:rPr>
              <a:t> </a:t>
            </a:r>
            <a:r>
              <a:rPr sz="2000" spc="-50" dirty="0">
                <a:latin typeface="Tahoma"/>
                <a:cs typeface="Tahoma"/>
              </a:rPr>
              <a:t>in</a:t>
            </a:r>
            <a:r>
              <a:rPr sz="2000" spc="-85" dirty="0">
                <a:latin typeface="Tahoma"/>
                <a:cs typeface="Tahoma"/>
              </a:rPr>
              <a:t> </a:t>
            </a:r>
            <a:r>
              <a:rPr sz="2000" spc="-80" dirty="0">
                <a:latin typeface="Tahoma"/>
                <a:cs typeface="Tahoma"/>
              </a:rPr>
              <a:t>high-</a:t>
            </a:r>
            <a:r>
              <a:rPr sz="2000" spc="-85" dirty="0">
                <a:latin typeface="Tahoma"/>
                <a:cs typeface="Tahoma"/>
              </a:rPr>
              <a:t>resolution</a:t>
            </a:r>
            <a:r>
              <a:rPr sz="2000" spc="-125" dirty="0">
                <a:latin typeface="Tahoma"/>
                <a:cs typeface="Tahoma"/>
              </a:rPr>
              <a:t> </a:t>
            </a:r>
            <a:r>
              <a:rPr sz="2000" spc="-85" dirty="0">
                <a:latin typeface="Tahoma"/>
                <a:cs typeface="Tahoma"/>
              </a:rPr>
              <a:t>medical</a:t>
            </a:r>
            <a:r>
              <a:rPr sz="2000" spc="-130" dirty="0">
                <a:latin typeface="Tahoma"/>
                <a:cs typeface="Tahoma"/>
              </a:rPr>
              <a:t> </a:t>
            </a:r>
            <a:r>
              <a:rPr sz="2000" spc="-90" dirty="0">
                <a:latin typeface="Tahoma"/>
                <a:cs typeface="Tahoma"/>
              </a:rPr>
              <a:t>images</a:t>
            </a:r>
            <a:r>
              <a:rPr sz="2000" spc="-114" dirty="0">
                <a:latin typeface="Tahoma"/>
                <a:cs typeface="Tahoma"/>
              </a:rPr>
              <a:t> </a:t>
            </a:r>
            <a:r>
              <a:rPr sz="2000" spc="-80" dirty="0">
                <a:latin typeface="Tahoma"/>
                <a:cs typeface="Tahoma"/>
              </a:rPr>
              <a:t>without</a:t>
            </a:r>
            <a:r>
              <a:rPr sz="2000" spc="-114" dirty="0">
                <a:latin typeface="Tahoma"/>
                <a:cs typeface="Tahoma"/>
              </a:rPr>
              <a:t> </a:t>
            </a:r>
            <a:r>
              <a:rPr sz="2000" spc="-80" dirty="0">
                <a:latin typeface="Tahoma"/>
                <a:cs typeface="Tahoma"/>
              </a:rPr>
              <a:t>a</a:t>
            </a:r>
            <a:r>
              <a:rPr sz="2000" spc="-85" dirty="0">
                <a:latin typeface="Tahoma"/>
                <a:cs typeface="Tahoma"/>
              </a:rPr>
              <a:t> </a:t>
            </a:r>
            <a:r>
              <a:rPr sz="2000" spc="-45" dirty="0">
                <a:latin typeface="Tahoma"/>
                <a:cs typeface="Tahoma"/>
              </a:rPr>
              <a:t>loss</a:t>
            </a:r>
            <a:r>
              <a:rPr sz="2000" spc="-100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in </a:t>
            </a:r>
            <a:r>
              <a:rPr sz="2000" spc="-110" dirty="0">
                <a:latin typeface="Tahoma"/>
                <a:cs typeface="Tahoma"/>
              </a:rPr>
              <a:t>performance.</a:t>
            </a:r>
            <a:r>
              <a:rPr sz="2000" spc="-130" dirty="0">
                <a:latin typeface="Tahoma"/>
                <a:cs typeface="Tahoma"/>
              </a:rPr>
              <a:t> </a:t>
            </a:r>
            <a:r>
              <a:rPr sz="2000" spc="-75" dirty="0">
                <a:latin typeface="Tahoma"/>
                <a:cs typeface="Tahoma"/>
              </a:rPr>
              <a:t>Studies</a:t>
            </a:r>
            <a:r>
              <a:rPr sz="2000" spc="-114" dirty="0">
                <a:latin typeface="Tahoma"/>
                <a:cs typeface="Tahoma"/>
              </a:rPr>
              <a:t> have</a:t>
            </a:r>
            <a:r>
              <a:rPr sz="2000" spc="-100" dirty="0">
                <a:latin typeface="Tahoma"/>
                <a:cs typeface="Tahoma"/>
              </a:rPr>
              <a:t> </a:t>
            </a:r>
            <a:r>
              <a:rPr sz="2000" spc="-95" dirty="0">
                <a:latin typeface="Tahoma"/>
                <a:cs typeface="Tahoma"/>
              </a:rPr>
              <a:t>shown</a:t>
            </a:r>
            <a:r>
              <a:rPr sz="2000" spc="-114" dirty="0">
                <a:latin typeface="Tahoma"/>
                <a:cs typeface="Tahoma"/>
              </a:rPr>
              <a:t> </a:t>
            </a:r>
            <a:r>
              <a:rPr sz="2000" spc="-80" dirty="0">
                <a:latin typeface="Tahoma"/>
                <a:cs typeface="Tahoma"/>
              </a:rPr>
              <a:t>that</a:t>
            </a:r>
            <a:r>
              <a:rPr sz="2000" spc="-90" dirty="0">
                <a:latin typeface="Tahoma"/>
                <a:cs typeface="Tahoma"/>
              </a:rPr>
              <a:t> </a:t>
            </a:r>
            <a:r>
              <a:rPr sz="2000" spc="-70" dirty="0">
                <a:latin typeface="Tahoma"/>
                <a:cs typeface="Tahoma"/>
              </a:rPr>
              <a:t>models</a:t>
            </a:r>
            <a:r>
              <a:rPr sz="2000" spc="-120" dirty="0">
                <a:latin typeface="Tahoma"/>
                <a:cs typeface="Tahoma"/>
              </a:rPr>
              <a:t> </a:t>
            </a:r>
            <a:r>
              <a:rPr sz="2000" spc="-75" dirty="0">
                <a:latin typeface="Tahoma"/>
                <a:cs typeface="Tahoma"/>
              </a:rPr>
              <a:t>like</a:t>
            </a:r>
            <a:r>
              <a:rPr sz="2000" spc="-114" dirty="0">
                <a:latin typeface="Tahoma"/>
                <a:cs typeface="Tahoma"/>
              </a:rPr>
              <a:t> </a:t>
            </a:r>
            <a:r>
              <a:rPr sz="2000" spc="-105" dirty="0">
                <a:latin typeface="Tahoma"/>
                <a:cs typeface="Tahoma"/>
              </a:rPr>
              <a:t>ResNet-</a:t>
            </a:r>
            <a:r>
              <a:rPr sz="2000" spc="90" dirty="0">
                <a:latin typeface="Tahoma"/>
                <a:cs typeface="Tahoma"/>
              </a:rPr>
              <a:t>50</a:t>
            </a:r>
            <a:r>
              <a:rPr sz="2000" spc="-130" dirty="0">
                <a:latin typeface="Tahoma"/>
                <a:cs typeface="Tahoma"/>
              </a:rPr>
              <a:t> </a:t>
            </a:r>
            <a:r>
              <a:rPr sz="2000" spc="-100" dirty="0">
                <a:latin typeface="Tahoma"/>
                <a:cs typeface="Tahoma"/>
              </a:rPr>
              <a:t>achieve</a:t>
            </a:r>
            <a:r>
              <a:rPr sz="2000" spc="-125" dirty="0">
                <a:latin typeface="Tahoma"/>
                <a:cs typeface="Tahoma"/>
              </a:rPr>
              <a:t> </a:t>
            </a:r>
            <a:r>
              <a:rPr sz="2000" spc="-60" dirty="0">
                <a:latin typeface="Tahoma"/>
                <a:cs typeface="Tahoma"/>
              </a:rPr>
              <a:t>high</a:t>
            </a:r>
            <a:r>
              <a:rPr sz="2000" spc="-10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accuracy </a:t>
            </a:r>
            <a:r>
              <a:rPr sz="2000" spc="-75" dirty="0">
                <a:latin typeface="Tahoma"/>
                <a:cs typeface="Tahoma"/>
              </a:rPr>
              <a:t>and</a:t>
            </a:r>
            <a:r>
              <a:rPr sz="2000" spc="-105" dirty="0">
                <a:latin typeface="Tahoma"/>
                <a:cs typeface="Tahoma"/>
              </a:rPr>
              <a:t> </a:t>
            </a:r>
            <a:r>
              <a:rPr sz="2000" spc="-80" dirty="0">
                <a:latin typeface="Tahoma"/>
                <a:cs typeface="Tahoma"/>
              </a:rPr>
              <a:t>sensitivity</a:t>
            </a:r>
            <a:r>
              <a:rPr sz="2000" spc="-140" dirty="0">
                <a:latin typeface="Tahoma"/>
                <a:cs typeface="Tahoma"/>
              </a:rPr>
              <a:t> </a:t>
            </a:r>
            <a:r>
              <a:rPr sz="2000" spc="-50" dirty="0">
                <a:latin typeface="Tahoma"/>
                <a:cs typeface="Tahoma"/>
              </a:rPr>
              <a:t>in</a:t>
            </a:r>
            <a:r>
              <a:rPr sz="2000" spc="-80" dirty="0">
                <a:latin typeface="Tahoma"/>
                <a:cs typeface="Tahoma"/>
              </a:rPr>
              <a:t> </a:t>
            </a:r>
            <a:r>
              <a:rPr sz="2000" spc="-75" dirty="0">
                <a:latin typeface="Tahoma"/>
                <a:cs typeface="Tahoma"/>
              </a:rPr>
              <a:t>detecting</a:t>
            </a:r>
            <a:r>
              <a:rPr sz="2000" spc="-13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osteoporosis.</a:t>
            </a:r>
            <a:endParaRPr sz="2000">
              <a:latin typeface="Tahoma"/>
              <a:cs typeface="Tahoma"/>
            </a:endParaRPr>
          </a:p>
          <a:p>
            <a:pPr marL="82550" marR="5080">
              <a:lnSpc>
                <a:spcPct val="95000"/>
              </a:lnSpc>
            </a:pPr>
            <a:r>
              <a:rPr sz="2000" b="1" spc="-145" dirty="0">
                <a:latin typeface="Trebuchet MS"/>
                <a:cs typeface="Trebuchet MS"/>
              </a:rPr>
              <a:t>Efficient</a:t>
            </a:r>
            <a:r>
              <a:rPr sz="2000" b="1" spc="-50" dirty="0">
                <a:latin typeface="Trebuchet MS"/>
                <a:cs typeface="Trebuchet MS"/>
              </a:rPr>
              <a:t> </a:t>
            </a:r>
            <a:r>
              <a:rPr sz="2000" b="1" spc="-130" dirty="0">
                <a:latin typeface="Trebuchet MS"/>
                <a:cs typeface="Trebuchet MS"/>
              </a:rPr>
              <a:t>Net:</a:t>
            </a:r>
            <a:r>
              <a:rPr sz="2000" b="1" spc="-105" dirty="0">
                <a:latin typeface="Trebuchet MS"/>
                <a:cs typeface="Trebuchet MS"/>
              </a:rPr>
              <a:t> </a:t>
            </a:r>
            <a:r>
              <a:rPr sz="2000" spc="-95" dirty="0">
                <a:latin typeface="Tahoma"/>
                <a:cs typeface="Tahoma"/>
              </a:rPr>
              <a:t>This</a:t>
            </a:r>
            <a:r>
              <a:rPr sz="2000" spc="-130" dirty="0">
                <a:latin typeface="Tahoma"/>
                <a:cs typeface="Tahoma"/>
              </a:rPr>
              <a:t> </a:t>
            </a:r>
            <a:r>
              <a:rPr sz="2000" spc="-95" dirty="0">
                <a:latin typeface="Tahoma"/>
                <a:cs typeface="Tahoma"/>
              </a:rPr>
              <a:t>family</a:t>
            </a:r>
            <a:r>
              <a:rPr sz="2000" spc="-160" dirty="0">
                <a:latin typeface="Tahoma"/>
                <a:cs typeface="Tahoma"/>
              </a:rPr>
              <a:t> </a:t>
            </a:r>
            <a:r>
              <a:rPr sz="2000" dirty="0">
                <a:latin typeface="Tahoma"/>
                <a:cs typeface="Tahoma"/>
              </a:rPr>
              <a:t>of</a:t>
            </a:r>
            <a:r>
              <a:rPr sz="2000" spc="160" dirty="0">
                <a:latin typeface="Tahoma"/>
                <a:cs typeface="Tahoma"/>
              </a:rPr>
              <a:t> </a:t>
            </a:r>
            <a:r>
              <a:rPr sz="2000" spc="-70" dirty="0">
                <a:latin typeface="Tahoma"/>
                <a:cs typeface="Tahoma"/>
              </a:rPr>
              <a:t>models</a:t>
            </a:r>
            <a:r>
              <a:rPr sz="2000" spc="-140" dirty="0">
                <a:latin typeface="Tahoma"/>
                <a:cs typeface="Tahoma"/>
              </a:rPr>
              <a:t> </a:t>
            </a:r>
            <a:r>
              <a:rPr sz="2000" spc="-25" dirty="0">
                <a:latin typeface="Tahoma"/>
                <a:cs typeface="Tahoma"/>
              </a:rPr>
              <a:t>is</a:t>
            </a:r>
            <a:r>
              <a:rPr sz="2000" spc="-120" dirty="0">
                <a:latin typeface="Tahoma"/>
                <a:cs typeface="Tahoma"/>
              </a:rPr>
              <a:t> </a:t>
            </a:r>
            <a:r>
              <a:rPr sz="2000" spc="-90" dirty="0">
                <a:latin typeface="Tahoma"/>
                <a:cs typeface="Tahoma"/>
              </a:rPr>
              <a:t>known</a:t>
            </a:r>
            <a:r>
              <a:rPr sz="2000" spc="-125" dirty="0">
                <a:latin typeface="Tahoma"/>
                <a:cs typeface="Tahoma"/>
              </a:rPr>
              <a:t> </a:t>
            </a:r>
            <a:r>
              <a:rPr sz="2000" spc="-80" dirty="0">
                <a:latin typeface="Tahoma"/>
                <a:cs typeface="Tahoma"/>
              </a:rPr>
              <a:t>for</a:t>
            </a:r>
            <a:r>
              <a:rPr sz="2000" spc="-120" dirty="0">
                <a:latin typeface="Tahoma"/>
                <a:cs typeface="Tahoma"/>
              </a:rPr>
              <a:t> </a:t>
            </a:r>
            <a:r>
              <a:rPr sz="2000" spc="-45" dirty="0">
                <a:latin typeface="Tahoma"/>
                <a:cs typeface="Tahoma"/>
              </a:rPr>
              <a:t>its</a:t>
            </a:r>
            <a:r>
              <a:rPr sz="2000" spc="-120" dirty="0">
                <a:latin typeface="Tahoma"/>
                <a:cs typeface="Tahoma"/>
              </a:rPr>
              <a:t> </a:t>
            </a:r>
            <a:r>
              <a:rPr sz="2000" spc="-125" dirty="0">
                <a:latin typeface="Tahoma"/>
                <a:cs typeface="Tahoma"/>
              </a:rPr>
              <a:t>efficiency,</a:t>
            </a:r>
            <a:r>
              <a:rPr sz="2000" spc="-145" dirty="0">
                <a:latin typeface="Tahoma"/>
                <a:cs typeface="Tahoma"/>
              </a:rPr>
              <a:t> </a:t>
            </a:r>
            <a:r>
              <a:rPr sz="2000" spc="-80" dirty="0">
                <a:latin typeface="Tahoma"/>
                <a:cs typeface="Tahoma"/>
              </a:rPr>
              <a:t>achieving</a:t>
            </a:r>
            <a:r>
              <a:rPr sz="2000" spc="-155" dirty="0">
                <a:latin typeface="Tahoma"/>
                <a:cs typeface="Tahoma"/>
              </a:rPr>
              <a:t> </a:t>
            </a:r>
            <a:r>
              <a:rPr sz="2000" spc="-80" dirty="0">
                <a:latin typeface="Tahoma"/>
                <a:cs typeface="Tahoma"/>
              </a:rPr>
              <a:t>a</a:t>
            </a:r>
            <a:r>
              <a:rPr sz="2000" spc="-114" dirty="0">
                <a:latin typeface="Tahoma"/>
                <a:cs typeface="Tahoma"/>
              </a:rPr>
              <a:t> </a:t>
            </a:r>
            <a:r>
              <a:rPr sz="2000" spc="-35" dirty="0">
                <a:latin typeface="Tahoma"/>
                <a:cs typeface="Tahoma"/>
              </a:rPr>
              <a:t>good</a:t>
            </a:r>
            <a:r>
              <a:rPr sz="2000" spc="-130" dirty="0">
                <a:latin typeface="Tahoma"/>
                <a:cs typeface="Tahoma"/>
              </a:rPr>
              <a:t> </a:t>
            </a:r>
            <a:r>
              <a:rPr sz="2000" spc="-20" dirty="0">
                <a:latin typeface="Tahoma"/>
                <a:cs typeface="Tahoma"/>
              </a:rPr>
              <a:t>balance </a:t>
            </a:r>
            <a:r>
              <a:rPr sz="2000" spc="-90" dirty="0">
                <a:latin typeface="Tahoma"/>
                <a:cs typeface="Tahoma"/>
              </a:rPr>
              <a:t>between</a:t>
            </a:r>
            <a:r>
              <a:rPr sz="2000" spc="-145" dirty="0">
                <a:latin typeface="Tahoma"/>
                <a:cs typeface="Tahoma"/>
              </a:rPr>
              <a:t> </a:t>
            </a:r>
            <a:r>
              <a:rPr sz="2000" spc="-70" dirty="0">
                <a:latin typeface="Tahoma"/>
                <a:cs typeface="Tahoma"/>
              </a:rPr>
              <a:t>model</a:t>
            </a:r>
            <a:r>
              <a:rPr sz="2000" spc="-130" dirty="0">
                <a:latin typeface="Tahoma"/>
                <a:cs typeface="Tahoma"/>
              </a:rPr>
              <a:t> </a:t>
            </a:r>
            <a:r>
              <a:rPr sz="2000" spc="-50" dirty="0">
                <a:latin typeface="Tahoma"/>
                <a:cs typeface="Tahoma"/>
              </a:rPr>
              <a:t>size</a:t>
            </a:r>
            <a:r>
              <a:rPr sz="2000" spc="-100" dirty="0">
                <a:latin typeface="Tahoma"/>
                <a:cs typeface="Tahoma"/>
              </a:rPr>
              <a:t> </a:t>
            </a:r>
            <a:r>
              <a:rPr sz="2000" spc="-75" dirty="0">
                <a:latin typeface="Tahoma"/>
                <a:cs typeface="Tahoma"/>
              </a:rPr>
              <a:t>and</a:t>
            </a:r>
            <a:r>
              <a:rPr sz="2000" spc="-120" dirty="0">
                <a:latin typeface="Tahoma"/>
                <a:cs typeface="Tahoma"/>
              </a:rPr>
              <a:t> </a:t>
            </a:r>
            <a:r>
              <a:rPr sz="2000" spc="-110" dirty="0">
                <a:latin typeface="Tahoma"/>
                <a:cs typeface="Tahoma"/>
              </a:rPr>
              <a:t>performance.</a:t>
            </a:r>
            <a:r>
              <a:rPr sz="2000" spc="-135" dirty="0">
                <a:latin typeface="Tahoma"/>
                <a:cs typeface="Tahoma"/>
              </a:rPr>
              <a:t> </a:t>
            </a:r>
            <a:r>
              <a:rPr sz="2000" spc="-95" dirty="0">
                <a:latin typeface="Tahoma"/>
                <a:cs typeface="Tahoma"/>
              </a:rPr>
              <a:t>This</a:t>
            </a:r>
            <a:r>
              <a:rPr sz="2000" spc="-120" dirty="0">
                <a:latin typeface="Tahoma"/>
                <a:cs typeface="Tahoma"/>
              </a:rPr>
              <a:t> </a:t>
            </a:r>
            <a:r>
              <a:rPr sz="2000" spc="-125" dirty="0">
                <a:latin typeface="Tahoma"/>
                <a:cs typeface="Tahoma"/>
              </a:rPr>
              <a:t>makes</a:t>
            </a:r>
            <a:r>
              <a:rPr sz="2000" spc="-145" dirty="0">
                <a:latin typeface="Tahoma"/>
                <a:cs typeface="Tahoma"/>
              </a:rPr>
              <a:t> </a:t>
            </a:r>
            <a:r>
              <a:rPr sz="2000" spc="-105" dirty="0">
                <a:latin typeface="Tahoma"/>
                <a:cs typeface="Tahoma"/>
              </a:rPr>
              <a:t>them</a:t>
            </a:r>
            <a:r>
              <a:rPr sz="2000" spc="-110" dirty="0">
                <a:latin typeface="Tahoma"/>
                <a:cs typeface="Tahoma"/>
              </a:rPr>
              <a:t> </a:t>
            </a:r>
            <a:r>
              <a:rPr sz="2000" spc="-80" dirty="0">
                <a:latin typeface="Tahoma"/>
                <a:cs typeface="Tahoma"/>
              </a:rPr>
              <a:t>a</a:t>
            </a:r>
            <a:r>
              <a:rPr sz="2000" spc="-105" dirty="0">
                <a:latin typeface="Tahoma"/>
                <a:cs typeface="Tahoma"/>
              </a:rPr>
              <a:t> </a:t>
            </a:r>
            <a:r>
              <a:rPr sz="2000" spc="-85" dirty="0">
                <a:latin typeface="Tahoma"/>
                <a:cs typeface="Tahoma"/>
              </a:rPr>
              <a:t>practical</a:t>
            </a:r>
            <a:r>
              <a:rPr sz="2000" spc="-130" dirty="0">
                <a:latin typeface="Tahoma"/>
                <a:cs typeface="Tahoma"/>
              </a:rPr>
              <a:t> </a:t>
            </a:r>
            <a:r>
              <a:rPr sz="2000" spc="-70" dirty="0">
                <a:latin typeface="Tahoma"/>
                <a:cs typeface="Tahoma"/>
              </a:rPr>
              <a:t>choice</a:t>
            </a:r>
            <a:r>
              <a:rPr sz="2000" spc="-135" dirty="0">
                <a:latin typeface="Tahoma"/>
                <a:cs typeface="Tahoma"/>
              </a:rPr>
              <a:t> </a:t>
            </a:r>
            <a:r>
              <a:rPr sz="2000" spc="-75" dirty="0">
                <a:latin typeface="Tahoma"/>
                <a:cs typeface="Tahoma"/>
              </a:rPr>
              <a:t>for</a:t>
            </a:r>
            <a:r>
              <a:rPr sz="2000" spc="-100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clinical </a:t>
            </a:r>
            <a:r>
              <a:rPr sz="2000" spc="-70" dirty="0">
                <a:latin typeface="Tahoma"/>
                <a:cs typeface="Tahoma"/>
              </a:rPr>
              <a:t>applications</a:t>
            </a:r>
            <a:r>
              <a:rPr sz="2000" spc="-120" dirty="0">
                <a:latin typeface="Tahoma"/>
                <a:cs typeface="Tahoma"/>
              </a:rPr>
              <a:t> </a:t>
            </a:r>
            <a:r>
              <a:rPr sz="2000" spc="-110" dirty="0">
                <a:latin typeface="Tahoma"/>
                <a:cs typeface="Tahoma"/>
              </a:rPr>
              <a:t>where </a:t>
            </a:r>
            <a:r>
              <a:rPr sz="2000" spc="-85" dirty="0">
                <a:latin typeface="Tahoma"/>
                <a:cs typeface="Tahoma"/>
              </a:rPr>
              <a:t>computational</a:t>
            </a:r>
            <a:r>
              <a:rPr sz="2000" spc="-120" dirty="0">
                <a:latin typeface="Tahoma"/>
                <a:cs typeface="Tahoma"/>
              </a:rPr>
              <a:t> </a:t>
            </a:r>
            <a:r>
              <a:rPr sz="2000" spc="-100" dirty="0">
                <a:latin typeface="Tahoma"/>
                <a:cs typeface="Tahoma"/>
              </a:rPr>
              <a:t>resources</a:t>
            </a:r>
            <a:r>
              <a:rPr sz="2000" spc="-135" dirty="0">
                <a:latin typeface="Tahoma"/>
                <a:cs typeface="Tahoma"/>
              </a:rPr>
              <a:t> </a:t>
            </a:r>
            <a:r>
              <a:rPr sz="2000" spc="-130" dirty="0">
                <a:latin typeface="Tahoma"/>
                <a:cs typeface="Tahoma"/>
              </a:rPr>
              <a:t>may</a:t>
            </a:r>
            <a:r>
              <a:rPr sz="2000" spc="-95" dirty="0">
                <a:latin typeface="Tahoma"/>
                <a:cs typeface="Tahoma"/>
              </a:rPr>
              <a:t> </a:t>
            </a:r>
            <a:r>
              <a:rPr sz="2000" spc="-50" dirty="0">
                <a:latin typeface="Tahoma"/>
                <a:cs typeface="Tahoma"/>
              </a:rPr>
              <a:t>be</a:t>
            </a:r>
            <a:r>
              <a:rPr sz="2000" spc="-85" dirty="0">
                <a:latin typeface="Tahoma"/>
                <a:cs typeface="Tahoma"/>
              </a:rPr>
              <a:t> </a:t>
            </a:r>
            <a:r>
              <a:rPr sz="2000" spc="-80" dirty="0">
                <a:latin typeface="Tahoma"/>
                <a:cs typeface="Tahoma"/>
              </a:rPr>
              <a:t>a</a:t>
            </a:r>
            <a:r>
              <a:rPr sz="2000" spc="-90" dirty="0">
                <a:latin typeface="Tahoma"/>
                <a:cs typeface="Tahoma"/>
              </a:rPr>
              <a:t> </a:t>
            </a:r>
            <a:r>
              <a:rPr sz="2000" spc="-100" dirty="0">
                <a:latin typeface="Tahoma"/>
                <a:cs typeface="Tahoma"/>
              </a:rPr>
              <a:t>concern.</a:t>
            </a:r>
            <a:r>
              <a:rPr sz="2000" spc="-125" dirty="0">
                <a:latin typeface="Tahoma"/>
                <a:cs typeface="Tahoma"/>
              </a:rPr>
              <a:t> </a:t>
            </a:r>
            <a:r>
              <a:rPr sz="2000" spc="-110" dirty="0">
                <a:latin typeface="Tahoma"/>
                <a:cs typeface="Tahoma"/>
              </a:rPr>
              <a:t>Research </a:t>
            </a:r>
            <a:r>
              <a:rPr sz="2000" spc="-85" dirty="0">
                <a:latin typeface="Tahoma"/>
                <a:cs typeface="Tahoma"/>
              </a:rPr>
              <a:t>has</a:t>
            </a:r>
            <a:r>
              <a:rPr sz="2000" spc="-105" dirty="0">
                <a:latin typeface="Tahoma"/>
                <a:cs typeface="Tahoma"/>
              </a:rPr>
              <a:t> </a:t>
            </a:r>
            <a:r>
              <a:rPr sz="2000" spc="-10" dirty="0">
                <a:latin typeface="Tahoma"/>
                <a:cs typeface="Tahoma"/>
              </a:rPr>
              <a:t>indicated </a:t>
            </a:r>
            <a:r>
              <a:rPr sz="2000" spc="-85" dirty="0">
                <a:latin typeface="Tahoma"/>
                <a:cs typeface="Tahoma"/>
              </a:rPr>
              <a:t>that</a:t>
            </a:r>
            <a:r>
              <a:rPr sz="2000" spc="-105" dirty="0">
                <a:latin typeface="Tahoma"/>
                <a:cs typeface="Tahoma"/>
              </a:rPr>
              <a:t> </a:t>
            </a:r>
            <a:r>
              <a:rPr sz="2000" spc="-95" dirty="0">
                <a:latin typeface="Tahoma"/>
                <a:cs typeface="Tahoma"/>
              </a:rPr>
              <a:t>Efficient</a:t>
            </a:r>
            <a:r>
              <a:rPr sz="2000" spc="-114" dirty="0">
                <a:latin typeface="Tahoma"/>
                <a:cs typeface="Tahoma"/>
              </a:rPr>
              <a:t> </a:t>
            </a:r>
            <a:r>
              <a:rPr sz="2000" spc="-75" dirty="0">
                <a:latin typeface="Tahoma"/>
                <a:cs typeface="Tahoma"/>
              </a:rPr>
              <a:t>Net</a:t>
            </a:r>
            <a:r>
              <a:rPr sz="2000" spc="-105" dirty="0">
                <a:latin typeface="Tahoma"/>
                <a:cs typeface="Tahoma"/>
              </a:rPr>
              <a:t> </a:t>
            </a:r>
            <a:r>
              <a:rPr sz="2000" spc="-70" dirty="0">
                <a:latin typeface="Tahoma"/>
                <a:cs typeface="Tahoma"/>
              </a:rPr>
              <a:t>models</a:t>
            </a:r>
            <a:r>
              <a:rPr sz="2000" spc="-100" dirty="0">
                <a:latin typeface="Tahoma"/>
                <a:cs typeface="Tahoma"/>
              </a:rPr>
              <a:t> </a:t>
            </a:r>
            <a:r>
              <a:rPr sz="2000" spc="-60" dirty="0">
                <a:latin typeface="Tahoma"/>
                <a:cs typeface="Tahoma"/>
              </a:rPr>
              <a:t>also</a:t>
            </a:r>
            <a:r>
              <a:rPr sz="2000" spc="-114" dirty="0">
                <a:latin typeface="Tahoma"/>
                <a:cs typeface="Tahoma"/>
              </a:rPr>
              <a:t> </a:t>
            </a:r>
            <a:r>
              <a:rPr sz="2000" spc="-90" dirty="0">
                <a:latin typeface="Tahoma"/>
                <a:cs typeface="Tahoma"/>
              </a:rPr>
              <a:t>perform </a:t>
            </a:r>
            <a:r>
              <a:rPr sz="2000" spc="-85" dirty="0">
                <a:latin typeface="Tahoma"/>
                <a:cs typeface="Tahoma"/>
              </a:rPr>
              <a:t>exceptionally</a:t>
            </a:r>
            <a:r>
              <a:rPr sz="2000" spc="-120" dirty="0">
                <a:latin typeface="Tahoma"/>
                <a:cs typeface="Tahoma"/>
              </a:rPr>
              <a:t> </a:t>
            </a:r>
            <a:r>
              <a:rPr sz="2000" spc="-70" dirty="0">
                <a:latin typeface="Tahoma"/>
                <a:cs typeface="Tahoma"/>
              </a:rPr>
              <a:t>well</a:t>
            </a:r>
            <a:r>
              <a:rPr sz="2000" spc="-114" dirty="0">
                <a:latin typeface="Tahoma"/>
                <a:cs typeface="Tahoma"/>
              </a:rPr>
              <a:t> </a:t>
            </a:r>
            <a:r>
              <a:rPr sz="2000" spc="-50" dirty="0">
                <a:latin typeface="Tahoma"/>
                <a:cs typeface="Tahoma"/>
              </a:rPr>
              <a:t>in</a:t>
            </a:r>
            <a:r>
              <a:rPr sz="2000" spc="-80" dirty="0">
                <a:latin typeface="Tahoma"/>
                <a:cs typeface="Tahoma"/>
              </a:rPr>
              <a:t> </a:t>
            </a:r>
            <a:r>
              <a:rPr sz="2000" spc="-65" dirty="0">
                <a:latin typeface="Tahoma"/>
                <a:cs typeface="Tahoma"/>
              </a:rPr>
              <a:t>osteoporosis</a:t>
            </a:r>
            <a:r>
              <a:rPr sz="2000" spc="-135" dirty="0">
                <a:latin typeface="Tahoma"/>
                <a:cs typeface="Tahoma"/>
              </a:rPr>
              <a:t> </a:t>
            </a:r>
            <a:r>
              <a:rPr sz="2000" spc="-75" dirty="0">
                <a:latin typeface="Tahoma"/>
                <a:cs typeface="Tahoma"/>
              </a:rPr>
              <a:t>detection</a:t>
            </a:r>
            <a:r>
              <a:rPr sz="2000" spc="-125" dirty="0">
                <a:latin typeface="Tahoma"/>
                <a:cs typeface="Tahoma"/>
              </a:rPr>
              <a:t> </a:t>
            </a:r>
            <a:r>
              <a:rPr sz="2000" spc="-20" dirty="0">
                <a:latin typeface="Tahoma"/>
                <a:cs typeface="Tahoma"/>
              </a:rPr>
              <a:t>from </a:t>
            </a:r>
            <a:r>
              <a:rPr sz="2000" spc="-10" dirty="0">
                <a:latin typeface="Tahoma"/>
                <a:cs typeface="Tahoma"/>
              </a:rPr>
              <a:t>radiographs.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56" y="36017"/>
            <a:ext cx="3127248" cy="91610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832815" y="807846"/>
            <a:ext cx="9902190" cy="49345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4930" indent="-69850">
              <a:lnSpc>
                <a:spcPct val="100000"/>
              </a:lnSpc>
              <a:spcBef>
                <a:spcPts val="105"/>
              </a:spcBef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sz="1400" b="1" spc="-10" dirty="0">
                <a:latin typeface="Tahoma"/>
                <a:cs typeface="Tahoma"/>
              </a:rPr>
              <a:t>Underfitting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400" spc="50" dirty="0">
                <a:latin typeface="Tahoma"/>
                <a:cs typeface="Tahoma"/>
              </a:rPr>
              <a:t>Occurs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when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a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spc="65" dirty="0">
                <a:latin typeface="Tahoma"/>
                <a:cs typeface="Tahoma"/>
              </a:rPr>
              <a:t>model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is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spc="50" dirty="0">
                <a:latin typeface="Tahoma"/>
                <a:cs typeface="Tahoma"/>
              </a:rPr>
              <a:t>too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simple</a:t>
            </a:r>
            <a:r>
              <a:rPr sz="1400" spc="-1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to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capture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underlying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patterns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in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data.</a:t>
            </a:r>
            <a:r>
              <a:rPr sz="1400" spc="-8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Results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in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spc="50" dirty="0">
                <a:latin typeface="Tahoma"/>
                <a:cs typeface="Tahoma"/>
              </a:rPr>
              <a:t>high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training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and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testing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error.</a:t>
            </a:r>
            <a:endParaRPr sz="1400">
              <a:latin typeface="Tahoma"/>
              <a:cs typeface="Tahoma"/>
            </a:endParaRPr>
          </a:p>
          <a:p>
            <a:pPr marL="74930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sz="1400" b="1" spc="-10" dirty="0">
                <a:latin typeface="Tahoma"/>
                <a:cs typeface="Tahoma"/>
              </a:rPr>
              <a:t>Overfitting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400" spc="50" dirty="0">
                <a:latin typeface="Tahoma"/>
                <a:cs typeface="Tahoma"/>
              </a:rPr>
              <a:t>Occurs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when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a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spc="65" dirty="0">
                <a:latin typeface="Tahoma"/>
                <a:cs typeface="Tahoma"/>
              </a:rPr>
              <a:t>model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learns</a:t>
            </a:r>
            <a:r>
              <a:rPr sz="1400" spc="-1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noise</a:t>
            </a:r>
            <a:r>
              <a:rPr sz="1400" spc="-1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and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specific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details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of</a:t>
            </a:r>
            <a:r>
              <a:rPr sz="1400" spc="2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training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data.</a:t>
            </a:r>
            <a:r>
              <a:rPr sz="1400" spc="-7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Low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training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error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but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50" dirty="0">
                <a:latin typeface="Tahoma"/>
                <a:cs typeface="Tahoma"/>
              </a:rPr>
              <a:t>high</a:t>
            </a:r>
            <a:r>
              <a:rPr sz="1400" spc="-1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validation/testing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error.</a:t>
            </a:r>
            <a:endParaRPr sz="1400">
              <a:latin typeface="Tahoma"/>
              <a:cs typeface="Tahoma"/>
            </a:endParaRPr>
          </a:p>
          <a:p>
            <a:pPr marL="74930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sz="1400" b="1" spc="-70" dirty="0">
                <a:latin typeface="Tahoma"/>
                <a:cs typeface="Tahoma"/>
              </a:rPr>
              <a:t>Bias–Variance</a:t>
            </a:r>
            <a:r>
              <a:rPr sz="1400" b="1" spc="-60" dirty="0">
                <a:latin typeface="Tahoma"/>
                <a:cs typeface="Tahoma"/>
              </a:rPr>
              <a:t> </a:t>
            </a:r>
            <a:r>
              <a:rPr sz="1400" b="1" spc="-10" dirty="0">
                <a:latin typeface="Tahoma"/>
                <a:cs typeface="Tahoma"/>
              </a:rPr>
              <a:t>Tradeoff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400" dirty="0">
                <a:latin typeface="Tahoma"/>
                <a:cs typeface="Tahoma"/>
              </a:rPr>
              <a:t>Bias: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Error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spc="70" dirty="0">
                <a:latin typeface="Tahoma"/>
                <a:cs typeface="Tahoma"/>
              </a:rPr>
              <a:t>due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to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overly simple </a:t>
            </a:r>
            <a:r>
              <a:rPr sz="1400" spc="-10" dirty="0">
                <a:latin typeface="Tahoma"/>
                <a:cs typeface="Tahoma"/>
              </a:rPr>
              <a:t>assumptions.</a:t>
            </a:r>
            <a:endParaRPr sz="1400">
              <a:latin typeface="Tahoma"/>
              <a:cs typeface="Tahoma"/>
            </a:endParaRPr>
          </a:p>
          <a:p>
            <a:pPr marL="12700" marR="4335780">
              <a:lnSpc>
                <a:spcPct val="100000"/>
              </a:lnSpc>
            </a:pPr>
            <a:r>
              <a:rPr sz="1400" dirty="0">
                <a:latin typeface="Tahoma"/>
                <a:cs typeface="Tahoma"/>
              </a:rPr>
              <a:t>Variance: Error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spc="70" dirty="0">
                <a:latin typeface="Tahoma"/>
                <a:cs typeface="Tahoma"/>
              </a:rPr>
              <a:t>due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to</a:t>
            </a:r>
            <a:r>
              <a:rPr sz="1400" spc="-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sensitivity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to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small</a:t>
            </a:r>
            <a:r>
              <a:rPr sz="1400" spc="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fluctuations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in</a:t>
            </a:r>
            <a:r>
              <a:rPr sz="1400" spc="-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training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data. </a:t>
            </a:r>
            <a:r>
              <a:rPr sz="1400" spc="140" dirty="0">
                <a:latin typeface="Tahoma"/>
                <a:cs typeface="Tahoma"/>
              </a:rPr>
              <a:t>A</a:t>
            </a:r>
            <a:r>
              <a:rPr sz="1400" spc="-55" dirty="0">
                <a:latin typeface="Tahoma"/>
                <a:cs typeface="Tahoma"/>
              </a:rPr>
              <a:t> </a:t>
            </a:r>
            <a:r>
              <a:rPr sz="1400" spc="95" dirty="0">
                <a:latin typeface="Tahoma"/>
                <a:cs typeface="Tahoma"/>
              </a:rPr>
              <a:t>good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spc="65" dirty="0">
                <a:latin typeface="Tahoma"/>
                <a:cs typeface="Tahoma"/>
              </a:rPr>
              <a:t>model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maintains a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balance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spc="45" dirty="0">
                <a:latin typeface="Tahoma"/>
                <a:cs typeface="Tahoma"/>
              </a:rPr>
              <a:t>between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bias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and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variance.</a:t>
            </a:r>
            <a:endParaRPr sz="1400">
              <a:latin typeface="Tahoma"/>
              <a:cs typeface="Tahoma"/>
            </a:endParaRPr>
          </a:p>
          <a:p>
            <a:pPr marL="74930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sz="1400" b="1" spc="-40" dirty="0">
                <a:latin typeface="Tahoma"/>
                <a:cs typeface="Tahoma"/>
              </a:rPr>
              <a:t>Learning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20" dirty="0">
                <a:latin typeface="Tahoma"/>
                <a:cs typeface="Tahoma"/>
              </a:rPr>
              <a:t>Rate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400" spc="140" dirty="0">
                <a:latin typeface="Tahoma"/>
                <a:cs typeface="Tahoma"/>
              </a:rPr>
              <a:t>A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hyperparameter</a:t>
            </a:r>
            <a:r>
              <a:rPr sz="1400" spc="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that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controls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how</a:t>
            </a:r>
            <a:r>
              <a:rPr sz="1400" spc="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much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spc="65" dirty="0">
                <a:latin typeface="Tahoma"/>
                <a:cs typeface="Tahoma"/>
              </a:rPr>
              <a:t>model</a:t>
            </a:r>
            <a:r>
              <a:rPr sz="1400" dirty="0">
                <a:latin typeface="Tahoma"/>
                <a:cs typeface="Tahoma"/>
              </a:rPr>
              <a:t> weights</a:t>
            </a:r>
            <a:r>
              <a:rPr sz="1400" spc="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are</a:t>
            </a:r>
            <a:r>
              <a:rPr sz="1400" spc="30" dirty="0">
                <a:latin typeface="Tahoma"/>
                <a:cs typeface="Tahoma"/>
              </a:rPr>
              <a:t> </a:t>
            </a:r>
            <a:r>
              <a:rPr sz="1400" spc="55" dirty="0">
                <a:latin typeface="Tahoma"/>
                <a:cs typeface="Tahoma"/>
              </a:rPr>
              <a:t>updated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spc="55" dirty="0">
                <a:latin typeface="Tahoma"/>
                <a:cs typeface="Tahoma"/>
              </a:rPr>
              <a:t>during</a:t>
            </a:r>
            <a:r>
              <a:rPr sz="1400" spc="-10" dirty="0">
                <a:latin typeface="Tahoma"/>
                <a:cs typeface="Tahoma"/>
              </a:rPr>
              <a:t> training.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400" dirty="0">
                <a:latin typeface="Tahoma"/>
                <a:cs typeface="Tahoma"/>
              </a:rPr>
              <a:t>Too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50" dirty="0">
                <a:latin typeface="Tahoma"/>
                <a:cs typeface="Tahoma"/>
              </a:rPr>
              <a:t>high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→</a:t>
            </a:r>
            <a:r>
              <a:rPr sz="1400" spc="45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Tahoma"/>
                <a:cs typeface="Tahoma"/>
              </a:rPr>
              <a:t>unstable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training.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ts val="1675"/>
              </a:lnSpc>
              <a:spcBef>
                <a:spcPts val="5"/>
              </a:spcBef>
            </a:pPr>
            <a:r>
              <a:rPr sz="1400" dirty="0">
                <a:latin typeface="Tahoma"/>
                <a:cs typeface="Tahoma"/>
              </a:rPr>
              <a:t>Too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low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dirty="0">
                <a:latin typeface="Microsoft Sans Serif"/>
                <a:cs typeface="Microsoft Sans Serif"/>
              </a:rPr>
              <a:t>→</a:t>
            </a:r>
            <a:r>
              <a:rPr sz="1400" spc="30" dirty="0">
                <a:latin typeface="Microsoft Sans Serif"/>
                <a:cs typeface="Microsoft Sans Serif"/>
              </a:rPr>
              <a:t> </a:t>
            </a:r>
            <a:r>
              <a:rPr sz="1400" dirty="0">
                <a:latin typeface="Tahoma"/>
                <a:cs typeface="Tahoma"/>
              </a:rPr>
              <a:t>slow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convergence.</a:t>
            </a:r>
            <a:endParaRPr sz="1400">
              <a:latin typeface="Tahoma"/>
              <a:cs typeface="Tahoma"/>
            </a:endParaRPr>
          </a:p>
          <a:p>
            <a:pPr marL="74930" indent="-69850">
              <a:lnSpc>
                <a:spcPts val="1675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sz="1400" b="1" spc="-10" dirty="0">
                <a:latin typeface="Tahoma"/>
                <a:cs typeface="Tahoma"/>
              </a:rPr>
              <a:t>Pooling</a:t>
            </a:r>
            <a:r>
              <a:rPr sz="1400" b="1" spc="-75" dirty="0">
                <a:latin typeface="Tahoma"/>
                <a:cs typeface="Tahoma"/>
              </a:rPr>
              <a:t> </a:t>
            </a:r>
            <a:r>
              <a:rPr sz="1400" b="1" spc="-60" dirty="0">
                <a:latin typeface="Tahoma"/>
                <a:cs typeface="Tahoma"/>
              </a:rPr>
              <a:t>(Not</a:t>
            </a:r>
            <a:r>
              <a:rPr sz="1400" b="1" spc="-65" dirty="0">
                <a:latin typeface="Tahoma"/>
                <a:cs typeface="Tahoma"/>
              </a:rPr>
              <a:t> </a:t>
            </a:r>
            <a:r>
              <a:rPr sz="1400" b="1" spc="-10" dirty="0">
                <a:latin typeface="Tahoma"/>
                <a:cs typeface="Tahoma"/>
              </a:rPr>
              <a:t>Polling)</a:t>
            </a:r>
            <a:endParaRPr sz="1400">
              <a:latin typeface="Tahoma"/>
              <a:cs typeface="Tahoma"/>
            </a:endParaRPr>
          </a:p>
          <a:p>
            <a:pPr marL="12700" marR="9525">
              <a:lnSpc>
                <a:spcPct val="100000"/>
              </a:lnSpc>
            </a:pPr>
            <a:r>
              <a:rPr sz="1400" spc="140" dirty="0">
                <a:latin typeface="Tahoma"/>
                <a:cs typeface="Tahoma"/>
              </a:rPr>
              <a:t>A</a:t>
            </a:r>
            <a:r>
              <a:rPr sz="1400" spc="5" dirty="0">
                <a:latin typeface="Tahoma"/>
                <a:cs typeface="Tahoma"/>
              </a:rPr>
              <a:t> </a:t>
            </a:r>
            <a:r>
              <a:rPr sz="1400" spc="55" dirty="0">
                <a:latin typeface="Tahoma"/>
                <a:cs typeface="Tahoma"/>
              </a:rPr>
              <a:t>down</a:t>
            </a:r>
            <a:r>
              <a:rPr sz="1400" spc="3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sampling</a:t>
            </a:r>
            <a:r>
              <a:rPr sz="1400" spc="6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operation</a:t>
            </a:r>
            <a:r>
              <a:rPr sz="1400" spc="3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in</a:t>
            </a:r>
            <a:r>
              <a:rPr sz="1400" spc="45" dirty="0">
                <a:latin typeface="Tahoma"/>
                <a:cs typeface="Tahoma"/>
              </a:rPr>
              <a:t> </a:t>
            </a:r>
            <a:r>
              <a:rPr sz="1400" spc="100" dirty="0">
                <a:latin typeface="Tahoma"/>
                <a:cs typeface="Tahoma"/>
              </a:rPr>
              <a:t>CNNs</a:t>
            </a:r>
            <a:r>
              <a:rPr sz="1400" spc="8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that</a:t>
            </a:r>
            <a:r>
              <a:rPr sz="1400" spc="3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reduces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spatial</a:t>
            </a:r>
            <a:r>
              <a:rPr sz="1400" spc="6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dimensions</a:t>
            </a:r>
            <a:r>
              <a:rPr sz="1400" spc="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of</a:t>
            </a:r>
            <a:r>
              <a:rPr sz="1400" spc="114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feature</a:t>
            </a:r>
            <a:r>
              <a:rPr sz="1400" spc="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maps</a:t>
            </a:r>
            <a:r>
              <a:rPr sz="1400" spc="65" dirty="0">
                <a:latin typeface="Tahoma"/>
                <a:cs typeface="Tahoma"/>
              </a:rPr>
              <a:t> </a:t>
            </a:r>
            <a:r>
              <a:rPr sz="1400" spc="-25" dirty="0">
                <a:latin typeface="Tahoma"/>
                <a:cs typeface="Tahoma"/>
              </a:rPr>
              <a:t>(e.g.,</a:t>
            </a:r>
            <a:r>
              <a:rPr sz="1400" dirty="0">
                <a:latin typeface="Tahoma"/>
                <a:cs typeface="Tahoma"/>
              </a:rPr>
              <a:t> </a:t>
            </a:r>
            <a:r>
              <a:rPr sz="1400" spc="50" dirty="0">
                <a:latin typeface="Tahoma"/>
                <a:cs typeface="Tahoma"/>
              </a:rPr>
              <a:t>Max</a:t>
            </a:r>
            <a:r>
              <a:rPr sz="1400" spc="4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Pooling,</a:t>
            </a:r>
            <a:r>
              <a:rPr sz="1400" spc="-5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Average</a:t>
            </a:r>
            <a:r>
              <a:rPr sz="1400" spc="3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Pooling), </a:t>
            </a:r>
            <a:r>
              <a:rPr sz="1400" spc="50" dirty="0">
                <a:latin typeface="Tahoma"/>
                <a:cs typeface="Tahoma"/>
              </a:rPr>
              <a:t>helping</a:t>
            </a:r>
            <a:r>
              <a:rPr sz="1400" spc="5" dirty="0">
                <a:latin typeface="Tahoma"/>
                <a:cs typeface="Tahoma"/>
              </a:rPr>
              <a:t> </a:t>
            </a:r>
            <a:r>
              <a:rPr sz="1400" spc="50" dirty="0">
                <a:latin typeface="Tahoma"/>
                <a:cs typeface="Tahoma"/>
              </a:rPr>
              <a:t>reduce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computation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and</a:t>
            </a:r>
            <a:r>
              <a:rPr sz="1400" spc="1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overfitting.</a:t>
            </a:r>
            <a:endParaRPr sz="1400">
              <a:latin typeface="Tahoma"/>
              <a:cs typeface="Tahoma"/>
            </a:endParaRPr>
          </a:p>
          <a:p>
            <a:pPr marL="74930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sz="1400" b="1" spc="-20" dirty="0">
                <a:latin typeface="Tahoma"/>
                <a:cs typeface="Tahoma"/>
              </a:rPr>
              <a:t>Convolutional</a:t>
            </a:r>
            <a:r>
              <a:rPr sz="1400" b="1" spc="-35" dirty="0">
                <a:latin typeface="Tahoma"/>
                <a:cs typeface="Tahoma"/>
              </a:rPr>
              <a:t> </a:t>
            </a:r>
            <a:r>
              <a:rPr sz="1400" b="1" spc="-20" dirty="0">
                <a:latin typeface="Tahoma"/>
                <a:cs typeface="Tahoma"/>
              </a:rPr>
              <a:t>Layer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400" spc="65" dirty="0">
                <a:latin typeface="Tahoma"/>
                <a:cs typeface="Tahoma"/>
              </a:rPr>
              <a:t>Core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layer of</a:t>
            </a:r>
            <a:r>
              <a:rPr sz="1400" spc="25" dirty="0">
                <a:latin typeface="Tahoma"/>
                <a:cs typeface="Tahoma"/>
              </a:rPr>
              <a:t> </a:t>
            </a:r>
            <a:r>
              <a:rPr sz="1400" spc="135" dirty="0">
                <a:latin typeface="Tahoma"/>
                <a:cs typeface="Tahoma"/>
              </a:rPr>
              <a:t>CNN</a:t>
            </a:r>
            <a:r>
              <a:rPr sz="140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that </a:t>
            </a:r>
            <a:r>
              <a:rPr sz="1400" dirty="0">
                <a:latin typeface="Tahoma"/>
                <a:cs typeface="Tahoma"/>
              </a:rPr>
              <a:t>applies</a:t>
            </a:r>
            <a:r>
              <a:rPr sz="1400" spc="-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filters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(kernels)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to</a:t>
            </a:r>
            <a:r>
              <a:rPr sz="1400" spc="-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extract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spatial features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such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as</a:t>
            </a:r>
            <a:r>
              <a:rPr sz="1400" spc="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edges,</a:t>
            </a:r>
            <a:r>
              <a:rPr sz="1400" spc="-8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textures,</a:t>
            </a:r>
            <a:r>
              <a:rPr sz="1400" spc="-8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and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patterns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from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images.</a:t>
            </a:r>
            <a:endParaRPr sz="1400">
              <a:latin typeface="Tahoma"/>
              <a:cs typeface="Tahoma"/>
            </a:endParaRPr>
          </a:p>
          <a:p>
            <a:pPr marL="74295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295" algn="l"/>
              </a:tabLst>
            </a:pPr>
            <a:r>
              <a:rPr sz="1400" b="1" spc="-30" dirty="0">
                <a:latin typeface="Tahoma"/>
                <a:cs typeface="Tahoma"/>
              </a:rPr>
              <a:t>Activation</a:t>
            </a:r>
            <a:r>
              <a:rPr sz="1400" b="1" spc="-45" dirty="0">
                <a:latin typeface="Tahoma"/>
                <a:cs typeface="Tahoma"/>
              </a:rPr>
              <a:t> </a:t>
            </a:r>
            <a:r>
              <a:rPr sz="1400" b="1" spc="-10" dirty="0">
                <a:latin typeface="Tahoma"/>
                <a:cs typeface="Tahoma"/>
              </a:rPr>
              <a:t>Function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400" spc="10" dirty="0">
                <a:latin typeface="Tahoma"/>
                <a:cs typeface="Tahoma"/>
              </a:rPr>
              <a:t>Introduces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non-linearity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into</a:t>
            </a:r>
            <a:r>
              <a:rPr sz="1400" spc="-4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the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network,</a:t>
            </a:r>
            <a:r>
              <a:rPr sz="1400" spc="-9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enabling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it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to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learn</a:t>
            </a:r>
            <a:r>
              <a:rPr sz="1400" dirty="0">
                <a:latin typeface="Tahoma"/>
                <a:cs typeface="Tahoma"/>
              </a:rPr>
              <a:t> </a:t>
            </a:r>
            <a:r>
              <a:rPr sz="1400" spc="45" dirty="0">
                <a:latin typeface="Tahoma"/>
                <a:cs typeface="Tahoma"/>
              </a:rPr>
              <a:t>complex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patterns.</a:t>
            </a:r>
            <a:endParaRPr sz="1400">
              <a:latin typeface="Tahoma"/>
              <a:cs typeface="Tahoma"/>
            </a:endParaRPr>
          </a:p>
          <a:p>
            <a:pPr marL="74930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sz="1400" b="1" spc="-55" dirty="0">
                <a:latin typeface="Tahoma"/>
                <a:cs typeface="Tahoma"/>
              </a:rPr>
              <a:t>Types</a:t>
            </a:r>
            <a:r>
              <a:rPr sz="1400" b="1" spc="-50" dirty="0">
                <a:latin typeface="Tahoma"/>
                <a:cs typeface="Tahoma"/>
              </a:rPr>
              <a:t> </a:t>
            </a:r>
            <a:r>
              <a:rPr sz="1400" b="1" dirty="0">
                <a:latin typeface="Tahoma"/>
                <a:cs typeface="Tahoma"/>
              </a:rPr>
              <a:t>of</a:t>
            </a:r>
            <a:r>
              <a:rPr sz="1400" b="1" spc="-15" dirty="0">
                <a:latin typeface="Tahoma"/>
                <a:cs typeface="Tahoma"/>
              </a:rPr>
              <a:t> </a:t>
            </a:r>
            <a:r>
              <a:rPr sz="1400" b="1" spc="-30" dirty="0">
                <a:latin typeface="Tahoma"/>
                <a:cs typeface="Tahoma"/>
              </a:rPr>
              <a:t>Activation</a:t>
            </a:r>
            <a:r>
              <a:rPr sz="1400" b="1" spc="-75" dirty="0">
                <a:latin typeface="Tahoma"/>
                <a:cs typeface="Tahoma"/>
              </a:rPr>
              <a:t> </a:t>
            </a:r>
            <a:r>
              <a:rPr sz="1400" b="1" spc="-10" dirty="0">
                <a:latin typeface="Tahoma"/>
                <a:cs typeface="Tahoma"/>
              </a:rPr>
              <a:t>Functions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400" spc="-10" dirty="0">
                <a:latin typeface="Tahoma"/>
                <a:cs typeface="Tahoma"/>
              </a:rPr>
              <a:t>ReLU,</a:t>
            </a:r>
            <a:r>
              <a:rPr sz="1400" spc="-6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Sigmoid,</a:t>
            </a:r>
            <a:r>
              <a:rPr sz="1400" spc="-95" dirty="0">
                <a:latin typeface="Tahoma"/>
                <a:cs typeface="Tahoma"/>
              </a:rPr>
              <a:t> </a:t>
            </a:r>
            <a:r>
              <a:rPr sz="1400" spc="-35" dirty="0">
                <a:latin typeface="Tahoma"/>
                <a:cs typeface="Tahoma"/>
              </a:rPr>
              <a:t>Tanh,</a:t>
            </a:r>
            <a:r>
              <a:rPr sz="1400" spc="-6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Leaky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ReLU,</a:t>
            </a:r>
            <a:r>
              <a:rPr sz="1400" spc="-5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Softmax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spc="-434" dirty="0">
                <a:latin typeface="Tahoma"/>
                <a:cs typeface="Tahoma"/>
              </a:rPr>
              <a:t>—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each</a:t>
            </a:r>
            <a:r>
              <a:rPr sz="1400" spc="1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used </a:t>
            </a:r>
            <a:r>
              <a:rPr sz="1400" spc="75" dirty="0">
                <a:latin typeface="Tahoma"/>
                <a:cs typeface="Tahoma"/>
              </a:rPr>
              <a:t>depending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60" dirty="0">
                <a:latin typeface="Tahoma"/>
                <a:cs typeface="Tahoma"/>
              </a:rPr>
              <a:t>on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network </a:t>
            </a:r>
            <a:r>
              <a:rPr sz="1400" spc="60" dirty="0">
                <a:latin typeface="Tahoma"/>
                <a:cs typeface="Tahoma"/>
              </a:rPr>
              <a:t>depth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and</a:t>
            </a:r>
            <a:r>
              <a:rPr sz="1400" spc="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classification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type.</a:t>
            </a:r>
            <a:endParaRPr sz="1400">
              <a:latin typeface="Tahoma"/>
              <a:cs typeface="Tahoma"/>
            </a:endParaRPr>
          </a:p>
          <a:p>
            <a:pPr marL="74930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sz="1400" b="1" spc="-40" dirty="0">
                <a:latin typeface="Tahoma"/>
                <a:cs typeface="Tahoma"/>
              </a:rPr>
              <a:t>Regularization</a:t>
            </a:r>
            <a:r>
              <a:rPr sz="1400" b="1" spc="25" dirty="0">
                <a:latin typeface="Tahoma"/>
                <a:cs typeface="Tahoma"/>
              </a:rPr>
              <a:t> </a:t>
            </a:r>
            <a:r>
              <a:rPr sz="1400" b="1" spc="-10" dirty="0">
                <a:latin typeface="Tahoma"/>
                <a:cs typeface="Tahoma"/>
              </a:rPr>
              <a:t>Concept</a:t>
            </a:r>
            <a:endParaRPr sz="1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</a:pPr>
            <a:r>
              <a:rPr sz="1400" spc="10" dirty="0">
                <a:latin typeface="Tahoma"/>
                <a:cs typeface="Tahoma"/>
              </a:rPr>
              <a:t>Techniques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used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to</a:t>
            </a:r>
            <a:r>
              <a:rPr sz="1400" spc="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prevent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overfitting,</a:t>
            </a:r>
            <a:r>
              <a:rPr sz="1400" spc="-9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such</a:t>
            </a:r>
            <a:r>
              <a:rPr sz="1400" spc="-1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as</a:t>
            </a:r>
            <a:r>
              <a:rPr sz="1400" spc="2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Dropout,</a:t>
            </a:r>
            <a:r>
              <a:rPr sz="1400" spc="-7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L1/L2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regularization,</a:t>
            </a:r>
            <a:r>
              <a:rPr sz="1400" spc="-7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and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Data</a:t>
            </a:r>
            <a:r>
              <a:rPr sz="1400" spc="-3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Augmentation.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8628" rIns="0" bIns="0" rtlCol="0">
            <a:spAutoFit/>
          </a:bodyPr>
          <a:lstStyle/>
          <a:p>
            <a:pPr marL="365760">
              <a:lnSpc>
                <a:spcPct val="100000"/>
              </a:lnSpc>
              <a:spcBef>
                <a:spcPts val="100"/>
              </a:spcBef>
            </a:pPr>
            <a:r>
              <a:rPr dirty="0"/>
              <a:t>Key</a:t>
            </a:r>
            <a:r>
              <a:rPr spc="-110" dirty="0"/>
              <a:t> </a:t>
            </a:r>
            <a:r>
              <a:rPr spc="-10" dirty="0"/>
              <a:t>Machine</a:t>
            </a:r>
            <a:r>
              <a:rPr spc="-75" dirty="0"/>
              <a:t> </a:t>
            </a:r>
            <a:r>
              <a:rPr spc="-45" dirty="0"/>
              <a:t>Learning</a:t>
            </a:r>
            <a:r>
              <a:rPr spc="-65" dirty="0"/>
              <a:t> </a:t>
            </a:r>
            <a:r>
              <a:rPr dirty="0"/>
              <a:t>&amp;</a:t>
            </a:r>
            <a:r>
              <a:rPr spc="-105" dirty="0"/>
              <a:t> </a:t>
            </a:r>
            <a:r>
              <a:rPr dirty="0"/>
              <a:t>Deep</a:t>
            </a:r>
            <a:r>
              <a:rPr spc="-80" dirty="0"/>
              <a:t> </a:t>
            </a:r>
            <a:r>
              <a:rPr spc="-45" dirty="0"/>
              <a:t>Learning</a:t>
            </a:r>
            <a:r>
              <a:rPr spc="-70" dirty="0"/>
              <a:t> </a:t>
            </a:r>
            <a:r>
              <a:rPr spc="-10" dirty="0"/>
              <a:t>Concepts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400" spc="-130" dirty="0">
                <a:latin typeface="Arial"/>
                <a:cs typeface="Arial"/>
              </a:rPr>
              <a:t>Current</a:t>
            </a:r>
            <a:r>
              <a:rPr sz="5400" spc="-175" dirty="0">
                <a:latin typeface="Arial"/>
                <a:cs typeface="Arial"/>
              </a:rPr>
              <a:t> </a:t>
            </a:r>
            <a:r>
              <a:rPr sz="5400" spc="-215" dirty="0">
                <a:latin typeface="Arial"/>
                <a:cs typeface="Arial"/>
              </a:rPr>
              <a:t>Progress:-</a:t>
            </a:r>
            <a:r>
              <a:rPr sz="5400" spc="-160" dirty="0">
                <a:latin typeface="Arial"/>
                <a:cs typeface="Arial"/>
              </a:rPr>
              <a:t> </a:t>
            </a:r>
            <a:r>
              <a:rPr sz="5400" spc="-615" dirty="0">
                <a:latin typeface="Arial"/>
                <a:cs typeface="Arial"/>
              </a:rPr>
              <a:t>RESNET</a:t>
            </a:r>
            <a:endParaRPr sz="54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56" y="36017"/>
            <a:ext cx="3127248" cy="91610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34897" y="1351914"/>
            <a:ext cx="9117330" cy="514794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4930" indent="-69850">
              <a:lnSpc>
                <a:spcPct val="100000"/>
              </a:lnSpc>
              <a:spcBef>
                <a:spcPts val="105"/>
              </a:spcBef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sz="1400" dirty="0">
                <a:latin typeface="Arial MT"/>
                <a:cs typeface="Arial MT"/>
              </a:rPr>
              <a:t>Constructed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curated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medical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image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dataset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consisting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b="1" dirty="0">
                <a:latin typeface="Arial"/>
                <a:cs typeface="Arial"/>
              </a:rPr>
              <a:t>10,000</a:t>
            </a:r>
            <a:r>
              <a:rPr sz="1400" b="1" spc="-5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labeled</a:t>
            </a:r>
            <a:r>
              <a:rPr sz="1400" b="1" spc="-6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samples</a:t>
            </a:r>
            <a:r>
              <a:rPr sz="1400" b="1" spc="-45" dirty="0">
                <a:latin typeface="Arial"/>
                <a:cs typeface="Arial"/>
              </a:rPr>
              <a:t> </a:t>
            </a:r>
            <a:r>
              <a:rPr sz="1400" dirty="0">
                <a:latin typeface="Arial MT"/>
                <a:cs typeface="Arial MT"/>
              </a:rPr>
              <a:t>for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osteoporosis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classification.</a:t>
            </a:r>
            <a:endParaRPr sz="1400">
              <a:latin typeface="Arial MT"/>
              <a:cs typeface="Arial MT"/>
            </a:endParaRPr>
          </a:p>
          <a:p>
            <a:pPr marL="74930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sz="1400" dirty="0">
                <a:latin typeface="Arial MT"/>
                <a:cs typeface="Arial MT"/>
              </a:rPr>
              <a:t>Performed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systematic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data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preprocessing:</a:t>
            </a:r>
            <a:endParaRPr sz="1400">
              <a:latin typeface="Arial MT"/>
              <a:cs typeface="Arial MT"/>
            </a:endParaRPr>
          </a:p>
          <a:p>
            <a:pPr marL="74295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295" algn="l"/>
              </a:tabLst>
            </a:pPr>
            <a:r>
              <a:rPr sz="1400" dirty="0">
                <a:latin typeface="Arial MT"/>
                <a:cs typeface="Arial MT"/>
              </a:rPr>
              <a:t>Image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resizing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normalization</a:t>
            </a:r>
            <a:endParaRPr sz="1400">
              <a:latin typeface="Arial MT"/>
              <a:cs typeface="Arial MT"/>
            </a:endParaRPr>
          </a:p>
          <a:p>
            <a:pPr marL="74930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sz="1400" dirty="0">
                <a:latin typeface="Arial MT"/>
                <a:cs typeface="Arial MT"/>
              </a:rPr>
              <a:t>Data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augmentation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(to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reduce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overfitting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improve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generalization)</a:t>
            </a:r>
            <a:endParaRPr sz="1400">
              <a:latin typeface="Arial MT"/>
              <a:cs typeface="Arial MT"/>
            </a:endParaRPr>
          </a:p>
          <a:p>
            <a:pPr marL="74930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sz="1400" dirty="0">
                <a:latin typeface="Arial MT"/>
                <a:cs typeface="Arial MT"/>
              </a:rPr>
              <a:t>Stratified</a:t>
            </a:r>
            <a:r>
              <a:rPr sz="1400" spc="2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train</a:t>
            </a:r>
            <a:r>
              <a:rPr sz="1400" dirty="0">
                <a:latin typeface="Microsoft Sans Serif"/>
                <a:cs typeface="Microsoft Sans Serif"/>
              </a:rPr>
              <a:t>–</a:t>
            </a:r>
            <a:r>
              <a:rPr sz="1400" dirty="0">
                <a:latin typeface="Arial MT"/>
                <a:cs typeface="Arial MT"/>
              </a:rPr>
              <a:t>validation</a:t>
            </a:r>
            <a:r>
              <a:rPr sz="1400" dirty="0">
                <a:latin typeface="Microsoft Sans Serif"/>
                <a:cs typeface="Microsoft Sans Serif"/>
              </a:rPr>
              <a:t>–</a:t>
            </a:r>
            <a:r>
              <a:rPr sz="1400" dirty="0">
                <a:latin typeface="Arial MT"/>
                <a:cs typeface="Arial MT"/>
              </a:rPr>
              <a:t>test</a:t>
            </a:r>
            <a:r>
              <a:rPr sz="1400" spc="26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split</a:t>
            </a:r>
            <a:endParaRPr sz="1400">
              <a:latin typeface="Arial MT"/>
              <a:cs typeface="Arial MT"/>
            </a:endParaRPr>
          </a:p>
          <a:p>
            <a:pPr marL="74930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sz="1400" dirty="0">
                <a:latin typeface="Arial MT"/>
                <a:cs typeface="Arial MT"/>
              </a:rPr>
              <a:t>Implemented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transfer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learning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using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two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state-</a:t>
            </a:r>
            <a:r>
              <a:rPr sz="1400" spc="-10" dirty="0">
                <a:latin typeface="Arial MT"/>
                <a:cs typeface="Arial MT"/>
              </a:rPr>
              <a:t>of-the-</a:t>
            </a:r>
            <a:r>
              <a:rPr sz="1400" dirty="0">
                <a:latin typeface="Arial MT"/>
                <a:cs typeface="Arial MT"/>
              </a:rPr>
              <a:t>art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CNN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architectures:</a:t>
            </a:r>
            <a:endParaRPr sz="1400">
              <a:latin typeface="Arial MT"/>
              <a:cs typeface="Arial MT"/>
            </a:endParaRPr>
          </a:p>
          <a:p>
            <a:pPr marL="74930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sz="1400" b="1" dirty="0">
                <a:latin typeface="Arial"/>
                <a:cs typeface="Arial"/>
              </a:rPr>
              <a:t>EfficientNet</a:t>
            </a:r>
            <a:r>
              <a:rPr sz="1400" b="1" spc="-65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(B3</a:t>
            </a:r>
            <a:r>
              <a:rPr sz="1400" b="1" spc="-35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variant)</a:t>
            </a:r>
            <a:endParaRPr sz="1400">
              <a:latin typeface="Arial"/>
              <a:cs typeface="Arial"/>
            </a:endParaRPr>
          </a:p>
          <a:p>
            <a:pPr marL="74930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sz="1400" b="1" dirty="0">
                <a:latin typeface="Arial"/>
                <a:cs typeface="Arial"/>
              </a:rPr>
              <a:t>ResNet</a:t>
            </a:r>
            <a:r>
              <a:rPr sz="1400" b="1" spc="-5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(pretrained</a:t>
            </a:r>
            <a:r>
              <a:rPr sz="1400" b="1" spc="-7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on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ImageNet)</a:t>
            </a:r>
            <a:endParaRPr sz="1400">
              <a:latin typeface="Arial"/>
              <a:cs typeface="Arial"/>
            </a:endParaRPr>
          </a:p>
          <a:p>
            <a:pPr marL="74930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sz="1400" dirty="0">
                <a:latin typeface="Arial MT"/>
                <a:cs typeface="Arial MT"/>
              </a:rPr>
              <a:t>Modified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the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final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fully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connected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layers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perform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b="1" dirty="0">
                <a:latin typeface="Arial"/>
                <a:cs typeface="Arial"/>
              </a:rPr>
              <a:t>binary</a:t>
            </a:r>
            <a:r>
              <a:rPr sz="1400" b="1" spc="-3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classification</a:t>
            </a:r>
            <a:r>
              <a:rPr sz="1400" b="1" spc="-50" dirty="0">
                <a:latin typeface="Arial"/>
                <a:cs typeface="Arial"/>
              </a:rPr>
              <a:t> </a:t>
            </a:r>
            <a:r>
              <a:rPr sz="1400" b="1" spc="-10" dirty="0">
                <a:latin typeface="Arial"/>
                <a:cs typeface="Arial"/>
              </a:rPr>
              <a:t>(Osteoporosis</a:t>
            </a:r>
            <a:r>
              <a:rPr sz="1400" b="1" spc="-40" dirty="0">
                <a:latin typeface="Arial"/>
                <a:cs typeface="Arial"/>
              </a:rPr>
              <a:t> </a:t>
            </a:r>
            <a:r>
              <a:rPr sz="1400" b="1" dirty="0">
                <a:latin typeface="Arial"/>
                <a:cs typeface="Arial"/>
              </a:rPr>
              <a:t>vs</a:t>
            </a:r>
            <a:r>
              <a:rPr sz="1400" b="1" spc="-10" dirty="0">
                <a:latin typeface="Arial"/>
                <a:cs typeface="Arial"/>
              </a:rPr>
              <a:t> Normal)</a:t>
            </a:r>
            <a:r>
              <a:rPr sz="1400" spc="-10" dirty="0">
                <a:latin typeface="Arial MT"/>
                <a:cs typeface="Arial MT"/>
              </a:rPr>
              <a:t>.</a:t>
            </a:r>
            <a:endParaRPr sz="1400">
              <a:latin typeface="Arial MT"/>
              <a:cs typeface="Arial MT"/>
            </a:endParaRPr>
          </a:p>
          <a:p>
            <a:pPr marL="74930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sz="1400" spc="-10" dirty="0">
                <a:latin typeface="Arial MT"/>
                <a:cs typeface="Arial MT"/>
              </a:rPr>
              <a:t>Trained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both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models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using:</a:t>
            </a:r>
            <a:endParaRPr sz="1400">
              <a:latin typeface="Arial MT"/>
              <a:cs typeface="Arial MT"/>
            </a:endParaRPr>
          </a:p>
          <a:p>
            <a:pPr marL="74295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295" algn="l"/>
              </a:tabLst>
            </a:pPr>
            <a:r>
              <a:rPr sz="1400" spc="-10" dirty="0">
                <a:latin typeface="Arial MT"/>
                <a:cs typeface="Arial MT"/>
              </a:rPr>
              <a:t>Cross-</a:t>
            </a:r>
            <a:r>
              <a:rPr sz="1400" dirty="0">
                <a:latin typeface="Arial MT"/>
                <a:cs typeface="Arial MT"/>
              </a:rPr>
              <a:t>Entropy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20" dirty="0">
                <a:latin typeface="Arial MT"/>
                <a:cs typeface="Arial MT"/>
              </a:rPr>
              <a:t>Loss</a:t>
            </a:r>
            <a:endParaRPr sz="1400">
              <a:latin typeface="Arial MT"/>
              <a:cs typeface="Arial MT"/>
            </a:endParaRPr>
          </a:p>
          <a:p>
            <a:pPr marL="74930" indent="-69850">
              <a:lnSpc>
                <a:spcPct val="100000"/>
              </a:lnSpc>
              <a:spcBef>
                <a:spcPts val="5"/>
              </a:spcBef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sz="1400" dirty="0">
                <a:latin typeface="Arial MT"/>
                <a:cs typeface="Arial MT"/>
              </a:rPr>
              <a:t>Adam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optimizer</a:t>
            </a:r>
            <a:endParaRPr sz="1400">
              <a:latin typeface="Arial MT"/>
              <a:cs typeface="Arial MT"/>
            </a:endParaRPr>
          </a:p>
          <a:p>
            <a:pPr marL="74930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sz="1400" dirty="0">
                <a:latin typeface="Arial MT"/>
                <a:cs typeface="Arial MT"/>
              </a:rPr>
              <a:t>Learning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rate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tuning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early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stopping</a:t>
            </a:r>
            <a:endParaRPr sz="1400">
              <a:latin typeface="Arial MT"/>
              <a:cs typeface="Arial MT"/>
            </a:endParaRPr>
          </a:p>
          <a:p>
            <a:pPr marL="74930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sz="1400" dirty="0">
                <a:latin typeface="Arial MT"/>
                <a:cs typeface="Arial MT"/>
              </a:rPr>
              <a:t>Monitored</a:t>
            </a:r>
            <a:r>
              <a:rPr sz="1400" spc="-7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model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performance</a:t>
            </a:r>
            <a:r>
              <a:rPr sz="1400" spc="-7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using:</a:t>
            </a:r>
            <a:endParaRPr sz="1400">
              <a:latin typeface="Arial MT"/>
              <a:cs typeface="Arial MT"/>
            </a:endParaRPr>
          </a:p>
          <a:p>
            <a:pPr marL="74930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sz="1400" spc="-10" dirty="0">
                <a:latin typeface="Arial MT"/>
                <a:cs typeface="Arial MT"/>
              </a:rPr>
              <a:t>Training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Validation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Loss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Curves</a:t>
            </a:r>
            <a:endParaRPr sz="1400">
              <a:latin typeface="Arial MT"/>
              <a:cs typeface="Arial MT"/>
            </a:endParaRPr>
          </a:p>
          <a:p>
            <a:pPr marL="74930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sz="1400" dirty="0">
                <a:latin typeface="Arial MT"/>
                <a:cs typeface="Arial MT"/>
              </a:rPr>
              <a:t>Accuracy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Curves</a:t>
            </a:r>
            <a:endParaRPr sz="1400">
              <a:latin typeface="Arial MT"/>
              <a:cs typeface="Arial MT"/>
            </a:endParaRPr>
          </a:p>
          <a:p>
            <a:pPr marL="74930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sz="1400" dirty="0">
                <a:latin typeface="Arial MT"/>
                <a:cs typeface="Arial MT"/>
              </a:rPr>
              <a:t>Confusion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Matrix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spc="-55" dirty="0">
                <a:latin typeface="Arial MT"/>
                <a:cs typeface="Arial MT"/>
              </a:rPr>
              <a:t>(TP,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TN,</a:t>
            </a:r>
            <a:r>
              <a:rPr sz="1400" spc="-10" dirty="0">
                <a:latin typeface="Arial MT"/>
                <a:cs typeface="Arial MT"/>
              </a:rPr>
              <a:t> </a:t>
            </a:r>
            <a:r>
              <a:rPr sz="1400" spc="-70" dirty="0">
                <a:latin typeface="Arial MT"/>
                <a:cs typeface="Arial MT"/>
              </a:rPr>
              <a:t>FP,</a:t>
            </a:r>
            <a:r>
              <a:rPr sz="1400" spc="-2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FN</a:t>
            </a:r>
            <a:r>
              <a:rPr sz="1400" spc="-10" dirty="0">
                <a:latin typeface="Arial MT"/>
                <a:cs typeface="Arial MT"/>
              </a:rPr>
              <a:t> analysis)</a:t>
            </a:r>
            <a:endParaRPr sz="1400">
              <a:latin typeface="Arial MT"/>
              <a:cs typeface="Arial MT"/>
            </a:endParaRPr>
          </a:p>
          <a:p>
            <a:pPr marL="74295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295" algn="l"/>
              </a:tabLst>
            </a:pPr>
            <a:r>
              <a:rPr sz="1400" dirty="0">
                <a:latin typeface="Arial MT"/>
                <a:cs typeface="Arial MT"/>
              </a:rPr>
              <a:t>ROC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Curve</a:t>
            </a:r>
            <a:r>
              <a:rPr sz="1400" spc="-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and</a:t>
            </a:r>
            <a:r>
              <a:rPr sz="1400" spc="-10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AUC Score</a:t>
            </a:r>
            <a:r>
              <a:rPr sz="1400" spc="-1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for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threshold-independent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evaluation</a:t>
            </a:r>
            <a:endParaRPr sz="1400">
              <a:latin typeface="Arial MT"/>
              <a:cs typeface="Arial MT"/>
            </a:endParaRPr>
          </a:p>
          <a:p>
            <a:pPr marL="74930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sz="1400" dirty="0">
                <a:latin typeface="Arial MT"/>
                <a:cs typeface="Arial MT"/>
              </a:rPr>
              <a:t>Performed</a:t>
            </a:r>
            <a:r>
              <a:rPr sz="1400" spc="-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comparative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analysis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of</a:t>
            </a:r>
            <a:r>
              <a:rPr sz="1400" spc="-2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EfficientNet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ResNet</a:t>
            </a:r>
            <a:r>
              <a:rPr sz="1400" spc="-3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to</a:t>
            </a:r>
            <a:r>
              <a:rPr sz="1400" spc="-3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evaluate:</a:t>
            </a:r>
            <a:endParaRPr sz="1400">
              <a:latin typeface="Arial MT"/>
              <a:cs typeface="Arial MT"/>
            </a:endParaRPr>
          </a:p>
          <a:p>
            <a:pPr marL="74930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sz="1400" dirty="0">
                <a:latin typeface="Arial MT"/>
                <a:cs typeface="Arial MT"/>
              </a:rPr>
              <a:t>Classification</a:t>
            </a:r>
            <a:r>
              <a:rPr sz="1400" spc="-7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accuracy</a:t>
            </a:r>
            <a:endParaRPr sz="1400">
              <a:latin typeface="Arial MT"/>
              <a:cs typeface="Arial MT"/>
            </a:endParaRPr>
          </a:p>
          <a:p>
            <a:pPr marL="74930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sz="1400" dirty="0">
                <a:latin typeface="Arial MT"/>
                <a:cs typeface="Arial MT"/>
              </a:rPr>
              <a:t>Sensitivity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&amp;</a:t>
            </a:r>
            <a:r>
              <a:rPr sz="1400" spc="-10" dirty="0">
                <a:latin typeface="Arial MT"/>
                <a:cs typeface="Arial MT"/>
              </a:rPr>
              <a:t> Specificity</a:t>
            </a:r>
            <a:endParaRPr sz="1400">
              <a:latin typeface="Arial MT"/>
              <a:cs typeface="Arial MT"/>
            </a:endParaRPr>
          </a:p>
          <a:p>
            <a:pPr marL="74930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sz="1400" spc="-10" dirty="0">
                <a:latin typeface="Arial MT"/>
                <a:cs typeface="Arial MT"/>
              </a:rPr>
              <a:t>Generalization</a:t>
            </a:r>
            <a:r>
              <a:rPr sz="1400" spc="2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capability</a:t>
            </a:r>
            <a:endParaRPr sz="1400">
              <a:latin typeface="Arial MT"/>
              <a:cs typeface="Arial MT"/>
            </a:endParaRPr>
          </a:p>
          <a:p>
            <a:pPr marL="12700" marR="294005" indent="-762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sz="1400" dirty="0">
                <a:latin typeface="Arial MT"/>
                <a:cs typeface="Arial MT"/>
              </a:rPr>
              <a:t>	Observed</a:t>
            </a:r>
            <a:r>
              <a:rPr sz="1400" spc="-5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stable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convergence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behavior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and</a:t>
            </a:r>
            <a:r>
              <a:rPr sz="1400" spc="-4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clinically</a:t>
            </a:r>
            <a:r>
              <a:rPr sz="1400" spc="-4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meaningful</a:t>
            </a:r>
            <a:r>
              <a:rPr sz="1400" spc="-6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prediction</a:t>
            </a:r>
            <a:r>
              <a:rPr sz="1400" spc="-7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performance,</a:t>
            </a:r>
            <a:r>
              <a:rPr sz="1400" spc="-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indicating</a:t>
            </a:r>
            <a:r>
              <a:rPr sz="1400" spc="-65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feasibility</a:t>
            </a:r>
            <a:r>
              <a:rPr sz="1400" spc="-55" dirty="0">
                <a:latin typeface="Arial MT"/>
                <a:cs typeface="Arial MT"/>
              </a:rPr>
              <a:t> </a:t>
            </a:r>
            <a:r>
              <a:rPr sz="1400" spc="-25" dirty="0">
                <a:latin typeface="Arial MT"/>
                <a:cs typeface="Arial MT"/>
              </a:rPr>
              <a:t>of </a:t>
            </a:r>
            <a:r>
              <a:rPr sz="1400" dirty="0">
                <a:latin typeface="Arial MT"/>
                <a:cs typeface="Arial MT"/>
              </a:rPr>
              <a:t>automated</a:t>
            </a:r>
            <a:r>
              <a:rPr sz="1400" spc="-70" dirty="0">
                <a:latin typeface="Arial MT"/>
                <a:cs typeface="Arial MT"/>
              </a:rPr>
              <a:t> </a:t>
            </a:r>
            <a:r>
              <a:rPr sz="1400" dirty="0">
                <a:latin typeface="Arial MT"/>
                <a:cs typeface="Arial MT"/>
              </a:rPr>
              <a:t>osteoporosis</a:t>
            </a:r>
            <a:r>
              <a:rPr sz="1400" spc="-65" dirty="0">
                <a:latin typeface="Arial MT"/>
                <a:cs typeface="Arial MT"/>
              </a:rPr>
              <a:t> </a:t>
            </a:r>
            <a:r>
              <a:rPr sz="1400" spc="-10" dirty="0">
                <a:latin typeface="Arial MT"/>
                <a:cs typeface="Arial MT"/>
              </a:rPr>
              <a:t>screening.</a:t>
            </a:r>
            <a:endParaRPr sz="1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0756" y="36017"/>
            <a:ext cx="11320780" cy="6480810"/>
            <a:chOff x="100756" y="36017"/>
            <a:chExt cx="11320780" cy="64808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0756" y="36017"/>
              <a:ext cx="3127248" cy="916101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31109" y="843572"/>
              <a:ext cx="8390382" cy="5673090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849274" y="864870"/>
            <a:ext cx="191452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2000" spc="-35" dirty="0"/>
              <a:t>Sample</a:t>
            </a:r>
            <a:r>
              <a:rPr sz="2000" spc="-95" dirty="0"/>
              <a:t> </a:t>
            </a:r>
            <a:r>
              <a:rPr sz="2000" spc="-55" dirty="0"/>
              <a:t>data</a:t>
            </a:r>
            <a:r>
              <a:rPr sz="2000" spc="-75" dirty="0"/>
              <a:t> </a:t>
            </a:r>
            <a:r>
              <a:rPr sz="2000" spc="-25" dirty="0"/>
              <a:t>to </a:t>
            </a:r>
            <a:r>
              <a:rPr sz="2000" spc="-70" dirty="0"/>
              <a:t>train</a:t>
            </a:r>
            <a:r>
              <a:rPr sz="2000" spc="-85" dirty="0"/>
              <a:t> </a:t>
            </a:r>
            <a:r>
              <a:rPr sz="2000" spc="-45" dirty="0"/>
              <a:t>the</a:t>
            </a:r>
            <a:r>
              <a:rPr sz="2000" spc="-80" dirty="0"/>
              <a:t> </a:t>
            </a:r>
            <a:r>
              <a:rPr sz="2000" spc="-20" dirty="0"/>
              <a:t>model</a:t>
            </a:r>
            <a:endParaRPr sz="2000"/>
          </a:p>
        </p:txBody>
      </p:sp>
      <p:sp>
        <p:nvSpPr>
          <p:cNvPr id="6" name="object 6"/>
          <p:cNvSpPr txBox="1"/>
          <p:nvPr/>
        </p:nvSpPr>
        <p:spPr>
          <a:xfrm>
            <a:off x="880363" y="1541145"/>
            <a:ext cx="2136140" cy="1397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16839" algn="just">
              <a:lnSpc>
                <a:spcPct val="100000"/>
              </a:lnSpc>
              <a:spcBef>
                <a:spcPts val="100"/>
              </a:spcBef>
            </a:pPr>
            <a:r>
              <a:rPr sz="1800" b="1" spc="-50" dirty="0">
                <a:latin typeface="Tahoma"/>
                <a:cs typeface="Tahoma"/>
              </a:rPr>
              <a:t>DATA</a:t>
            </a:r>
            <a:r>
              <a:rPr sz="1800" b="1" spc="-60" dirty="0">
                <a:latin typeface="Tahoma"/>
                <a:cs typeface="Tahoma"/>
              </a:rPr>
              <a:t> </a:t>
            </a:r>
            <a:r>
              <a:rPr sz="1800" b="1" spc="-10" dirty="0">
                <a:latin typeface="Tahoma"/>
                <a:cs typeface="Tahoma"/>
              </a:rPr>
              <a:t>COLLECTED FROM:-</a:t>
            </a:r>
            <a:endParaRPr sz="1800">
              <a:latin typeface="Tahoma"/>
              <a:cs typeface="Tahoma"/>
            </a:endParaRPr>
          </a:p>
          <a:p>
            <a:pPr marL="12700" marR="5080" algn="just">
              <a:lnSpc>
                <a:spcPct val="100000"/>
              </a:lnSpc>
            </a:pPr>
            <a:r>
              <a:rPr sz="1800" spc="-10" dirty="0">
                <a:latin typeface="Tahoma"/>
                <a:cs typeface="Tahoma"/>
              </a:rPr>
              <a:t>https://www.kaggle. com/datasets/tomm yngx/kneeoa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5662" y="718184"/>
            <a:ext cx="57181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b="0" dirty="0">
                <a:solidFill>
                  <a:srgbClr val="17365D"/>
                </a:solidFill>
                <a:latin typeface="Calibri"/>
                <a:cs typeface="Calibri"/>
              </a:rPr>
              <a:t>Model</a:t>
            </a:r>
            <a:r>
              <a:rPr sz="4400" b="0" spc="-5" dirty="0">
                <a:solidFill>
                  <a:srgbClr val="17365D"/>
                </a:solidFill>
                <a:latin typeface="Calibri"/>
                <a:cs typeface="Calibri"/>
              </a:rPr>
              <a:t> </a:t>
            </a:r>
            <a:r>
              <a:rPr sz="4400" b="0" dirty="0">
                <a:solidFill>
                  <a:srgbClr val="17365D"/>
                </a:solidFill>
                <a:latin typeface="Calibri"/>
                <a:cs typeface="Calibri"/>
              </a:rPr>
              <a:t>Evaluation </a:t>
            </a:r>
            <a:r>
              <a:rPr sz="4400" b="0" spc="-10" dirty="0">
                <a:solidFill>
                  <a:srgbClr val="17365D"/>
                </a:solidFill>
                <a:latin typeface="Calibri"/>
                <a:cs typeface="Calibri"/>
              </a:rPr>
              <a:t>Report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5662" y="1582292"/>
            <a:ext cx="5895975" cy="3743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1800" dirty="0">
                <a:latin typeface="Cambria"/>
                <a:cs typeface="Cambria"/>
              </a:rPr>
              <a:t>This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report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presents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evaluation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deep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learning </a:t>
            </a:r>
            <a:r>
              <a:rPr sz="1800" dirty="0">
                <a:latin typeface="Cambria"/>
                <a:cs typeface="Cambria"/>
              </a:rPr>
              <a:t>model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trained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for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X-</a:t>
            </a:r>
            <a:r>
              <a:rPr sz="1800" dirty="0">
                <a:latin typeface="Cambria"/>
                <a:cs typeface="Cambria"/>
              </a:rPr>
              <a:t>ray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image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classification.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The </a:t>
            </a:r>
            <a:r>
              <a:rPr sz="1800" dirty="0">
                <a:latin typeface="Cambria"/>
                <a:cs typeface="Cambria"/>
              </a:rPr>
              <a:t>performance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is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analyzed</a:t>
            </a:r>
            <a:r>
              <a:rPr sz="1800" spc="-7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using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Accuracy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curves,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Loss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curves, </a:t>
            </a:r>
            <a:r>
              <a:rPr sz="1800" dirty="0">
                <a:latin typeface="Cambria"/>
                <a:cs typeface="Cambria"/>
              </a:rPr>
              <a:t>Confusion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Matrix,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and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ROC–AUC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metrics.</a:t>
            </a:r>
            <a:endParaRPr sz="1800">
              <a:latin typeface="Cambria"/>
              <a:cs typeface="Cambria"/>
            </a:endParaRPr>
          </a:p>
          <a:p>
            <a:pPr>
              <a:lnSpc>
                <a:spcPct val="100000"/>
              </a:lnSpc>
              <a:spcBef>
                <a:spcPts val="1235"/>
              </a:spcBef>
            </a:pP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365F91"/>
                </a:solidFill>
                <a:latin typeface="Calibri"/>
                <a:cs typeface="Calibri"/>
              </a:rPr>
              <a:t>1.</a:t>
            </a:r>
            <a:r>
              <a:rPr sz="2400" b="1" spc="-45" dirty="0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65F91"/>
                </a:solidFill>
                <a:latin typeface="Calibri"/>
                <a:cs typeface="Calibri"/>
              </a:rPr>
              <a:t>Training</a:t>
            </a:r>
            <a:r>
              <a:rPr sz="2400" b="1" spc="-35" dirty="0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65F91"/>
                </a:solidFill>
                <a:latin typeface="Calibri"/>
                <a:cs typeface="Calibri"/>
              </a:rPr>
              <a:t>vs</a:t>
            </a:r>
            <a:r>
              <a:rPr sz="2400" b="1" spc="-30" dirty="0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65F91"/>
                </a:solidFill>
                <a:latin typeface="Calibri"/>
                <a:cs typeface="Calibri"/>
              </a:rPr>
              <a:t>Validation</a:t>
            </a:r>
            <a:r>
              <a:rPr sz="2400" b="1" spc="-30" dirty="0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365F91"/>
                </a:solidFill>
                <a:latin typeface="Calibri"/>
                <a:cs typeface="Calibri"/>
              </a:rPr>
              <a:t>Accuracy</a:t>
            </a:r>
            <a:endParaRPr sz="2400">
              <a:latin typeface="Calibri"/>
              <a:cs typeface="Calibri"/>
            </a:endParaRPr>
          </a:p>
          <a:p>
            <a:pPr marL="12700" marR="237490">
              <a:lnSpc>
                <a:spcPct val="114999"/>
              </a:lnSpc>
              <a:spcBef>
                <a:spcPts val="85"/>
              </a:spcBef>
            </a:pPr>
            <a:r>
              <a:rPr sz="1800" spc="-10" dirty="0">
                <a:latin typeface="Cambria"/>
                <a:cs typeface="Cambria"/>
              </a:rPr>
              <a:t>Training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accuracy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increased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steadily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from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approximately </a:t>
            </a:r>
            <a:r>
              <a:rPr sz="1800" dirty="0">
                <a:latin typeface="Cambria"/>
                <a:cs typeface="Cambria"/>
              </a:rPr>
              <a:t>56%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to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96%,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while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validation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accuracy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remained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around </a:t>
            </a:r>
            <a:r>
              <a:rPr sz="1800" dirty="0">
                <a:latin typeface="Cambria"/>
                <a:cs typeface="Cambria"/>
              </a:rPr>
              <a:t>58–64%.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This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large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gap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indicates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that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model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performs </a:t>
            </a:r>
            <a:r>
              <a:rPr sz="1800" dirty="0">
                <a:latin typeface="Cambria"/>
                <a:cs typeface="Cambria"/>
              </a:rPr>
              <a:t>very</a:t>
            </a:r>
            <a:r>
              <a:rPr sz="1800" spc="-3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well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on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training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data</a:t>
            </a:r>
            <a:r>
              <a:rPr sz="1800" spc="-4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but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struggles</a:t>
            </a:r>
            <a:r>
              <a:rPr sz="1800" spc="-3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on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unseen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data.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925"/>
              </a:spcBef>
            </a:pPr>
            <a:r>
              <a:rPr sz="1800" dirty="0">
                <a:latin typeface="Cambria"/>
                <a:cs typeface="Cambria"/>
              </a:rPr>
              <a:t>Conclusion: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The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model</a:t>
            </a:r>
            <a:r>
              <a:rPr sz="1800" spc="-20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shows</a:t>
            </a:r>
            <a:r>
              <a:rPr sz="1800" spc="-2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signs</a:t>
            </a:r>
            <a:r>
              <a:rPr sz="1800" spc="-5" dirty="0">
                <a:latin typeface="Cambria"/>
                <a:cs typeface="Cambria"/>
              </a:rPr>
              <a:t> </a:t>
            </a:r>
            <a:r>
              <a:rPr sz="1800" dirty="0">
                <a:latin typeface="Cambria"/>
                <a:cs typeface="Cambria"/>
              </a:rPr>
              <a:t>of</a:t>
            </a:r>
            <a:r>
              <a:rPr sz="1800" spc="-15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overfitting.</a:t>
            </a:r>
            <a:endParaRPr sz="18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56" y="36017"/>
            <a:ext cx="3127248" cy="9161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20636" y="801852"/>
            <a:ext cx="4744592" cy="50592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2685" y="805941"/>
            <a:ext cx="470408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365F91"/>
                </a:solidFill>
                <a:latin typeface="Calibri"/>
                <a:cs typeface="Calibri"/>
              </a:rPr>
              <a:t>2.</a:t>
            </a:r>
            <a:r>
              <a:rPr sz="3200" spc="-160" dirty="0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sz="3200" spc="-50" dirty="0">
                <a:solidFill>
                  <a:srgbClr val="365F91"/>
                </a:solidFill>
                <a:latin typeface="Calibri"/>
                <a:cs typeface="Calibri"/>
              </a:rPr>
              <a:t>Training</a:t>
            </a:r>
            <a:r>
              <a:rPr sz="3200" spc="-145" dirty="0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sz="3200" dirty="0">
                <a:solidFill>
                  <a:srgbClr val="365F91"/>
                </a:solidFill>
                <a:latin typeface="Calibri"/>
                <a:cs typeface="Calibri"/>
              </a:rPr>
              <a:t>vs</a:t>
            </a:r>
            <a:r>
              <a:rPr sz="3200" spc="-120" dirty="0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sz="3200" spc="-55" dirty="0">
                <a:solidFill>
                  <a:srgbClr val="365F91"/>
                </a:solidFill>
                <a:latin typeface="Calibri"/>
                <a:cs typeface="Calibri"/>
              </a:rPr>
              <a:t>Validation</a:t>
            </a:r>
            <a:r>
              <a:rPr sz="3200" spc="-150" dirty="0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sz="3200" spc="-20" dirty="0">
                <a:solidFill>
                  <a:srgbClr val="365F91"/>
                </a:solidFill>
                <a:latin typeface="Calibri"/>
                <a:cs typeface="Calibri"/>
              </a:rPr>
              <a:t>Loss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2685" y="1317091"/>
            <a:ext cx="5349875" cy="21291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sz="2000" spc="-65" dirty="0">
                <a:latin typeface="Cambria"/>
                <a:cs typeface="Cambria"/>
              </a:rPr>
              <a:t>Training</a:t>
            </a:r>
            <a:r>
              <a:rPr sz="2000" spc="-80" dirty="0">
                <a:latin typeface="Cambria"/>
                <a:cs typeface="Cambria"/>
              </a:rPr>
              <a:t> </a:t>
            </a:r>
            <a:r>
              <a:rPr sz="2000" spc="-50" dirty="0">
                <a:latin typeface="Cambria"/>
                <a:cs typeface="Cambria"/>
              </a:rPr>
              <a:t>loss</a:t>
            </a:r>
            <a:r>
              <a:rPr sz="2000" spc="-75" dirty="0">
                <a:latin typeface="Cambria"/>
                <a:cs typeface="Cambria"/>
              </a:rPr>
              <a:t> </a:t>
            </a:r>
            <a:r>
              <a:rPr sz="2000" spc="-60" dirty="0">
                <a:latin typeface="Cambria"/>
                <a:cs typeface="Cambria"/>
              </a:rPr>
              <a:t>consistently</a:t>
            </a:r>
            <a:r>
              <a:rPr sz="2000" spc="-90" dirty="0">
                <a:latin typeface="Cambria"/>
                <a:cs typeface="Cambria"/>
              </a:rPr>
              <a:t> </a:t>
            </a:r>
            <a:r>
              <a:rPr sz="2000" spc="-60" dirty="0">
                <a:latin typeface="Cambria"/>
                <a:cs typeface="Cambria"/>
              </a:rPr>
              <a:t>decreased</a:t>
            </a:r>
            <a:r>
              <a:rPr sz="2000" spc="-70" dirty="0">
                <a:latin typeface="Cambria"/>
                <a:cs typeface="Cambria"/>
              </a:rPr>
              <a:t> </a:t>
            </a:r>
            <a:r>
              <a:rPr sz="2000" spc="-50" dirty="0">
                <a:latin typeface="Cambria"/>
                <a:cs typeface="Cambria"/>
              </a:rPr>
              <a:t>during</a:t>
            </a:r>
            <a:r>
              <a:rPr sz="2000" spc="-80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training, </a:t>
            </a:r>
            <a:r>
              <a:rPr sz="2000" spc="-55" dirty="0">
                <a:latin typeface="Cambria"/>
                <a:cs typeface="Cambria"/>
              </a:rPr>
              <a:t>showing</a:t>
            </a:r>
            <a:r>
              <a:rPr sz="2000" spc="-70" dirty="0">
                <a:latin typeface="Cambria"/>
                <a:cs typeface="Cambria"/>
              </a:rPr>
              <a:t> </a:t>
            </a:r>
            <a:r>
              <a:rPr sz="2000" spc="-65" dirty="0">
                <a:latin typeface="Cambria"/>
                <a:cs typeface="Cambria"/>
              </a:rPr>
              <a:t>effective </a:t>
            </a:r>
            <a:r>
              <a:rPr sz="2000" spc="-55" dirty="0">
                <a:latin typeface="Cambria"/>
                <a:cs typeface="Cambria"/>
              </a:rPr>
              <a:t>learning.</a:t>
            </a:r>
            <a:r>
              <a:rPr sz="2000" spc="-75" dirty="0">
                <a:latin typeface="Cambria"/>
                <a:cs typeface="Cambria"/>
              </a:rPr>
              <a:t> </a:t>
            </a:r>
            <a:r>
              <a:rPr sz="2000" spc="-90" dirty="0">
                <a:latin typeface="Cambria"/>
                <a:cs typeface="Cambria"/>
              </a:rPr>
              <a:t>However,</a:t>
            </a:r>
            <a:r>
              <a:rPr sz="2000" spc="-35" dirty="0">
                <a:latin typeface="Cambria"/>
                <a:cs typeface="Cambria"/>
              </a:rPr>
              <a:t> </a:t>
            </a:r>
            <a:r>
              <a:rPr sz="2000" spc="-60" dirty="0">
                <a:latin typeface="Cambria"/>
                <a:cs typeface="Cambria"/>
              </a:rPr>
              <a:t>validation</a:t>
            </a:r>
            <a:r>
              <a:rPr sz="2000" spc="-80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loss </a:t>
            </a:r>
            <a:r>
              <a:rPr sz="2000" spc="-60" dirty="0">
                <a:latin typeface="Cambria"/>
                <a:cs typeface="Cambria"/>
              </a:rPr>
              <a:t>increased</a:t>
            </a:r>
            <a:r>
              <a:rPr sz="2000" spc="-85" dirty="0">
                <a:latin typeface="Cambria"/>
                <a:cs typeface="Cambria"/>
              </a:rPr>
              <a:t> </a:t>
            </a:r>
            <a:r>
              <a:rPr sz="2000" spc="-65" dirty="0">
                <a:latin typeface="Cambria"/>
                <a:cs typeface="Cambria"/>
              </a:rPr>
              <a:t>over </a:t>
            </a:r>
            <a:r>
              <a:rPr sz="2000" spc="-55" dirty="0">
                <a:latin typeface="Cambria"/>
                <a:cs typeface="Cambria"/>
              </a:rPr>
              <a:t>epochs,</a:t>
            </a:r>
            <a:r>
              <a:rPr sz="2000" spc="-70" dirty="0">
                <a:latin typeface="Cambria"/>
                <a:cs typeface="Cambria"/>
              </a:rPr>
              <a:t> </a:t>
            </a:r>
            <a:r>
              <a:rPr sz="2000" spc="-55" dirty="0">
                <a:latin typeface="Cambria"/>
                <a:cs typeface="Cambria"/>
              </a:rPr>
              <a:t>which</a:t>
            </a:r>
            <a:r>
              <a:rPr sz="2000" spc="-65" dirty="0">
                <a:latin typeface="Cambria"/>
                <a:cs typeface="Cambria"/>
              </a:rPr>
              <a:t> </a:t>
            </a:r>
            <a:r>
              <a:rPr sz="2000" spc="-55" dirty="0">
                <a:latin typeface="Cambria"/>
                <a:cs typeface="Cambria"/>
              </a:rPr>
              <a:t>indicates</a:t>
            </a:r>
            <a:r>
              <a:rPr sz="2000" spc="-8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worsening </a:t>
            </a:r>
            <a:r>
              <a:rPr sz="2000" spc="-55" dirty="0">
                <a:latin typeface="Cambria"/>
                <a:cs typeface="Cambria"/>
              </a:rPr>
              <a:t>performance</a:t>
            </a:r>
            <a:r>
              <a:rPr sz="2000" spc="-110" dirty="0">
                <a:latin typeface="Cambria"/>
                <a:cs typeface="Cambria"/>
              </a:rPr>
              <a:t> </a:t>
            </a:r>
            <a:r>
              <a:rPr sz="2000" spc="-30" dirty="0">
                <a:latin typeface="Cambria"/>
                <a:cs typeface="Cambria"/>
              </a:rPr>
              <a:t>on</a:t>
            </a:r>
            <a:r>
              <a:rPr sz="2000" spc="-80" dirty="0">
                <a:latin typeface="Cambria"/>
                <a:cs typeface="Cambria"/>
              </a:rPr>
              <a:t> </a:t>
            </a:r>
            <a:r>
              <a:rPr sz="2000" spc="-55" dirty="0">
                <a:latin typeface="Cambria"/>
                <a:cs typeface="Cambria"/>
              </a:rPr>
              <a:t>unseen</a:t>
            </a:r>
            <a:r>
              <a:rPr sz="2000" spc="-75" dirty="0">
                <a:latin typeface="Cambria"/>
                <a:cs typeface="Cambria"/>
              </a:rPr>
              <a:t> </a:t>
            </a:r>
            <a:r>
              <a:rPr sz="2000" spc="-20" dirty="0">
                <a:latin typeface="Cambria"/>
                <a:cs typeface="Cambria"/>
              </a:rPr>
              <a:t>data.</a:t>
            </a:r>
            <a:endParaRPr sz="2000">
              <a:latin typeface="Cambria"/>
              <a:cs typeface="Cambria"/>
            </a:endParaRPr>
          </a:p>
          <a:p>
            <a:pPr marL="12700" marR="464184">
              <a:lnSpc>
                <a:spcPct val="114999"/>
              </a:lnSpc>
            </a:pPr>
            <a:r>
              <a:rPr sz="2000" spc="-55" dirty="0">
                <a:latin typeface="Cambria"/>
                <a:cs typeface="Cambria"/>
              </a:rPr>
              <a:t>Conclusion:</a:t>
            </a:r>
            <a:r>
              <a:rPr sz="2000" spc="-75" dirty="0">
                <a:latin typeface="Cambria"/>
                <a:cs typeface="Cambria"/>
              </a:rPr>
              <a:t> </a:t>
            </a:r>
            <a:r>
              <a:rPr sz="2000" spc="-60" dirty="0">
                <a:latin typeface="Cambria"/>
                <a:cs typeface="Cambria"/>
              </a:rPr>
              <a:t>Increasing</a:t>
            </a:r>
            <a:r>
              <a:rPr sz="2000" spc="-70" dirty="0">
                <a:latin typeface="Cambria"/>
                <a:cs typeface="Cambria"/>
              </a:rPr>
              <a:t> </a:t>
            </a:r>
            <a:r>
              <a:rPr sz="2000" spc="-60" dirty="0">
                <a:latin typeface="Cambria"/>
                <a:cs typeface="Cambria"/>
              </a:rPr>
              <a:t>validation</a:t>
            </a:r>
            <a:r>
              <a:rPr sz="2000" spc="-75" dirty="0">
                <a:latin typeface="Cambria"/>
                <a:cs typeface="Cambria"/>
              </a:rPr>
              <a:t> </a:t>
            </a:r>
            <a:r>
              <a:rPr sz="2000" spc="-50" dirty="0">
                <a:latin typeface="Cambria"/>
                <a:cs typeface="Cambria"/>
              </a:rPr>
              <a:t>loss</a:t>
            </a:r>
            <a:r>
              <a:rPr sz="2000" spc="-45" dirty="0">
                <a:latin typeface="Cambria"/>
                <a:cs typeface="Cambria"/>
              </a:rPr>
              <a:t> </a:t>
            </a:r>
            <a:r>
              <a:rPr sz="2000" spc="-25" dirty="0">
                <a:latin typeface="Cambria"/>
                <a:cs typeface="Cambria"/>
              </a:rPr>
              <a:t>alongside </a:t>
            </a:r>
            <a:r>
              <a:rPr sz="2000" spc="-60" dirty="0">
                <a:latin typeface="Cambria"/>
                <a:cs typeface="Cambria"/>
              </a:rPr>
              <a:t>decreasing</a:t>
            </a:r>
            <a:r>
              <a:rPr sz="2000" spc="-105" dirty="0">
                <a:latin typeface="Cambria"/>
                <a:cs typeface="Cambria"/>
              </a:rPr>
              <a:t> </a:t>
            </a:r>
            <a:r>
              <a:rPr sz="2000" spc="-55" dirty="0">
                <a:latin typeface="Cambria"/>
                <a:cs typeface="Cambria"/>
              </a:rPr>
              <a:t>training</a:t>
            </a:r>
            <a:r>
              <a:rPr sz="2000" spc="-70" dirty="0">
                <a:latin typeface="Cambria"/>
                <a:cs typeface="Cambria"/>
              </a:rPr>
              <a:t> </a:t>
            </a:r>
            <a:r>
              <a:rPr sz="2000" spc="-50" dirty="0">
                <a:latin typeface="Cambria"/>
                <a:cs typeface="Cambria"/>
              </a:rPr>
              <a:t>loss </a:t>
            </a:r>
            <a:r>
              <a:rPr sz="2000" spc="-55" dirty="0">
                <a:latin typeface="Cambria"/>
                <a:cs typeface="Cambria"/>
              </a:rPr>
              <a:t>confirms</a:t>
            </a:r>
            <a:r>
              <a:rPr sz="2000" spc="-75" dirty="0">
                <a:latin typeface="Cambria"/>
                <a:cs typeface="Cambria"/>
              </a:rPr>
              <a:t> </a:t>
            </a:r>
            <a:r>
              <a:rPr sz="2000" spc="-10" dirty="0">
                <a:latin typeface="Cambria"/>
                <a:cs typeface="Cambria"/>
              </a:rPr>
              <a:t>overfitting.</a:t>
            </a:r>
            <a:endParaRPr sz="2000">
              <a:latin typeface="Cambria"/>
              <a:cs typeface="Cambri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21883" y="840232"/>
            <a:ext cx="5486399" cy="36576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756" y="36017"/>
            <a:ext cx="3127248" cy="91610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08964" y="2714751"/>
            <a:ext cx="5499100" cy="0"/>
          </a:xfrm>
          <a:custGeom>
            <a:avLst/>
            <a:gdLst/>
            <a:ahLst/>
            <a:cxnLst/>
            <a:rect l="l" t="t" r="r" b="b"/>
            <a:pathLst>
              <a:path w="5499100">
                <a:moveTo>
                  <a:pt x="0" y="0"/>
                </a:moveTo>
                <a:lnTo>
                  <a:pt x="5499074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908964" y="2219325"/>
          <a:ext cx="5486400" cy="34613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8950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Class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42B3BC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Approx</a:t>
                      </a:r>
                      <a:r>
                        <a:rPr sz="1100" b="1" spc="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Accuracy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42B3BC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Observation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42B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2B3BC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spc="-25" dirty="0">
                          <a:latin typeface="Tahoma"/>
                          <a:cs typeface="Tahoma"/>
                        </a:rPr>
                        <a:t>69%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E4E8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spc="45" dirty="0">
                          <a:latin typeface="Tahoma"/>
                          <a:cs typeface="Tahoma"/>
                        </a:rPr>
                        <a:t>Moderate</a:t>
                      </a:r>
                      <a:r>
                        <a:rPr sz="1100" spc="-8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performance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E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6635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2B3BC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spc="-25" dirty="0">
                          <a:latin typeface="Tahoma"/>
                          <a:cs typeface="Tahoma"/>
                        </a:rPr>
                        <a:t>53%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Weak,</a:t>
                      </a:r>
                      <a:r>
                        <a:rPr sz="1100" spc="5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highly</a:t>
                      </a:r>
                      <a:r>
                        <a:rPr sz="1100" spc="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confused</a:t>
                      </a:r>
                      <a:endParaRPr sz="1100">
                        <a:latin typeface="Tahoma"/>
                        <a:cs typeface="Tahoma"/>
                      </a:endParaRPr>
                    </a:p>
                    <a:p>
                      <a:pPr marL="68580"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with</a:t>
                      </a:r>
                      <a:r>
                        <a:rPr sz="1100" spc="20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dirty="0">
                          <a:latin typeface="Tahoma"/>
                          <a:cs typeface="Tahoma"/>
                        </a:rPr>
                        <a:t>nearby</a:t>
                      </a:r>
                      <a:r>
                        <a:rPr sz="1100" spc="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10" dirty="0">
                          <a:latin typeface="Tahoma"/>
                          <a:cs typeface="Tahoma"/>
                        </a:rPr>
                        <a:t>classes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2B3BC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spc="-25" dirty="0">
                          <a:latin typeface="Tahoma"/>
                          <a:cs typeface="Tahoma"/>
                        </a:rPr>
                        <a:t>63%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E4E8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spc="35" dirty="0">
                          <a:latin typeface="Tahoma"/>
                          <a:cs typeface="Tahoma"/>
                        </a:rPr>
                        <a:t>Moderate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E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2B3BC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spc="-25" dirty="0">
                          <a:latin typeface="Tahoma"/>
                          <a:cs typeface="Tahoma"/>
                        </a:rPr>
                        <a:t>75%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spc="60" dirty="0">
                          <a:latin typeface="Tahoma"/>
                          <a:cs typeface="Tahoma"/>
                        </a:rPr>
                        <a:t>Good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6794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4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2B3BC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spc="-25" dirty="0">
                          <a:latin typeface="Tahoma"/>
                          <a:cs typeface="Tahoma"/>
                        </a:rPr>
                        <a:t>92%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E4E8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Excellent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E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02335" y="864870"/>
            <a:ext cx="34455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0" dirty="0">
                <a:solidFill>
                  <a:srgbClr val="365F91"/>
                </a:solidFill>
                <a:latin typeface="Calibri"/>
                <a:cs typeface="Calibri"/>
              </a:rPr>
              <a:t>3.</a:t>
            </a:r>
            <a:r>
              <a:rPr sz="2400" spc="-100" dirty="0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sz="2400" spc="-55" dirty="0">
                <a:solidFill>
                  <a:srgbClr val="365F91"/>
                </a:solidFill>
                <a:latin typeface="Calibri"/>
                <a:cs typeface="Calibri"/>
              </a:rPr>
              <a:t>Confusion</a:t>
            </a:r>
            <a:r>
              <a:rPr sz="2400" spc="-90" dirty="0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sz="2400" spc="-55" dirty="0">
                <a:solidFill>
                  <a:srgbClr val="365F91"/>
                </a:solidFill>
                <a:latin typeface="Calibri"/>
                <a:cs typeface="Calibri"/>
              </a:rPr>
              <a:t>Matrix</a:t>
            </a:r>
            <a:r>
              <a:rPr sz="2400" spc="-90" dirty="0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sz="2400" spc="-30" dirty="0">
                <a:solidFill>
                  <a:srgbClr val="365F91"/>
                </a:solidFill>
                <a:latin typeface="Calibri"/>
                <a:cs typeface="Calibri"/>
              </a:rPr>
              <a:t>Analysis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2335" y="1244346"/>
            <a:ext cx="8707755" cy="848360"/>
          </a:xfrm>
          <a:prstGeom prst="rect">
            <a:avLst/>
          </a:prstGeom>
        </p:spPr>
        <p:txBody>
          <a:bodyPr vert="horz" wrap="square" lIns="0" tIns="33020" rIns="0" bIns="0" rtlCol="0">
            <a:spAutoFit/>
          </a:bodyPr>
          <a:lstStyle/>
          <a:p>
            <a:pPr marL="12700" marR="5080">
              <a:lnSpc>
                <a:spcPts val="2050"/>
              </a:lnSpc>
              <a:spcBef>
                <a:spcPts val="260"/>
              </a:spcBef>
            </a:pPr>
            <a:r>
              <a:rPr sz="1800" spc="-40" dirty="0">
                <a:latin typeface="Cambria"/>
                <a:cs typeface="Cambria"/>
              </a:rPr>
              <a:t>The</a:t>
            </a:r>
            <a:r>
              <a:rPr sz="1800" spc="-90" dirty="0">
                <a:latin typeface="Cambria"/>
                <a:cs typeface="Cambria"/>
              </a:rPr>
              <a:t> </a:t>
            </a:r>
            <a:r>
              <a:rPr sz="1800" spc="-55" dirty="0">
                <a:latin typeface="Cambria"/>
                <a:cs typeface="Cambria"/>
              </a:rPr>
              <a:t>confusion</a:t>
            </a:r>
            <a:r>
              <a:rPr sz="1800" spc="-95" dirty="0">
                <a:latin typeface="Cambria"/>
                <a:cs typeface="Cambria"/>
              </a:rPr>
              <a:t> </a:t>
            </a:r>
            <a:r>
              <a:rPr sz="1800" spc="-55" dirty="0">
                <a:latin typeface="Cambria"/>
                <a:cs typeface="Cambria"/>
              </a:rPr>
              <a:t>matrix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spc="-60" dirty="0">
                <a:latin typeface="Cambria"/>
                <a:cs typeface="Cambria"/>
              </a:rPr>
              <a:t>shows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spc="-45" dirty="0">
                <a:latin typeface="Cambria"/>
                <a:cs typeface="Cambria"/>
              </a:rPr>
              <a:t>how</a:t>
            </a:r>
            <a:r>
              <a:rPr sz="1800" spc="-70" dirty="0">
                <a:latin typeface="Cambria"/>
                <a:cs typeface="Cambria"/>
              </a:rPr>
              <a:t> </a:t>
            </a:r>
            <a:r>
              <a:rPr sz="1800" spc="-55" dirty="0">
                <a:latin typeface="Cambria"/>
                <a:cs typeface="Cambria"/>
              </a:rPr>
              <a:t>well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spc="-40" dirty="0">
                <a:latin typeface="Cambria"/>
                <a:cs typeface="Cambria"/>
              </a:rPr>
              <a:t>each</a:t>
            </a:r>
            <a:r>
              <a:rPr sz="1800" spc="-60" dirty="0">
                <a:latin typeface="Cambria"/>
                <a:cs typeface="Cambria"/>
              </a:rPr>
              <a:t> </a:t>
            </a:r>
            <a:r>
              <a:rPr sz="1800" spc="-55" dirty="0">
                <a:latin typeface="Cambria"/>
                <a:cs typeface="Cambria"/>
              </a:rPr>
              <a:t>class</a:t>
            </a:r>
            <a:r>
              <a:rPr sz="1800" spc="-75" dirty="0">
                <a:latin typeface="Cambria"/>
                <a:cs typeface="Cambria"/>
              </a:rPr>
              <a:t> </a:t>
            </a:r>
            <a:r>
              <a:rPr sz="1800" spc="-35" dirty="0">
                <a:latin typeface="Cambria"/>
                <a:cs typeface="Cambria"/>
              </a:rPr>
              <a:t>is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spc="-60" dirty="0">
                <a:latin typeface="Cambria"/>
                <a:cs typeface="Cambria"/>
              </a:rPr>
              <a:t>predicted.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spc="-50" dirty="0">
                <a:latin typeface="Cambria"/>
                <a:cs typeface="Cambria"/>
              </a:rPr>
              <a:t>Diagonal</a:t>
            </a:r>
            <a:r>
              <a:rPr sz="1800" spc="-90" dirty="0">
                <a:latin typeface="Cambria"/>
                <a:cs typeface="Cambria"/>
              </a:rPr>
              <a:t> </a:t>
            </a:r>
            <a:r>
              <a:rPr sz="1800" spc="-60" dirty="0">
                <a:latin typeface="Cambria"/>
                <a:cs typeface="Cambria"/>
              </a:rPr>
              <a:t>values</a:t>
            </a:r>
            <a:r>
              <a:rPr sz="1800" spc="-75" dirty="0">
                <a:latin typeface="Cambria"/>
                <a:cs typeface="Cambria"/>
              </a:rPr>
              <a:t> </a:t>
            </a:r>
            <a:r>
              <a:rPr sz="1800" spc="-60" dirty="0">
                <a:latin typeface="Cambria"/>
                <a:cs typeface="Cambria"/>
              </a:rPr>
              <a:t>represent</a:t>
            </a:r>
            <a:r>
              <a:rPr sz="1800" spc="-7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correct </a:t>
            </a:r>
            <a:r>
              <a:rPr sz="1800" spc="-60" dirty="0">
                <a:latin typeface="Cambria"/>
                <a:cs typeface="Cambria"/>
              </a:rPr>
              <a:t>predictions,</a:t>
            </a:r>
            <a:r>
              <a:rPr sz="1800" spc="-85" dirty="0">
                <a:latin typeface="Cambria"/>
                <a:cs typeface="Cambria"/>
              </a:rPr>
              <a:t> </a:t>
            </a:r>
            <a:r>
              <a:rPr sz="1800" spc="-50" dirty="0">
                <a:latin typeface="Cambria"/>
                <a:cs typeface="Cambria"/>
              </a:rPr>
              <a:t>while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spc="-60" dirty="0">
                <a:latin typeface="Cambria"/>
                <a:cs typeface="Cambria"/>
              </a:rPr>
              <a:t>off-</a:t>
            </a:r>
            <a:r>
              <a:rPr sz="1800" spc="-45" dirty="0">
                <a:latin typeface="Cambria"/>
                <a:cs typeface="Cambria"/>
              </a:rPr>
              <a:t>diagonal</a:t>
            </a:r>
            <a:r>
              <a:rPr sz="1800" spc="-75" dirty="0">
                <a:latin typeface="Cambria"/>
                <a:cs typeface="Cambria"/>
              </a:rPr>
              <a:t> </a:t>
            </a:r>
            <a:r>
              <a:rPr sz="1800" spc="-60" dirty="0">
                <a:latin typeface="Cambria"/>
                <a:cs typeface="Cambria"/>
              </a:rPr>
              <a:t>values</a:t>
            </a:r>
            <a:r>
              <a:rPr sz="1800" spc="-45" dirty="0">
                <a:latin typeface="Cambria"/>
                <a:cs typeface="Cambria"/>
              </a:rPr>
              <a:t> </a:t>
            </a:r>
            <a:r>
              <a:rPr sz="1800" spc="-55" dirty="0">
                <a:latin typeface="Cambria"/>
                <a:cs typeface="Cambria"/>
              </a:rPr>
              <a:t>indicate</a:t>
            </a:r>
            <a:r>
              <a:rPr sz="1800" spc="-8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misclassification.</a:t>
            </a:r>
            <a:endParaRPr sz="1800">
              <a:latin typeface="Cambria"/>
              <a:cs typeface="Cambria"/>
            </a:endParaRPr>
          </a:p>
          <a:p>
            <a:pPr marL="12700">
              <a:lnSpc>
                <a:spcPct val="100000"/>
              </a:lnSpc>
              <a:spcBef>
                <a:spcPts val="60"/>
              </a:spcBef>
            </a:pPr>
            <a:r>
              <a:rPr sz="1800" spc="-60" dirty="0">
                <a:latin typeface="Cambria"/>
                <a:cs typeface="Cambria"/>
              </a:rPr>
              <a:t>Overall</a:t>
            </a:r>
            <a:r>
              <a:rPr sz="1800" spc="-70" dirty="0">
                <a:latin typeface="Cambria"/>
                <a:cs typeface="Cambria"/>
              </a:rPr>
              <a:t> </a:t>
            </a:r>
            <a:r>
              <a:rPr sz="1800" spc="-60" dirty="0">
                <a:latin typeface="Cambria"/>
                <a:cs typeface="Cambria"/>
              </a:rPr>
              <a:t>accuracy</a:t>
            </a:r>
            <a:r>
              <a:rPr sz="1800" spc="-70" dirty="0">
                <a:latin typeface="Cambria"/>
                <a:cs typeface="Cambria"/>
              </a:rPr>
              <a:t> </a:t>
            </a:r>
            <a:r>
              <a:rPr sz="1800" spc="-10" dirty="0">
                <a:latin typeface="Cambria"/>
                <a:cs typeface="Cambria"/>
              </a:rPr>
              <a:t>≈</a:t>
            </a:r>
            <a:r>
              <a:rPr sz="1800" spc="-65" dirty="0">
                <a:latin typeface="Cambria"/>
                <a:cs typeface="Cambria"/>
              </a:rPr>
              <a:t> </a:t>
            </a:r>
            <a:r>
              <a:rPr sz="1800" spc="-50" dirty="0">
                <a:latin typeface="Cambria"/>
                <a:cs typeface="Cambria"/>
              </a:rPr>
              <a:t>66%. Most</a:t>
            </a:r>
            <a:r>
              <a:rPr sz="1800" spc="-75" dirty="0">
                <a:latin typeface="Cambria"/>
                <a:cs typeface="Cambria"/>
              </a:rPr>
              <a:t> </a:t>
            </a:r>
            <a:r>
              <a:rPr sz="1800" spc="-55" dirty="0">
                <a:latin typeface="Cambria"/>
                <a:cs typeface="Cambria"/>
              </a:rPr>
              <a:t>confusion</a:t>
            </a:r>
            <a:r>
              <a:rPr sz="1800" spc="-100" dirty="0">
                <a:latin typeface="Cambria"/>
                <a:cs typeface="Cambria"/>
              </a:rPr>
              <a:t> </a:t>
            </a:r>
            <a:r>
              <a:rPr sz="1800" spc="-55" dirty="0">
                <a:latin typeface="Cambria"/>
                <a:cs typeface="Cambria"/>
              </a:rPr>
              <a:t>occurs</a:t>
            </a:r>
            <a:r>
              <a:rPr sz="1800" spc="-85" dirty="0">
                <a:latin typeface="Cambria"/>
                <a:cs typeface="Cambria"/>
              </a:rPr>
              <a:t> </a:t>
            </a:r>
            <a:r>
              <a:rPr sz="1800" spc="-60" dirty="0">
                <a:latin typeface="Cambria"/>
                <a:cs typeface="Cambria"/>
              </a:rPr>
              <a:t>between</a:t>
            </a:r>
            <a:r>
              <a:rPr sz="1800" spc="-70" dirty="0">
                <a:latin typeface="Cambria"/>
                <a:cs typeface="Cambria"/>
              </a:rPr>
              <a:t> </a:t>
            </a:r>
            <a:r>
              <a:rPr sz="1800" spc="-55" dirty="0">
                <a:latin typeface="Cambria"/>
                <a:cs typeface="Cambria"/>
              </a:rPr>
              <a:t>similar</a:t>
            </a:r>
            <a:r>
              <a:rPr sz="1800" spc="-75" dirty="0">
                <a:latin typeface="Cambria"/>
                <a:cs typeface="Cambria"/>
              </a:rPr>
              <a:t> </a:t>
            </a:r>
            <a:r>
              <a:rPr sz="1800" spc="-55" dirty="0">
                <a:latin typeface="Cambria"/>
                <a:cs typeface="Cambria"/>
              </a:rPr>
              <a:t>classes</a:t>
            </a:r>
            <a:r>
              <a:rPr sz="1800" spc="-70" dirty="0">
                <a:latin typeface="Cambria"/>
                <a:cs typeface="Cambria"/>
              </a:rPr>
              <a:t> </a:t>
            </a:r>
            <a:r>
              <a:rPr sz="1800" spc="-40" dirty="0">
                <a:latin typeface="Cambria"/>
                <a:cs typeface="Cambria"/>
              </a:rPr>
              <a:t>0,</a:t>
            </a:r>
            <a:r>
              <a:rPr sz="1800" spc="-55" dirty="0">
                <a:latin typeface="Cambria"/>
                <a:cs typeface="Cambria"/>
              </a:rPr>
              <a:t> </a:t>
            </a:r>
            <a:r>
              <a:rPr sz="1800" spc="-35" dirty="0">
                <a:latin typeface="Cambria"/>
                <a:cs typeface="Cambria"/>
              </a:rPr>
              <a:t>1,</a:t>
            </a:r>
            <a:r>
              <a:rPr sz="1800" spc="-50" dirty="0">
                <a:latin typeface="Cambria"/>
                <a:cs typeface="Cambria"/>
              </a:rPr>
              <a:t> </a:t>
            </a:r>
            <a:r>
              <a:rPr sz="1800" spc="-45" dirty="0">
                <a:latin typeface="Cambria"/>
                <a:cs typeface="Cambria"/>
              </a:rPr>
              <a:t>and</a:t>
            </a:r>
            <a:r>
              <a:rPr sz="1800" spc="-75" dirty="0">
                <a:latin typeface="Cambria"/>
                <a:cs typeface="Cambria"/>
              </a:rPr>
              <a:t> </a:t>
            </a:r>
            <a:r>
              <a:rPr sz="1800" spc="-25" dirty="0">
                <a:latin typeface="Cambria"/>
                <a:cs typeface="Cambria"/>
              </a:rPr>
              <a:t>2.</a:t>
            </a:r>
            <a:endParaRPr sz="18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56" y="36017"/>
            <a:ext cx="3127248" cy="91610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021871" y="2512083"/>
            <a:ext cx="3687180" cy="334346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06767" y="2243073"/>
            <a:ext cx="5499100" cy="0"/>
          </a:xfrm>
          <a:custGeom>
            <a:avLst/>
            <a:gdLst/>
            <a:ahLst/>
            <a:cxnLst/>
            <a:rect l="l" t="t" r="r" b="b"/>
            <a:pathLst>
              <a:path w="5499100">
                <a:moveTo>
                  <a:pt x="0" y="0"/>
                </a:moveTo>
                <a:lnTo>
                  <a:pt x="5499036" y="0"/>
                </a:lnTo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806767" y="1721485"/>
          <a:ext cx="5486400" cy="308990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4984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Class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42B3BC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b="1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AUC</a:t>
                      </a:r>
                      <a:r>
                        <a:rPr sz="1100" b="1" spc="5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Score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42B3BC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b="1" spc="-1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Performance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42B3B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4984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2B3BC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spc="-20" dirty="0">
                          <a:latin typeface="Tahoma"/>
                          <a:cs typeface="Tahoma"/>
                        </a:rPr>
                        <a:t>0.90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E4E8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Excellent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E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4984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1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2B3BC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-20" dirty="0">
                          <a:latin typeface="Tahoma"/>
                          <a:cs typeface="Tahoma"/>
                        </a:rPr>
                        <a:t>0.75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spc="35" dirty="0">
                          <a:latin typeface="Tahoma"/>
                          <a:cs typeface="Tahoma"/>
                        </a:rPr>
                        <a:t>Moderate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508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4984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2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2B3BC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spc="-20" dirty="0">
                          <a:latin typeface="Tahoma"/>
                          <a:cs typeface="Tahoma"/>
                        </a:rPr>
                        <a:t>0.88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E4E8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Very</a:t>
                      </a:r>
                      <a:r>
                        <a:rPr sz="1100" spc="-3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60" dirty="0">
                          <a:latin typeface="Tahoma"/>
                          <a:cs typeface="Tahoma"/>
                        </a:rPr>
                        <a:t>Good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E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4984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3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2B3BC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spc="-20" dirty="0">
                          <a:latin typeface="Tahoma"/>
                          <a:cs typeface="Tahoma"/>
                        </a:rPr>
                        <a:t>0.96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Outstanding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9F1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4984"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b="1" spc="-50" dirty="0">
                          <a:solidFill>
                            <a:srgbClr val="FFFFFF"/>
                          </a:solidFill>
                          <a:latin typeface="Tahoma"/>
                          <a:cs typeface="Tahoma"/>
                        </a:rPr>
                        <a:t>4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42B3BC"/>
                    </a:solidFill>
                  </a:tcPr>
                </a:tc>
                <a:tc>
                  <a:txBody>
                    <a:bodyPr/>
                    <a:lstStyle/>
                    <a:p>
                      <a:pPr marL="68580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spc="-20" dirty="0">
                          <a:latin typeface="Tahoma"/>
                          <a:cs typeface="Tahoma"/>
                        </a:rPr>
                        <a:t>1.00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E4E8"/>
                    </a:solidFill>
                  </a:tcPr>
                </a:tc>
                <a:tc>
                  <a:txBody>
                    <a:bodyPr/>
                    <a:lstStyle/>
                    <a:p>
                      <a:pPr marL="6921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spc="-10" dirty="0">
                          <a:latin typeface="Tahoma"/>
                          <a:cs typeface="Tahoma"/>
                        </a:rPr>
                        <a:t>Perfect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5715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FE4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809650" y="777366"/>
            <a:ext cx="274129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30" dirty="0">
                <a:solidFill>
                  <a:srgbClr val="365F91"/>
                </a:solidFill>
                <a:latin typeface="Calibri"/>
                <a:cs typeface="Calibri"/>
              </a:rPr>
              <a:t>4.</a:t>
            </a:r>
            <a:r>
              <a:rPr sz="2000" spc="-85" dirty="0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sz="2000" spc="-65" dirty="0">
                <a:solidFill>
                  <a:srgbClr val="365F91"/>
                </a:solidFill>
                <a:latin typeface="Calibri"/>
                <a:cs typeface="Calibri"/>
              </a:rPr>
              <a:t>ROC–AUC</a:t>
            </a:r>
            <a:r>
              <a:rPr sz="2000" spc="-90" dirty="0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sz="2000" spc="-55" dirty="0">
                <a:solidFill>
                  <a:srgbClr val="365F91"/>
                </a:solidFill>
                <a:latin typeface="Calibri"/>
                <a:cs typeface="Calibri"/>
              </a:rPr>
              <a:t>Curve</a:t>
            </a:r>
            <a:r>
              <a:rPr sz="2000" spc="-65" dirty="0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sz="2000" spc="-30" dirty="0">
                <a:solidFill>
                  <a:srgbClr val="365F91"/>
                </a:solidFill>
                <a:latin typeface="Calibri"/>
                <a:cs typeface="Calibri"/>
              </a:rPr>
              <a:t>Analysis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09650" y="1069365"/>
            <a:ext cx="10079355" cy="537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5000"/>
              </a:lnSpc>
              <a:spcBef>
                <a:spcPts val="100"/>
              </a:spcBef>
            </a:pPr>
            <a:r>
              <a:rPr sz="1600" spc="-50" dirty="0">
                <a:latin typeface="Cambria"/>
                <a:cs typeface="Cambria"/>
              </a:rPr>
              <a:t>The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spc="-75" dirty="0">
                <a:latin typeface="Cambria"/>
                <a:cs typeface="Cambria"/>
              </a:rPr>
              <a:t>ROC–AUC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spc="-60" dirty="0">
                <a:latin typeface="Cambria"/>
                <a:cs typeface="Cambria"/>
              </a:rPr>
              <a:t>curves measure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spc="-45" dirty="0">
                <a:latin typeface="Cambria"/>
                <a:cs typeface="Cambria"/>
              </a:rPr>
              <a:t>the</a:t>
            </a:r>
            <a:r>
              <a:rPr sz="1600" spc="-55" dirty="0">
                <a:latin typeface="Cambria"/>
                <a:cs typeface="Cambria"/>
              </a:rPr>
              <a:t> model's</a:t>
            </a:r>
            <a:r>
              <a:rPr sz="1600" spc="-90" dirty="0">
                <a:latin typeface="Cambria"/>
                <a:cs typeface="Cambria"/>
              </a:rPr>
              <a:t> </a:t>
            </a:r>
            <a:r>
              <a:rPr sz="1600" spc="-60" dirty="0">
                <a:latin typeface="Cambria"/>
                <a:cs typeface="Cambria"/>
              </a:rPr>
              <a:t>ability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spc="-40" dirty="0">
                <a:latin typeface="Cambria"/>
                <a:cs typeface="Cambria"/>
              </a:rPr>
              <a:t>to</a:t>
            </a:r>
            <a:r>
              <a:rPr sz="1600" spc="-65" dirty="0">
                <a:latin typeface="Cambria"/>
                <a:cs typeface="Cambria"/>
              </a:rPr>
              <a:t> </a:t>
            </a:r>
            <a:r>
              <a:rPr sz="1600" spc="-60" dirty="0">
                <a:latin typeface="Cambria"/>
                <a:cs typeface="Cambria"/>
              </a:rPr>
              <a:t>separate</a:t>
            </a:r>
            <a:r>
              <a:rPr sz="1600" spc="-70" dirty="0">
                <a:latin typeface="Cambria"/>
                <a:cs typeface="Cambria"/>
              </a:rPr>
              <a:t> </a:t>
            </a:r>
            <a:r>
              <a:rPr sz="1600" spc="-60" dirty="0">
                <a:latin typeface="Cambria"/>
                <a:cs typeface="Cambria"/>
              </a:rPr>
              <a:t>classes.</a:t>
            </a:r>
            <a:r>
              <a:rPr sz="1600" spc="-75" dirty="0">
                <a:latin typeface="Cambria"/>
                <a:cs typeface="Cambria"/>
              </a:rPr>
              <a:t> </a:t>
            </a:r>
            <a:r>
              <a:rPr sz="1600" spc="-60" dirty="0">
                <a:latin typeface="Cambria"/>
                <a:cs typeface="Cambria"/>
              </a:rPr>
              <a:t>Higher</a:t>
            </a:r>
            <a:r>
              <a:rPr sz="1600" spc="-40" dirty="0">
                <a:latin typeface="Cambria"/>
                <a:cs typeface="Cambria"/>
              </a:rPr>
              <a:t> </a:t>
            </a:r>
            <a:r>
              <a:rPr sz="1600" spc="-60" dirty="0">
                <a:latin typeface="Cambria"/>
                <a:cs typeface="Cambria"/>
              </a:rPr>
              <a:t>AUC</a:t>
            </a:r>
            <a:r>
              <a:rPr sz="1600" spc="-55" dirty="0">
                <a:latin typeface="Cambria"/>
                <a:cs typeface="Cambria"/>
              </a:rPr>
              <a:t> </a:t>
            </a:r>
            <a:r>
              <a:rPr sz="1600" spc="-65" dirty="0">
                <a:latin typeface="Cambria"/>
                <a:cs typeface="Cambria"/>
              </a:rPr>
              <a:t>values</a:t>
            </a:r>
            <a:r>
              <a:rPr sz="1600" spc="-30" dirty="0">
                <a:latin typeface="Cambria"/>
                <a:cs typeface="Cambria"/>
              </a:rPr>
              <a:t> </a:t>
            </a:r>
            <a:r>
              <a:rPr sz="1600" spc="-60" dirty="0">
                <a:latin typeface="Cambria"/>
                <a:cs typeface="Cambria"/>
              </a:rPr>
              <a:t>indicate</a:t>
            </a:r>
            <a:r>
              <a:rPr sz="1600" spc="-70" dirty="0">
                <a:latin typeface="Cambria"/>
                <a:cs typeface="Cambria"/>
              </a:rPr>
              <a:t> </a:t>
            </a:r>
            <a:r>
              <a:rPr sz="1600" spc="-55" dirty="0">
                <a:latin typeface="Cambria"/>
                <a:cs typeface="Cambria"/>
              </a:rPr>
              <a:t>better</a:t>
            </a:r>
            <a:r>
              <a:rPr sz="1600" spc="-100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discrimination. </a:t>
            </a:r>
            <a:r>
              <a:rPr sz="1600" spc="-55" dirty="0">
                <a:latin typeface="Cambria"/>
                <a:cs typeface="Cambria"/>
              </a:rPr>
              <a:t>Despite</a:t>
            </a:r>
            <a:r>
              <a:rPr sz="1600" spc="-75" dirty="0">
                <a:latin typeface="Cambria"/>
                <a:cs typeface="Cambria"/>
              </a:rPr>
              <a:t> </a:t>
            </a:r>
            <a:r>
              <a:rPr sz="1600" spc="-60" dirty="0">
                <a:latin typeface="Cambria"/>
                <a:cs typeface="Cambria"/>
              </a:rPr>
              <a:t>moderate</a:t>
            </a:r>
            <a:r>
              <a:rPr sz="1600" spc="-90" dirty="0">
                <a:latin typeface="Cambria"/>
                <a:cs typeface="Cambria"/>
              </a:rPr>
              <a:t> </a:t>
            </a:r>
            <a:r>
              <a:rPr sz="1600" spc="-75" dirty="0">
                <a:latin typeface="Cambria"/>
                <a:cs typeface="Cambria"/>
              </a:rPr>
              <a:t>accuracy,</a:t>
            </a:r>
            <a:r>
              <a:rPr sz="1600" spc="-60" dirty="0">
                <a:latin typeface="Cambria"/>
                <a:cs typeface="Cambria"/>
              </a:rPr>
              <a:t> </a:t>
            </a:r>
            <a:r>
              <a:rPr sz="1600" spc="-55" dirty="0">
                <a:latin typeface="Cambria"/>
                <a:cs typeface="Cambria"/>
              </a:rPr>
              <a:t>high </a:t>
            </a:r>
            <a:r>
              <a:rPr sz="1600" spc="-60" dirty="0">
                <a:latin typeface="Cambria"/>
                <a:cs typeface="Cambria"/>
              </a:rPr>
              <a:t>AUC</a:t>
            </a:r>
            <a:r>
              <a:rPr sz="1600" spc="-55" dirty="0">
                <a:latin typeface="Cambria"/>
                <a:cs typeface="Cambria"/>
              </a:rPr>
              <a:t> scores</a:t>
            </a:r>
            <a:r>
              <a:rPr sz="1600" spc="-80" dirty="0">
                <a:latin typeface="Cambria"/>
                <a:cs typeface="Cambria"/>
              </a:rPr>
              <a:t> </a:t>
            </a:r>
            <a:r>
              <a:rPr sz="1600" spc="-60" dirty="0">
                <a:latin typeface="Cambria"/>
                <a:cs typeface="Cambria"/>
              </a:rPr>
              <a:t>show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spc="-50" dirty="0">
                <a:latin typeface="Cambria"/>
                <a:cs typeface="Cambria"/>
              </a:rPr>
              <a:t>that</a:t>
            </a:r>
            <a:r>
              <a:rPr sz="1600" spc="-65" dirty="0">
                <a:latin typeface="Cambria"/>
                <a:cs typeface="Cambria"/>
              </a:rPr>
              <a:t> </a:t>
            </a:r>
            <a:r>
              <a:rPr sz="1600" spc="-45" dirty="0">
                <a:latin typeface="Cambria"/>
                <a:cs typeface="Cambria"/>
              </a:rPr>
              <a:t>the</a:t>
            </a:r>
            <a:r>
              <a:rPr sz="1600" spc="-60" dirty="0">
                <a:latin typeface="Cambria"/>
                <a:cs typeface="Cambria"/>
              </a:rPr>
              <a:t> </a:t>
            </a:r>
            <a:r>
              <a:rPr sz="1600" spc="-55" dirty="0">
                <a:latin typeface="Cambria"/>
                <a:cs typeface="Cambria"/>
              </a:rPr>
              <a:t>model</a:t>
            </a:r>
            <a:r>
              <a:rPr sz="1600" spc="-75" dirty="0">
                <a:latin typeface="Cambria"/>
                <a:cs typeface="Cambria"/>
              </a:rPr>
              <a:t> </a:t>
            </a:r>
            <a:r>
              <a:rPr sz="1600" spc="-60" dirty="0">
                <a:latin typeface="Cambria"/>
                <a:cs typeface="Cambria"/>
              </a:rPr>
              <a:t>separates</a:t>
            </a:r>
            <a:r>
              <a:rPr sz="1600" spc="-80" dirty="0">
                <a:latin typeface="Cambria"/>
                <a:cs typeface="Cambria"/>
              </a:rPr>
              <a:t> </a:t>
            </a:r>
            <a:r>
              <a:rPr sz="1600" spc="-55" dirty="0">
                <a:latin typeface="Cambria"/>
                <a:cs typeface="Cambria"/>
              </a:rPr>
              <a:t>classes</a:t>
            </a:r>
            <a:r>
              <a:rPr sz="1600" spc="-60" dirty="0">
                <a:latin typeface="Cambria"/>
                <a:cs typeface="Cambria"/>
              </a:rPr>
              <a:t> </a:t>
            </a:r>
            <a:r>
              <a:rPr sz="1600" spc="-70" dirty="0">
                <a:latin typeface="Cambria"/>
                <a:cs typeface="Cambria"/>
              </a:rPr>
              <a:t>effectively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spc="-50" dirty="0">
                <a:latin typeface="Cambria"/>
                <a:cs typeface="Cambria"/>
              </a:rPr>
              <a:t>and</a:t>
            </a:r>
            <a:r>
              <a:rPr sz="1600" spc="-60" dirty="0">
                <a:latin typeface="Cambria"/>
                <a:cs typeface="Cambria"/>
              </a:rPr>
              <a:t> </a:t>
            </a:r>
            <a:r>
              <a:rPr sz="1600" spc="-55" dirty="0">
                <a:latin typeface="Cambria"/>
                <a:cs typeface="Cambria"/>
              </a:rPr>
              <a:t>learns</a:t>
            </a:r>
            <a:r>
              <a:rPr sz="1600" spc="-65" dirty="0">
                <a:latin typeface="Cambria"/>
                <a:cs typeface="Cambria"/>
              </a:rPr>
              <a:t> </a:t>
            </a:r>
            <a:r>
              <a:rPr sz="1600" spc="-60" dirty="0">
                <a:latin typeface="Cambria"/>
                <a:cs typeface="Cambria"/>
              </a:rPr>
              <a:t>meaningful</a:t>
            </a:r>
            <a:r>
              <a:rPr sz="1600" spc="-45" dirty="0">
                <a:latin typeface="Cambria"/>
                <a:cs typeface="Cambria"/>
              </a:rPr>
              <a:t> </a:t>
            </a:r>
            <a:r>
              <a:rPr sz="1600" spc="-10" dirty="0">
                <a:latin typeface="Cambria"/>
                <a:cs typeface="Cambria"/>
              </a:rPr>
              <a:t>features.</a:t>
            </a:r>
            <a:endParaRPr sz="1600">
              <a:latin typeface="Cambria"/>
              <a:cs typeface="Cambria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299453" y="1727758"/>
            <a:ext cx="4956175" cy="4380725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756" y="36017"/>
            <a:ext cx="3127248" cy="916101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24534" y="836421"/>
            <a:ext cx="236791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365F91"/>
                </a:solidFill>
                <a:latin typeface="Calibri"/>
                <a:cs typeface="Calibri"/>
              </a:rPr>
              <a:t>CLASSIFICATION</a:t>
            </a:r>
            <a:r>
              <a:rPr sz="1800" b="1" spc="-95" dirty="0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365F91"/>
                </a:solidFill>
                <a:latin typeface="Calibri"/>
                <a:cs typeface="Calibri"/>
              </a:rPr>
              <a:t>REPORT</a:t>
            </a:r>
            <a:endParaRPr sz="18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1110640" y="1526921"/>
          <a:ext cx="4102735" cy="456882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807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51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4180">
                <a:tc>
                  <a:txBody>
                    <a:bodyPr/>
                    <a:lstStyle/>
                    <a:p>
                      <a:pPr marL="31750">
                        <a:lnSpc>
                          <a:spcPts val="1710"/>
                        </a:lnSpc>
                      </a:pPr>
                      <a:r>
                        <a:rPr sz="1800" b="1" spc="-10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precision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780">
                        <a:lnSpc>
                          <a:spcPts val="1710"/>
                        </a:lnSpc>
                        <a:tabLst>
                          <a:tab pos="1556385" algn="l"/>
                        </a:tabLst>
                      </a:pPr>
                      <a:r>
                        <a:rPr sz="1800" b="1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recall</a:t>
                      </a:r>
                      <a:r>
                        <a:rPr sz="1800" b="1" spc="395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10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f1-</a:t>
                      </a:r>
                      <a:r>
                        <a:rPr sz="1800" b="1" spc="-20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score</a:t>
                      </a:r>
                      <a:r>
                        <a:rPr sz="1800" b="1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800" b="1" spc="-10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support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9760"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r>
                        <a:rPr sz="1800" b="1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Class</a:t>
                      </a:r>
                      <a:r>
                        <a:rPr sz="1800" b="1" spc="-15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0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8430" marB="0"/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1090"/>
                        </a:spcBef>
                        <a:tabLst>
                          <a:tab pos="833119" algn="l"/>
                          <a:tab pos="1555115" algn="l"/>
                          <a:tab pos="2330450" algn="l"/>
                        </a:tabLst>
                      </a:pPr>
                      <a:r>
                        <a:rPr sz="1800" b="1" spc="-20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0.80</a:t>
                      </a:r>
                      <a:r>
                        <a:rPr sz="1800" b="1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800" b="1" spc="-20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0.69</a:t>
                      </a:r>
                      <a:r>
                        <a:rPr sz="1800" b="1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800" b="1" spc="-20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0.74</a:t>
                      </a:r>
                      <a:r>
                        <a:rPr sz="1800" b="1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800" b="1" spc="-25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328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843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0395"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r>
                        <a:rPr sz="1800" b="1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Class</a:t>
                      </a:r>
                      <a:r>
                        <a:rPr sz="1800" b="1" spc="-15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0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8430" marB="0"/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1090"/>
                        </a:spcBef>
                        <a:tabLst>
                          <a:tab pos="833119" algn="l"/>
                          <a:tab pos="1555115" algn="l"/>
                          <a:tab pos="2330450" algn="l"/>
                        </a:tabLst>
                      </a:pPr>
                      <a:r>
                        <a:rPr sz="1800" b="1" spc="-20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0.38</a:t>
                      </a:r>
                      <a:r>
                        <a:rPr sz="1800" b="1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800" b="1" spc="-20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0.53</a:t>
                      </a:r>
                      <a:r>
                        <a:rPr sz="1800" b="1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800" b="1" spc="-20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0.44</a:t>
                      </a:r>
                      <a:r>
                        <a:rPr sz="1800" b="1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800" b="1" spc="-25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153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843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9760"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r>
                        <a:rPr sz="1800" b="1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Class</a:t>
                      </a:r>
                      <a:r>
                        <a:rPr sz="1800" b="1" spc="-15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0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8430" marB="0"/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1090"/>
                        </a:spcBef>
                        <a:tabLst>
                          <a:tab pos="833119" algn="l"/>
                          <a:tab pos="1555115" algn="l"/>
                          <a:tab pos="2330450" algn="l"/>
                        </a:tabLst>
                      </a:pPr>
                      <a:r>
                        <a:rPr sz="1800" b="1" spc="-20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0.68</a:t>
                      </a:r>
                      <a:r>
                        <a:rPr sz="1800" b="1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800" b="1" spc="-20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0.63</a:t>
                      </a:r>
                      <a:r>
                        <a:rPr sz="1800" b="1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800" b="1" spc="-20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0.66</a:t>
                      </a:r>
                      <a:r>
                        <a:rPr sz="1800" b="1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800" b="1" spc="-25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212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843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0395"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r>
                        <a:rPr sz="1800" b="1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Class</a:t>
                      </a:r>
                      <a:r>
                        <a:rPr sz="1800" b="1" spc="-15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0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8430" marB="0"/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1090"/>
                        </a:spcBef>
                        <a:tabLst>
                          <a:tab pos="833119" algn="l"/>
                          <a:tab pos="1555115" algn="l"/>
                          <a:tab pos="2330450" algn="l"/>
                        </a:tabLst>
                      </a:pPr>
                      <a:r>
                        <a:rPr sz="1800" b="1" spc="-20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0.78</a:t>
                      </a:r>
                      <a:r>
                        <a:rPr sz="1800" b="1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800" b="1" spc="-20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0.75</a:t>
                      </a:r>
                      <a:r>
                        <a:rPr sz="1800" b="1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800" b="1" spc="-20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0.77</a:t>
                      </a:r>
                      <a:r>
                        <a:rPr sz="1800" b="1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800" b="1" spc="-25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106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843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0395">
                <a:tc>
                  <a:txBody>
                    <a:bodyPr/>
                    <a:lstStyle/>
                    <a:p>
                      <a:pPr marL="188595"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r>
                        <a:rPr sz="1800" b="1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Class</a:t>
                      </a:r>
                      <a:r>
                        <a:rPr sz="1800" b="1" spc="-15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50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8430" marB="0"/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  <a:spcBef>
                          <a:spcPts val="1090"/>
                        </a:spcBef>
                        <a:tabLst>
                          <a:tab pos="833119" algn="l"/>
                          <a:tab pos="1555115" algn="l"/>
                          <a:tab pos="2381885" algn="l"/>
                        </a:tabLst>
                      </a:pPr>
                      <a:r>
                        <a:rPr sz="1800" b="1" spc="-20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0.83</a:t>
                      </a:r>
                      <a:r>
                        <a:rPr sz="1800" b="1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800" b="1" spc="-20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0.93</a:t>
                      </a:r>
                      <a:r>
                        <a:rPr sz="1800" b="1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800" b="1" spc="-20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0.88</a:t>
                      </a:r>
                      <a:r>
                        <a:rPr sz="1800" b="1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800" b="1" spc="-25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27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843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19760">
                <a:tc>
                  <a:txBody>
                    <a:bodyPr/>
                    <a:lstStyle/>
                    <a:p>
                      <a:pPr marL="135255">
                        <a:lnSpc>
                          <a:spcPct val="100000"/>
                        </a:lnSpc>
                        <a:spcBef>
                          <a:spcPts val="1090"/>
                        </a:spcBef>
                      </a:pPr>
                      <a:r>
                        <a:rPr sz="1800" b="1" spc="-10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accuracy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8430" marB="0"/>
                </a:tc>
                <a:tc>
                  <a:txBody>
                    <a:bodyPr/>
                    <a:lstStyle/>
                    <a:p>
                      <a:pPr marL="1289050">
                        <a:lnSpc>
                          <a:spcPct val="100000"/>
                        </a:lnSpc>
                        <a:spcBef>
                          <a:spcPts val="1090"/>
                        </a:spcBef>
                        <a:tabLst>
                          <a:tab pos="2063750" algn="l"/>
                        </a:tabLst>
                      </a:pPr>
                      <a:r>
                        <a:rPr sz="1800" b="1" spc="-20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0.66</a:t>
                      </a:r>
                      <a:r>
                        <a:rPr sz="1800" b="1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800" b="1" spc="-25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826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843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4180">
                <a:tc>
                  <a:txBody>
                    <a:bodyPr/>
                    <a:lstStyle/>
                    <a:p>
                      <a:pPr marL="83185">
                        <a:lnSpc>
                          <a:spcPts val="2150"/>
                        </a:lnSpc>
                        <a:spcBef>
                          <a:spcPts val="1090"/>
                        </a:spcBef>
                      </a:pPr>
                      <a:r>
                        <a:rPr sz="1800" b="1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macro</a:t>
                      </a:r>
                      <a:r>
                        <a:rPr sz="1800" b="1" spc="-10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800" b="1" spc="-25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avg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8430" marB="0"/>
                </a:tc>
                <a:tc>
                  <a:txBody>
                    <a:bodyPr/>
                    <a:lstStyle/>
                    <a:p>
                      <a:pPr marL="346075">
                        <a:lnSpc>
                          <a:spcPts val="2150"/>
                        </a:lnSpc>
                        <a:spcBef>
                          <a:spcPts val="1090"/>
                        </a:spcBef>
                        <a:tabLst>
                          <a:tab pos="1068070" algn="l"/>
                          <a:tab pos="1790064" algn="l"/>
                          <a:tab pos="2565400" algn="l"/>
                        </a:tabLst>
                      </a:pPr>
                      <a:r>
                        <a:rPr sz="1800" b="1" spc="-20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0.69</a:t>
                      </a:r>
                      <a:r>
                        <a:rPr sz="1800" b="1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800" b="1" spc="-20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0.71</a:t>
                      </a:r>
                      <a:r>
                        <a:rPr sz="1800" b="1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800" b="1" spc="-20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0.70</a:t>
                      </a:r>
                      <a:r>
                        <a:rPr sz="1800" b="1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	</a:t>
                      </a:r>
                      <a:r>
                        <a:rPr sz="1800" b="1" spc="-25" dirty="0">
                          <a:solidFill>
                            <a:srgbClr val="365F91"/>
                          </a:solidFill>
                          <a:latin typeface="Calibri"/>
                          <a:cs typeface="Calibri"/>
                        </a:rPr>
                        <a:t>826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13843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1024534" y="6420103"/>
            <a:ext cx="42233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644650" algn="l"/>
                <a:tab pos="2367280" algn="l"/>
                <a:tab pos="3088640" algn="l"/>
                <a:tab pos="3862704" algn="l"/>
              </a:tabLst>
            </a:pPr>
            <a:r>
              <a:rPr sz="1800" b="1" dirty="0">
                <a:solidFill>
                  <a:srgbClr val="365F91"/>
                </a:solidFill>
                <a:latin typeface="Calibri"/>
                <a:cs typeface="Calibri"/>
              </a:rPr>
              <a:t>weighted</a:t>
            </a:r>
            <a:r>
              <a:rPr sz="1800" b="1" spc="-25" dirty="0">
                <a:solidFill>
                  <a:srgbClr val="365F91"/>
                </a:solidFill>
                <a:latin typeface="Calibri"/>
                <a:cs typeface="Calibri"/>
              </a:rPr>
              <a:t> avg</a:t>
            </a:r>
            <a:r>
              <a:rPr sz="1800" b="1" dirty="0">
                <a:solidFill>
                  <a:srgbClr val="365F91"/>
                </a:solidFill>
                <a:latin typeface="Calibri"/>
                <a:cs typeface="Calibri"/>
              </a:rPr>
              <a:t>	</a:t>
            </a:r>
            <a:r>
              <a:rPr sz="1800" b="1" spc="-20" dirty="0">
                <a:solidFill>
                  <a:srgbClr val="365F91"/>
                </a:solidFill>
                <a:latin typeface="Calibri"/>
                <a:cs typeface="Calibri"/>
              </a:rPr>
              <a:t>0.69</a:t>
            </a:r>
            <a:r>
              <a:rPr sz="1800" b="1" dirty="0">
                <a:solidFill>
                  <a:srgbClr val="365F91"/>
                </a:solidFill>
                <a:latin typeface="Calibri"/>
                <a:cs typeface="Calibri"/>
              </a:rPr>
              <a:t>	</a:t>
            </a:r>
            <a:r>
              <a:rPr sz="1800" b="1" spc="-20" dirty="0">
                <a:solidFill>
                  <a:srgbClr val="365F91"/>
                </a:solidFill>
                <a:latin typeface="Calibri"/>
                <a:cs typeface="Calibri"/>
              </a:rPr>
              <a:t>0.66</a:t>
            </a:r>
            <a:r>
              <a:rPr sz="1800" b="1" dirty="0">
                <a:solidFill>
                  <a:srgbClr val="365F91"/>
                </a:solidFill>
                <a:latin typeface="Calibri"/>
                <a:cs typeface="Calibri"/>
              </a:rPr>
              <a:t>	</a:t>
            </a:r>
            <a:r>
              <a:rPr sz="1800" b="1" spc="-20" dirty="0">
                <a:solidFill>
                  <a:srgbClr val="365F91"/>
                </a:solidFill>
                <a:latin typeface="Calibri"/>
                <a:cs typeface="Calibri"/>
              </a:rPr>
              <a:t>0.67</a:t>
            </a:r>
            <a:r>
              <a:rPr sz="1800" b="1" dirty="0">
                <a:solidFill>
                  <a:srgbClr val="365F91"/>
                </a:solidFill>
                <a:latin typeface="Calibri"/>
                <a:cs typeface="Calibri"/>
              </a:rPr>
              <a:t>	</a:t>
            </a:r>
            <a:r>
              <a:rPr sz="1800" b="1" spc="-25" dirty="0">
                <a:solidFill>
                  <a:srgbClr val="365F91"/>
                </a:solidFill>
                <a:latin typeface="Calibri"/>
                <a:cs typeface="Calibri"/>
              </a:rPr>
              <a:t>826</a:t>
            </a:r>
            <a:endParaRPr sz="1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56" y="36017"/>
            <a:ext cx="3127248" cy="91610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9192" y="905780"/>
            <a:ext cx="3121025" cy="2832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114" dirty="0">
                <a:solidFill>
                  <a:srgbClr val="365F91"/>
                </a:solidFill>
                <a:latin typeface="Calibri"/>
                <a:cs typeface="Calibri"/>
              </a:rPr>
              <a:t>Classification</a:t>
            </a:r>
            <a:r>
              <a:rPr sz="1700" spc="90" dirty="0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sz="1700" spc="135" dirty="0">
                <a:solidFill>
                  <a:srgbClr val="365F91"/>
                </a:solidFill>
                <a:latin typeface="Calibri"/>
                <a:cs typeface="Calibri"/>
              </a:rPr>
              <a:t>Report</a:t>
            </a:r>
            <a:r>
              <a:rPr sz="1700" spc="85" dirty="0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sz="1700" spc="120" dirty="0">
                <a:solidFill>
                  <a:srgbClr val="365F91"/>
                </a:solidFill>
                <a:latin typeface="Calibri"/>
                <a:cs typeface="Calibri"/>
              </a:rPr>
              <a:t>Analysis</a:t>
            </a:r>
            <a:endParaRPr sz="17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09192" y="1416473"/>
            <a:ext cx="7851775" cy="2787650"/>
          </a:xfrm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12700" marR="523240">
              <a:lnSpc>
                <a:spcPts val="1660"/>
              </a:lnSpc>
              <a:spcBef>
                <a:spcPts val="215"/>
              </a:spcBef>
            </a:pPr>
            <a:r>
              <a:rPr sz="1450" spc="135" dirty="0">
                <a:latin typeface="Times New Roman"/>
                <a:cs typeface="Times New Roman"/>
              </a:rPr>
              <a:t>The</a:t>
            </a:r>
            <a:r>
              <a:rPr sz="1450" spc="70" dirty="0">
                <a:latin typeface="Times New Roman"/>
                <a:cs typeface="Times New Roman"/>
              </a:rPr>
              <a:t> </a:t>
            </a:r>
            <a:r>
              <a:rPr sz="1450" spc="100" dirty="0">
                <a:latin typeface="Times New Roman"/>
                <a:cs typeface="Times New Roman"/>
              </a:rPr>
              <a:t>classification</a:t>
            </a:r>
            <a:r>
              <a:rPr sz="1450" spc="80" dirty="0">
                <a:latin typeface="Times New Roman"/>
                <a:cs typeface="Times New Roman"/>
              </a:rPr>
              <a:t> </a:t>
            </a:r>
            <a:r>
              <a:rPr sz="1450" spc="100" dirty="0">
                <a:latin typeface="Times New Roman"/>
                <a:cs typeface="Times New Roman"/>
              </a:rPr>
              <a:t>report</a:t>
            </a:r>
            <a:r>
              <a:rPr sz="1450" spc="95" dirty="0">
                <a:latin typeface="Times New Roman"/>
                <a:cs typeface="Times New Roman"/>
              </a:rPr>
              <a:t> </a:t>
            </a:r>
            <a:r>
              <a:rPr sz="1450" spc="110" dirty="0">
                <a:latin typeface="Times New Roman"/>
                <a:cs typeface="Times New Roman"/>
              </a:rPr>
              <a:t>provides</a:t>
            </a:r>
            <a:r>
              <a:rPr sz="1450" spc="80" dirty="0">
                <a:latin typeface="Times New Roman"/>
                <a:cs typeface="Times New Roman"/>
              </a:rPr>
              <a:t> </a:t>
            </a:r>
            <a:r>
              <a:rPr sz="1450" spc="100" dirty="0">
                <a:latin typeface="Times New Roman"/>
                <a:cs typeface="Times New Roman"/>
              </a:rPr>
              <a:t>precision,</a:t>
            </a:r>
            <a:r>
              <a:rPr sz="1450" spc="80" dirty="0">
                <a:latin typeface="Times New Roman"/>
                <a:cs typeface="Times New Roman"/>
              </a:rPr>
              <a:t> </a:t>
            </a:r>
            <a:r>
              <a:rPr sz="1450" spc="90" dirty="0">
                <a:latin typeface="Times New Roman"/>
                <a:cs typeface="Times New Roman"/>
              </a:rPr>
              <a:t>recall,</a:t>
            </a:r>
            <a:r>
              <a:rPr sz="1450" spc="80" dirty="0">
                <a:latin typeface="Times New Roman"/>
                <a:cs typeface="Times New Roman"/>
              </a:rPr>
              <a:t> </a:t>
            </a:r>
            <a:r>
              <a:rPr sz="1450" spc="120" dirty="0">
                <a:latin typeface="Times New Roman"/>
                <a:cs typeface="Times New Roman"/>
              </a:rPr>
              <a:t>and</a:t>
            </a:r>
            <a:r>
              <a:rPr sz="1450" spc="85" dirty="0">
                <a:latin typeface="Times New Roman"/>
                <a:cs typeface="Times New Roman"/>
              </a:rPr>
              <a:t> </a:t>
            </a:r>
            <a:r>
              <a:rPr sz="1450" spc="110" dirty="0">
                <a:latin typeface="Times New Roman"/>
                <a:cs typeface="Times New Roman"/>
              </a:rPr>
              <a:t>F1-score</a:t>
            </a:r>
            <a:r>
              <a:rPr sz="1450" spc="85" dirty="0">
                <a:latin typeface="Times New Roman"/>
                <a:cs typeface="Times New Roman"/>
              </a:rPr>
              <a:t> </a:t>
            </a:r>
            <a:r>
              <a:rPr sz="1450" spc="95" dirty="0">
                <a:latin typeface="Times New Roman"/>
                <a:cs typeface="Times New Roman"/>
              </a:rPr>
              <a:t>for</a:t>
            </a:r>
            <a:r>
              <a:rPr sz="1450" spc="70" dirty="0">
                <a:latin typeface="Times New Roman"/>
                <a:cs typeface="Times New Roman"/>
              </a:rPr>
              <a:t> </a:t>
            </a:r>
            <a:r>
              <a:rPr sz="1450" spc="114" dirty="0">
                <a:latin typeface="Times New Roman"/>
                <a:cs typeface="Times New Roman"/>
              </a:rPr>
              <a:t>each</a:t>
            </a:r>
            <a:r>
              <a:rPr sz="1450" spc="95" dirty="0">
                <a:latin typeface="Times New Roman"/>
                <a:cs typeface="Times New Roman"/>
              </a:rPr>
              <a:t> class.</a:t>
            </a:r>
            <a:r>
              <a:rPr sz="1450" spc="80" dirty="0">
                <a:latin typeface="Times New Roman"/>
                <a:cs typeface="Times New Roman"/>
              </a:rPr>
              <a:t> </a:t>
            </a:r>
            <a:r>
              <a:rPr sz="1450" spc="110" dirty="0">
                <a:latin typeface="Times New Roman"/>
                <a:cs typeface="Times New Roman"/>
              </a:rPr>
              <a:t>The </a:t>
            </a:r>
            <a:r>
              <a:rPr sz="1450" spc="100" dirty="0">
                <a:latin typeface="Times New Roman"/>
                <a:cs typeface="Times New Roman"/>
              </a:rPr>
              <a:t>overall</a:t>
            </a:r>
            <a:r>
              <a:rPr sz="1450" spc="75" dirty="0">
                <a:latin typeface="Times New Roman"/>
                <a:cs typeface="Times New Roman"/>
              </a:rPr>
              <a:t> </a:t>
            </a:r>
            <a:r>
              <a:rPr sz="1450" spc="114" dirty="0">
                <a:latin typeface="Times New Roman"/>
                <a:cs typeface="Times New Roman"/>
              </a:rPr>
              <a:t>accuracy</a:t>
            </a:r>
            <a:r>
              <a:rPr sz="1450" spc="75" dirty="0">
                <a:latin typeface="Times New Roman"/>
                <a:cs typeface="Times New Roman"/>
              </a:rPr>
              <a:t> </a:t>
            </a:r>
            <a:r>
              <a:rPr sz="1450" spc="105" dirty="0">
                <a:latin typeface="Times New Roman"/>
                <a:cs typeface="Times New Roman"/>
              </a:rPr>
              <a:t>of</a:t>
            </a:r>
            <a:r>
              <a:rPr sz="1450" spc="75" dirty="0">
                <a:latin typeface="Times New Roman"/>
                <a:cs typeface="Times New Roman"/>
              </a:rPr>
              <a:t> </a:t>
            </a:r>
            <a:r>
              <a:rPr sz="1450" spc="110" dirty="0">
                <a:latin typeface="Times New Roman"/>
                <a:cs typeface="Times New Roman"/>
              </a:rPr>
              <a:t>the</a:t>
            </a:r>
            <a:r>
              <a:rPr sz="1450" spc="65" dirty="0">
                <a:latin typeface="Times New Roman"/>
                <a:cs typeface="Times New Roman"/>
              </a:rPr>
              <a:t> </a:t>
            </a:r>
            <a:r>
              <a:rPr sz="1450" spc="130" dirty="0">
                <a:latin typeface="Times New Roman"/>
                <a:cs typeface="Times New Roman"/>
              </a:rPr>
              <a:t>model</a:t>
            </a:r>
            <a:r>
              <a:rPr sz="1450" spc="75" dirty="0">
                <a:latin typeface="Times New Roman"/>
                <a:cs typeface="Times New Roman"/>
              </a:rPr>
              <a:t> </a:t>
            </a:r>
            <a:r>
              <a:rPr sz="1450" spc="90" dirty="0">
                <a:latin typeface="Times New Roman"/>
                <a:cs typeface="Times New Roman"/>
              </a:rPr>
              <a:t>is</a:t>
            </a:r>
            <a:r>
              <a:rPr sz="1450" spc="80" dirty="0">
                <a:latin typeface="Times New Roman"/>
                <a:cs typeface="Times New Roman"/>
              </a:rPr>
              <a:t> </a:t>
            </a:r>
            <a:r>
              <a:rPr sz="1450" b="1" spc="170" dirty="0">
                <a:latin typeface="Times New Roman"/>
                <a:cs typeface="Times New Roman"/>
              </a:rPr>
              <a:t>66%</a:t>
            </a:r>
            <a:r>
              <a:rPr sz="1450" b="1" spc="75" dirty="0">
                <a:latin typeface="Times New Roman"/>
                <a:cs typeface="Times New Roman"/>
              </a:rPr>
              <a:t> </a:t>
            </a:r>
            <a:r>
              <a:rPr sz="1450" spc="114" dirty="0">
                <a:latin typeface="Times New Roman"/>
                <a:cs typeface="Times New Roman"/>
              </a:rPr>
              <a:t>with</a:t>
            </a:r>
            <a:r>
              <a:rPr sz="1450" spc="75" dirty="0">
                <a:latin typeface="Times New Roman"/>
                <a:cs typeface="Times New Roman"/>
              </a:rPr>
              <a:t> </a:t>
            </a:r>
            <a:r>
              <a:rPr sz="1450" spc="120" dirty="0">
                <a:latin typeface="Times New Roman"/>
                <a:cs typeface="Times New Roman"/>
              </a:rPr>
              <a:t>a</a:t>
            </a:r>
            <a:r>
              <a:rPr sz="1450" spc="75" dirty="0">
                <a:latin typeface="Times New Roman"/>
                <a:cs typeface="Times New Roman"/>
              </a:rPr>
              <a:t> </a:t>
            </a:r>
            <a:r>
              <a:rPr sz="1450" spc="114" dirty="0">
                <a:latin typeface="Times New Roman"/>
                <a:cs typeface="Times New Roman"/>
              </a:rPr>
              <a:t>weighted</a:t>
            </a:r>
            <a:r>
              <a:rPr sz="1450" spc="75" dirty="0">
                <a:latin typeface="Times New Roman"/>
                <a:cs typeface="Times New Roman"/>
              </a:rPr>
              <a:t> </a:t>
            </a:r>
            <a:r>
              <a:rPr sz="1450" spc="110" dirty="0">
                <a:latin typeface="Times New Roman"/>
                <a:cs typeface="Times New Roman"/>
              </a:rPr>
              <a:t>F1-score</a:t>
            </a:r>
            <a:r>
              <a:rPr sz="1450" spc="60" dirty="0">
                <a:latin typeface="Times New Roman"/>
                <a:cs typeface="Times New Roman"/>
              </a:rPr>
              <a:t> </a:t>
            </a:r>
            <a:r>
              <a:rPr sz="1450" spc="105" dirty="0">
                <a:latin typeface="Times New Roman"/>
                <a:cs typeface="Times New Roman"/>
              </a:rPr>
              <a:t>of</a:t>
            </a:r>
            <a:r>
              <a:rPr sz="1450" spc="75" dirty="0">
                <a:latin typeface="Times New Roman"/>
                <a:cs typeface="Times New Roman"/>
              </a:rPr>
              <a:t> </a:t>
            </a:r>
            <a:r>
              <a:rPr sz="1450" b="1" spc="90" dirty="0">
                <a:latin typeface="Times New Roman"/>
                <a:cs typeface="Times New Roman"/>
              </a:rPr>
              <a:t>0.67</a:t>
            </a:r>
            <a:r>
              <a:rPr sz="1450" spc="90" dirty="0">
                <a:latin typeface="Times New Roman"/>
                <a:cs typeface="Times New Roman"/>
              </a:rPr>
              <a:t>.</a:t>
            </a:r>
            <a:endParaRPr sz="1450">
              <a:latin typeface="Times New Roman"/>
              <a:cs typeface="Times New Roman"/>
            </a:endParaRPr>
          </a:p>
          <a:p>
            <a:pPr marL="12700" marR="103505">
              <a:lnSpc>
                <a:spcPct val="95600"/>
              </a:lnSpc>
              <a:spcBef>
                <a:spcPts val="1650"/>
              </a:spcBef>
            </a:pPr>
            <a:r>
              <a:rPr sz="1450" spc="105" dirty="0">
                <a:latin typeface="Times New Roman"/>
                <a:cs typeface="Times New Roman"/>
              </a:rPr>
              <a:t>Class-</a:t>
            </a:r>
            <a:r>
              <a:rPr sz="1450" spc="114" dirty="0">
                <a:latin typeface="Times New Roman"/>
                <a:cs typeface="Times New Roman"/>
              </a:rPr>
              <a:t>wise</a:t>
            </a:r>
            <a:r>
              <a:rPr sz="1450" spc="70" dirty="0">
                <a:latin typeface="Times New Roman"/>
                <a:cs typeface="Times New Roman"/>
              </a:rPr>
              <a:t> </a:t>
            </a:r>
            <a:r>
              <a:rPr sz="1450" spc="105" dirty="0">
                <a:latin typeface="Times New Roman"/>
                <a:cs typeface="Times New Roman"/>
              </a:rPr>
              <a:t>analysis</a:t>
            </a:r>
            <a:r>
              <a:rPr sz="1450" spc="75" dirty="0">
                <a:latin typeface="Times New Roman"/>
                <a:cs typeface="Times New Roman"/>
              </a:rPr>
              <a:t> </a:t>
            </a:r>
            <a:r>
              <a:rPr sz="1450" spc="130" dirty="0">
                <a:latin typeface="Times New Roman"/>
                <a:cs typeface="Times New Roman"/>
              </a:rPr>
              <a:t>shows</a:t>
            </a:r>
            <a:r>
              <a:rPr sz="1450" spc="75" dirty="0">
                <a:latin typeface="Times New Roman"/>
                <a:cs typeface="Times New Roman"/>
              </a:rPr>
              <a:t> </a:t>
            </a:r>
            <a:r>
              <a:rPr sz="1450" spc="100" dirty="0">
                <a:latin typeface="Times New Roman"/>
                <a:cs typeface="Times New Roman"/>
              </a:rPr>
              <a:t>that</a:t>
            </a:r>
            <a:r>
              <a:rPr sz="1450" spc="85" dirty="0">
                <a:latin typeface="Times New Roman"/>
                <a:cs typeface="Times New Roman"/>
              </a:rPr>
              <a:t> </a:t>
            </a:r>
            <a:r>
              <a:rPr sz="1450" b="1" spc="110" dirty="0">
                <a:latin typeface="Times New Roman"/>
                <a:cs typeface="Times New Roman"/>
              </a:rPr>
              <a:t>Class</a:t>
            </a:r>
            <a:r>
              <a:rPr sz="1450" b="1" spc="75" dirty="0">
                <a:latin typeface="Times New Roman"/>
                <a:cs typeface="Times New Roman"/>
              </a:rPr>
              <a:t> </a:t>
            </a:r>
            <a:r>
              <a:rPr sz="1450" b="1" spc="130" dirty="0">
                <a:latin typeface="Times New Roman"/>
                <a:cs typeface="Times New Roman"/>
              </a:rPr>
              <a:t>4</a:t>
            </a:r>
            <a:r>
              <a:rPr sz="1450" b="1" spc="75" dirty="0">
                <a:latin typeface="Times New Roman"/>
                <a:cs typeface="Times New Roman"/>
              </a:rPr>
              <a:t> </a:t>
            </a:r>
            <a:r>
              <a:rPr sz="1450" b="1" spc="125" dirty="0">
                <a:latin typeface="Times New Roman"/>
                <a:cs typeface="Times New Roman"/>
              </a:rPr>
              <a:t>performs</a:t>
            </a:r>
            <a:r>
              <a:rPr sz="1450" b="1" spc="75" dirty="0">
                <a:latin typeface="Times New Roman"/>
                <a:cs typeface="Times New Roman"/>
              </a:rPr>
              <a:t> </a:t>
            </a:r>
            <a:r>
              <a:rPr sz="1450" b="1" spc="110" dirty="0">
                <a:latin typeface="Times New Roman"/>
                <a:cs typeface="Times New Roman"/>
              </a:rPr>
              <a:t>best</a:t>
            </a:r>
            <a:r>
              <a:rPr sz="1450" b="1" spc="85" dirty="0">
                <a:latin typeface="Times New Roman"/>
                <a:cs typeface="Times New Roman"/>
              </a:rPr>
              <a:t> </a:t>
            </a:r>
            <a:r>
              <a:rPr sz="1450" spc="114" dirty="0">
                <a:latin typeface="Times New Roman"/>
                <a:cs typeface="Times New Roman"/>
              </a:rPr>
              <a:t>with</a:t>
            </a:r>
            <a:r>
              <a:rPr sz="1450" spc="75" dirty="0">
                <a:latin typeface="Times New Roman"/>
                <a:cs typeface="Times New Roman"/>
              </a:rPr>
              <a:t> </a:t>
            </a:r>
            <a:r>
              <a:rPr sz="1450" spc="125" dirty="0">
                <a:latin typeface="Times New Roman"/>
                <a:cs typeface="Times New Roman"/>
              </a:rPr>
              <a:t>an</a:t>
            </a:r>
            <a:r>
              <a:rPr sz="1450" spc="75" dirty="0">
                <a:latin typeface="Times New Roman"/>
                <a:cs typeface="Times New Roman"/>
              </a:rPr>
              <a:t> </a:t>
            </a:r>
            <a:r>
              <a:rPr sz="1450" spc="105" dirty="0">
                <a:latin typeface="Times New Roman"/>
                <a:cs typeface="Times New Roman"/>
              </a:rPr>
              <a:t>F1-</a:t>
            </a:r>
            <a:r>
              <a:rPr sz="1450" spc="110" dirty="0">
                <a:latin typeface="Times New Roman"/>
                <a:cs typeface="Times New Roman"/>
              </a:rPr>
              <a:t>score</a:t>
            </a:r>
            <a:r>
              <a:rPr sz="1450" spc="70" dirty="0">
                <a:latin typeface="Times New Roman"/>
                <a:cs typeface="Times New Roman"/>
              </a:rPr>
              <a:t> </a:t>
            </a:r>
            <a:r>
              <a:rPr sz="1450" spc="110" dirty="0">
                <a:latin typeface="Times New Roman"/>
                <a:cs typeface="Times New Roman"/>
              </a:rPr>
              <a:t>of</a:t>
            </a:r>
            <a:r>
              <a:rPr sz="1450" spc="90" dirty="0">
                <a:latin typeface="Times New Roman"/>
                <a:cs typeface="Times New Roman"/>
              </a:rPr>
              <a:t> </a:t>
            </a:r>
            <a:r>
              <a:rPr sz="1450" b="1" spc="90" dirty="0">
                <a:latin typeface="Times New Roman"/>
                <a:cs typeface="Times New Roman"/>
              </a:rPr>
              <a:t>0.88</a:t>
            </a:r>
            <a:r>
              <a:rPr sz="1450" spc="90" dirty="0">
                <a:latin typeface="Times New Roman"/>
                <a:cs typeface="Times New Roman"/>
              </a:rPr>
              <a:t>, </a:t>
            </a:r>
            <a:r>
              <a:rPr sz="1450" spc="105" dirty="0">
                <a:latin typeface="Times New Roman"/>
                <a:cs typeface="Times New Roman"/>
              </a:rPr>
              <a:t>indicating</a:t>
            </a:r>
            <a:r>
              <a:rPr sz="1450" spc="75" dirty="0">
                <a:latin typeface="Times New Roman"/>
                <a:cs typeface="Times New Roman"/>
              </a:rPr>
              <a:t> </a:t>
            </a:r>
            <a:r>
              <a:rPr sz="1450" spc="100" dirty="0">
                <a:latin typeface="Times New Roman"/>
                <a:cs typeface="Times New Roman"/>
              </a:rPr>
              <a:t>excellent</a:t>
            </a:r>
            <a:r>
              <a:rPr sz="1450" spc="70" dirty="0">
                <a:latin typeface="Times New Roman"/>
                <a:cs typeface="Times New Roman"/>
              </a:rPr>
              <a:t> </a:t>
            </a:r>
            <a:r>
              <a:rPr sz="1450" spc="105" dirty="0">
                <a:latin typeface="Times New Roman"/>
                <a:cs typeface="Times New Roman"/>
              </a:rPr>
              <a:t>prediction</a:t>
            </a:r>
            <a:r>
              <a:rPr sz="1450" spc="75" dirty="0">
                <a:latin typeface="Times New Roman"/>
                <a:cs typeface="Times New Roman"/>
              </a:rPr>
              <a:t> </a:t>
            </a:r>
            <a:r>
              <a:rPr sz="1450" spc="100" dirty="0">
                <a:latin typeface="Times New Roman"/>
                <a:cs typeface="Times New Roman"/>
              </a:rPr>
              <a:t>capability.</a:t>
            </a:r>
            <a:r>
              <a:rPr sz="1450" spc="75" dirty="0">
                <a:latin typeface="Times New Roman"/>
                <a:cs typeface="Times New Roman"/>
              </a:rPr>
              <a:t> </a:t>
            </a:r>
            <a:r>
              <a:rPr sz="1450" spc="114" dirty="0">
                <a:latin typeface="Times New Roman"/>
                <a:cs typeface="Times New Roman"/>
              </a:rPr>
              <a:t>Classes</a:t>
            </a:r>
            <a:r>
              <a:rPr sz="1450" spc="75" dirty="0">
                <a:latin typeface="Times New Roman"/>
                <a:cs typeface="Times New Roman"/>
              </a:rPr>
              <a:t> </a:t>
            </a:r>
            <a:r>
              <a:rPr sz="1450" spc="130" dirty="0">
                <a:latin typeface="Times New Roman"/>
                <a:cs typeface="Times New Roman"/>
              </a:rPr>
              <a:t>3</a:t>
            </a:r>
            <a:r>
              <a:rPr sz="1450" spc="75" dirty="0">
                <a:latin typeface="Times New Roman"/>
                <a:cs typeface="Times New Roman"/>
              </a:rPr>
              <a:t> </a:t>
            </a:r>
            <a:r>
              <a:rPr sz="1450" spc="125" dirty="0">
                <a:latin typeface="Times New Roman"/>
                <a:cs typeface="Times New Roman"/>
              </a:rPr>
              <a:t>and</a:t>
            </a:r>
            <a:r>
              <a:rPr sz="1450" spc="75" dirty="0">
                <a:latin typeface="Times New Roman"/>
                <a:cs typeface="Times New Roman"/>
              </a:rPr>
              <a:t> </a:t>
            </a:r>
            <a:r>
              <a:rPr sz="1450" spc="130" dirty="0">
                <a:latin typeface="Times New Roman"/>
                <a:cs typeface="Times New Roman"/>
              </a:rPr>
              <a:t>0</a:t>
            </a:r>
            <a:r>
              <a:rPr sz="1450" spc="75" dirty="0">
                <a:latin typeface="Times New Roman"/>
                <a:cs typeface="Times New Roman"/>
              </a:rPr>
              <a:t> </a:t>
            </a:r>
            <a:r>
              <a:rPr sz="1450" spc="100" dirty="0">
                <a:latin typeface="Times New Roman"/>
                <a:cs typeface="Times New Roman"/>
              </a:rPr>
              <a:t>also</a:t>
            </a:r>
            <a:r>
              <a:rPr sz="1450" spc="75" dirty="0">
                <a:latin typeface="Times New Roman"/>
                <a:cs typeface="Times New Roman"/>
              </a:rPr>
              <a:t> </a:t>
            </a:r>
            <a:r>
              <a:rPr sz="1450" spc="135" dirty="0">
                <a:latin typeface="Times New Roman"/>
                <a:cs typeface="Times New Roman"/>
              </a:rPr>
              <a:t>show</a:t>
            </a:r>
            <a:r>
              <a:rPr sz="1450" spc="75" dirty="0">
                <a:latin typeface="Times New Roman"/>
                <a:cs typeface="Times New Roman"/>
              </a:rPr>
              <a:t> </a:t>
            </a:r>
            <a:r>
              <a:rPr sz="1450" spc="105" dirty="0">
                <a:latin typeface="Times New Roman"/>
                <a:cs typeface="Times New Roman"/>
              </a:rPr>
              <a:t>strong</a:t>
            </a:r>
            <a:r>
              <a:rPr sz="1450" spc="85" dirty="0">
                <a:latin typeface="Times New Roman"/>
                <a:cs typeface="Times New Roman"/>
              </a:rPr>
              <a:t> </a:t>
            </a:r>
            <a:r>
              <a:rPr sz="1450" spc="105" dirty="0">
                <a:latin typeface="Times New Roman"/>
                <a:cs typeface="Times New Roman"/>
              </a:rPr>
              <a:t>performance </a:t>
            </a:r>
            <a:r>
              <a:rPr sz="1450" spc="114" dirty="0">
                <a:latin typeface="Times New Roman"/>
                <a:cs typeface="Times New Roman"/>
              </a:rPr>
              <a:t>with</a:t>
            </a:r>
            <a:r>
              <a:rPr sz="1450" spc="70" dirty="0">
                <a:latin typeface="Times New Roman"/>
                <a:cs typeface="Times New Roman"/>
              </a:rPr>
              <a:t> </a:t>
            </a:r>
            <a:r>
              <a:rPr sz="1450" spc="110" dirty="0">
                <a:latin typeface="Times New Roman"/>
                <a:cs typeface="Times New Roman"/>
              </a:rPr>
              <a:t>F1-scores</a:t>
            </a:r>
            <a:r>
              <a:rPr sz="1450" spc="75" dirty="0">
                <a:latin typeface="Times New Roman"/>
                <a:cs typeface="Times New Roman"/>
              </a:rPr>
              <a:t> </a:t>
            </a:r>
            <a:r>
              <a:rPr sz="1450" spc="120" dirty="0">
                <a:latin typeface="Times New Roman"/>
                <a:cs typeface="Times New Roman"/>
              </a:rPr>
              <a:t>above</a:t>
            </a:r>
            <a:r>
              <a:rPr sz="1450" spc="70" dirty="0">
                <a:latin typeface="Times New Roman"/>
                <a:cs typeface="Times New Roman"/>
              </a:rPr>
              <a:t> </a:t>
            </a:r>
            <a:r>
              <a:rPr sz="1450" b="1" spc="105" dirty="0">
                <a:latin typeface="Times New Roman"/>
                <a:cs typeface="Times New Roman"/>
              </a:rPr>
              <a:t>0.74</a:t>
            </a:r>
            <a:r>
              <a:rPr sz="1450" spc="105" dirty="0">
                <a:latin typeface="Times New Roman"/>
                <a:cs typeface="Times New Roman"/>
              </a:rPr>
              <a:t>.</a:t>
            </a:r>
            <a:r>
              <a:rPr sz="1450" spc="75" dirty="0">
                <a:latin typeface="Times New Roman"/>
                <a:cs typeface="Times New Roman"/>
              </a:rPr>
              <a:t> </a:t>
            </a:r>
            <a:r>
              <a:rPr sz="1450" spc="125" dirty="0">
                <a:latin typeface="Times New Roman"/>
                <a:cs typeface="Times New Roman"/>
              </a:rPr>
              <a:t>However,</a:t>
            </a:r>
            <a:r>
              <a:rPr sz="1450" spc="70" dirty="0">
                <a:latin typeface="Times New Roman"/>
                <a:cs typeface="Times New Roman"/>
              </a:rPr>
              <a:t> </a:t>
            </a:r>
            <a:r>
              <a:rPr sz="1450" b="1" spc="110" dirty="0">
                <a:latin typeface="Times New Roman"/>
                <a:cs typeface="Times New Roman"/>
              </a:rPr>
              <a:t>Class</a:t>
            </a:r>
            <a:r>
              <a:rPr sz="1450" b="1" spc="75" dirty="0">
                <a:latin typeface="Times New Roman"/>
                <a:cs typeface="Times New Roman"/>
              </a:rPr>
              <a:t> </a:t>
            </a:r>
            <a:r>
              <a:rPr sz="1450" b="1" spc="130" dirty="0">
                <a:latin typeface="Times New Roman"/>
                <a:cs typeface="Times New Roman"/>
              </a:rPr>
              <a:t>1</a:t>
            </a:r>
            <a:r>
              <a:rPr sz="1450" b="1" spc="75" dirty="0">
                <a:latin typeface="Times New Roman"/>
                <a:cs typeface="Times New Roman"/>
              </a:rPr>
              <a:t> </a:t>
            </a:r>
            <a:r>
              <a:rPr sz="1450" b="1" spc="105" dirty="0">
                <a:latin typeface="Times New Roman"/>
                <a:cs typeface="Times New Roman"/>
              </a:rPr>
              <a:t>exhibits</a:t>
            </a:r>
            <a:r>
              <a:rPr sz="1450" b="1" spc="75" dirty="0">
                <a:latin typeface="Times New Roman"/>
                <a:cs typeface="Times New Roman"/>
              </a:rPr>
              <a:t> </a:t>
            </a:r>
            <a:r>
              <a:rPr sz="1450" b="1" spc="130" dirty="0">
                <a:latin typeface="Times New Roman"/>
                <a:cs typeface="Times New Roman"/>
              </a:rPr>
              <a:t>weaker</a:t>
            </a:r>
            <a:r>
              <a:rPr sz="1450" b="1" spc="70" dirty="0">
                <a:latin typeface="Times New Roman"/>
                <a:cs typeface="Times New Roman"/>
              </a:rPr>
              <a:t> </a:t>
            </a:r>
            <a:r>
              <a:rPr sz="1450" b="1" spc="130" dirty="0">
                <a:latin typeface="Times New Roman"/>
                <a:cs typeface="Times New Roman"/>
              </a:rPr>
              <a:t>performance</a:t>
            </a:r>
            <a:r>
              <a:rPr sz="1450" b="1" spc="90" dirty="0">
                <a:latin typeface="Times New Roman"/>
                <a:cs typeface="Times New Roman"/>
              </a:rPr>
              <a:t> </a:t>
            </a:r>
            <a:r>
              <a:rPr sz="1450" spc="114" dirty="0">
                <a:latin typeface="Times New Roman"/>
                <a:cs typeface="Times New Roman"/>
              </a:rPr>
              <a:t>with</a:t>
            </a:r>
            <a:r>
              <a:rPr sz="1450" spc="75" dirty="0">
                <a:latin typeface="Times New Roman"/>
                <a:cs typeface="Times New Roman"/>
              </a:rPr>
              <a:t> </a:t>
            </a:r>
            <a:r>
              <a:rPr sz="1450" spc="120" dirty="0">
                <a:latin typeface="Times New Roman"/>
                <a:cs typeface="Times New Roman"/>
              </a:rPr>
              <a:t>a</a:t>
            </a:r>
            <a:r>
              <a:rPr sz="1450" spc="75" dirty="0">
                <a:latin typeface="Times New Roman"/>
                <a:cs typeface="Times New Roman"/>
              </a:rPr>
              <a:t> </a:t>
            </a:r>
            <a:r>
              <a:rPr sz="1450" spc="100" dirty="0">
                <a:latin typeface="Times New Roman"/>
                <a:cs typeface="Times New Roman"/>
              </a:rPr>
              <a:t>low </a:t>
            </a:r>
            <a:r>
              <a:rPr sz="1450" spc="105" dirty="0">
                <a:latin typeface="Times New Roman"/>
                <a:cs typeface="Times New Roman"/>
              </a:rPr>
              <a:t>precision</a:t>
            </a:r>
            <a:r>
              <a:rPr sz="1450" spc="80" dirty="0">
                <a:latin typeface="Times New Roman"/>
                <a:cs typeface="Times New Roman"/>
              </a:rPr>
              <a:t> </a:t>
            </a:r>
            <a:r>
              <a:rPr sz="1450" spc="105" dirty="0">
                <a:latin typeface="Times New Roman"/>
                <a:cs typeface="Times New Roman"/>
              </a:rPr>
              <a:t>of</a:t>
            </a:r>
            <a:r>
              <a:rPr sz="1450" spc="80" dirty="0">
                <a:latin typeface="Times New Roman"/>
                <a:cs typeface="Times New Roman"/>
              </a:rPr>
              <a:t> </a:t>
            </a:r>
            <a:r>
              <a:rPr sz="1450" b="1" spc="110" dirty="0">
                <a:latin typeface="Times New Roman"/>
                <a:cs typeface="Times New Roman"/>
              </a:rPr>
              <a:t>0.38</a:t>
            </a:r>
            <a:r>
              <a:rPr sz="1450" b="1" spc="90" dirty="0">
                <a:latin typeface="Times New Roman"/>
                <a:cs typeface="Times New Roman"/>
              </a:rPr>
              <a:t> </a:t>
            </a:r>
            <a:r>
              <a:rPr sz="1450" spc="120" dirty="0">
                <a:latin typeface="Times New Roman"/>
                <a:cs typeface="Times New Roman"/>
              </a:rPr>
              <a:t>and</a:t>
            </a:r>
            <a:r>
              <a:rPr sz="1450" spc="100" dirty="0">
                <a:latin typeface="Times New Roman"/>
                <a:cs typeface="Times New Roman"/>
              </a:rPr>
              <a:t> </a:t>
            </a:r>
            <a:r>
              <a:rPr sz="1450" spc="114" dirty="0">
                <a:latin typeface="Times New Roman"/>
                <a:cs typeface="Times New Roman"/>
              </a:rPr>
              <a:t>F1-</a:t>
            </a:r>
            <a:r>
              <a:rPr sz="1450" spc="110" dirty="0">
                <a:latin typeface="Times New Roman"/>
                <a:cs typeface="Times New Roman"/>
              </a:rPr>
              <a:t>score</a:t>
            </a:r>
            <a:r>
              <a:rPr sz="1450" spc="70" dirty="0">
                <a:latin typeface="Times New Roman"/>
                <a:cs typeface="Times New Roman"/>
              </a:rPr>
              <a:t> </a:t>
            </a:r>
            <a:r>
              <a:rPr sz="1450" spc="105" dirty="0">
                <a:latin typeface="Times New Roman"/>
                <a:cs typeface="Times New Roman"/>
              </a:rPr>
              <a:t>of</a:t>
            </a:r>
            <a:r>
              <a:rPr sz="1450" spc="80" dirty="0">
                <a:latin typeface="Times New Roman"/>
                <a:cs typeface="Times New Roman"/>
              </a:rPr>
              <a:t> </a:t>
            </a:r>
            <a:r>
              <a:rPr sz="1450" b="1" spc="100" dirty="0">
                <a:latin typeface="Times New Roman"/>
                <a:cs typeface="Times New Roman"/>
              </a:rPr>
              <a:t>0.44</a:t>
            </a:r>
            <a:r>
              <a:rPr sz="1450" spc="100" dirty="0">
                <a:latin typeface="Times New Roman"/>
                <a:cs typeface="Times New Roman"/>
              </a:rPr>
              <a:t>,</a:t>
            </a:r>
            <a:r>
              <a:rPr sz="1450" spc="85" dirty="0">
                <a:latin typeface="Times New Roman"/>
                <a:cs typeface="Times New Roman"/>
              </a:rPr>
              <a:t> </a:t>
            </a:r>
            <a:r>
              <a:rPr sz="1450" spc="110" dirty="0">
                <a:latin typeface="Times New Roman"/>
                <a:cs typeface="Times New Roman"/>
              </a:rPr>
              <a:t>suggesting</a:t>
            </a:r>
            <a:r>
              <a:rPr sz="1450" spc="85" dirty="0">
                <a:latin typeface="Times New Roman"/>
                <a:cs typeface="Times New Roman"/>
              </a:rPr>
              <a:t> </a:t>
            </a:r>
            <a:r>
              <a:rPr sz="1450" spc="95" dirty="0">
                <a:latin typeface="Times New Roman"/>
                <a:cs typeface="Times New Roman"/>
              </a:rPr>
              <a:t>significant</a:t>
            </a:r>
            <a:r>
              <a:rPr sz="1450" spc="80" dirty="0">
                <a:latin typeface="Times New Roman"/>
                <a:cs typeface="Times New Roman"/>
              </a:rPr>
              <a:t> </a:t>
            </a:r>
            <a:r>
              <a:rPr sz="1450" spc="105" dirty="0">
                <a:latin typeface="Times New Roman"/>
                <a:cs typeface="Times New Roman"/>
              </a:rPr>
              <a:t>misclassification</a:t>
            </a:r>
            <a:r>
              <a:rPr sz="1450" spc="85" dirty="0">
                <a:latin typeface="Times New Roman"/>
                <a:cs typeface="Times New Roman"/>
              </a:rPr>
              <a:t> </a:t>
            </a:r>
            <a:r>
              <a:rPr sz="1450" spc="95" dirty="0">
                <a:latin typeface="Times New Roman"/>
                <a:cs typeface="Times New Roman"/>
              </a:rPr>
              <a:t>and </a:t>
            </a:r>
            <a:r>
              <a:rPr sz="1450" spc="110" dirty="0">
                <a:latin typeface="Times New Roman"/>
                <a:cs typeface="Times New Roman"/>
              </a:rPr>
              <a:t>confusion</a:t>
            </a:r>
            <a:r>
              <a:rPr sz="1450" spc="90" dirty="0">
                <a:latin typeface="Times New Roman"/>
                <a:cs typeface="Times New Roman"/>
              </a:rPr>
              <a:t> </a:t>
            </a:r>
            <a:r>
              <a:rPr sz="1450" spc="114" dirty="0">
                <a:latin typeface="Times New Roman"/>
                <a:cs typeface="Times New Roman"/>
              </a:rPr>
              <a:t>with</a:t>
            </a:r>
            <a:r>
              <a:rPr sz="1450" spc="90" dirty="0">
                <a:latin typeface="Times New Roman"/>
                <a:cs typeface="Times New Roman"/>
              </a:rPr>
              <a:t> </a:t>
            </a:r>
            <a:r>
              <a:rPr sz="1450" spc="110" dirty="0">
                <a:latin typeface="Times New Roman"/>
                <a:cs typeface="Times New Roman"/>
              </a:rPr>
              <a:t>neighboring</a:t>
            </a:r>
            <a:r>
              <a:rPr sz="1450" spc="90" dirty="0">
                <a:latin typeface="Times New Roman"/>
                <a:cs typeface="Times New Roman"/>
              </a:rPr>
              <a:t> classes.</a:t>
            </a:r>
            <a:endParaRPr sz="14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50">
              <a:latin typeface="Times New Roman"/>
              <a:cs typeface="Times New Roman"/>
            </a:endParaRPr>
          </a:p>
          <a:p>
            <a:pPr marL="12700" marR="5080">
              <a:lnSpc>
                <a:spcPts val="1660"/>
              </a:lnSpc>
            </a:pPr>
            <a:r>
              <a:rPr sz="1450" spc="135" dirty="0">
                <a:latin typeface="Times New Roman"/>
                <a:cs typeface="Times New Roman"/>
              </a:rPr>
              <a:t>The</a:t>
            </a:r>
            <a:r>
              <a:rPr sz="1450" spc="70" dirty="0">
                <a:latin typeface="Times New Roman"/>
                <a:cs typeface="Times New Roman"/>
              </a:rPr>
              <a:t> </a:t>
            </a:r>
            <a:r>
              <a:rPr sz="1450" spc="130" dirty="0">
                <a:latin typeface="Times New Roman"/>
                <a:cs typeface="Times New Roman"/>
              </a:rPr>
              <a:t>macro</a:t>
            </a:r>
            <a:r>
              <a:rPr sz="1450" spc="100" dirty="0">
                <a:latin typeface="Times New Roman"/>
                <a:cs typeface="Times New Roman"/>
              </a:rPr>
              <a:t> </a:t>
            </a:r>
            <a:r>
              <a:rPr sz="1450" spc="114" dirty="0">
                <a:latin typeface="Times New Roman"/>
                <a:cs typeface="Times New Roman"/>
              </a:rPr>
              <a:t>average</a:t>
            </a:r>
            <a:r>
              <a:rPr sz="1450" spc="95" dirty="0">
                <a:latin typeface="Times New Roman"/>
                <a:cs typeface="Times New Roman"/>
              </a:rPr>
              <a:t> </a:t>
            </a:r>
            <a:r>
              <a:rPr sz="1450" spc="110" dirty="0">
                <a:latin typeface="Times New Roman"/>
                <a:cs typeface="Times New Roman"/>
              </a:rPr>
              <a:t>F1-score</a:t>
            </a:r>
            <a:r>
              <a:rPr sz="1450" spc="75" dirty="0">
                <a:latin typeface="Times New Roman"/>
                <a:cs typeface="Times New Roman"/>
              </a:rPr>
              <a:t> </a:t>
            </a:r>
            <a:r>
              <a:rPr sz="1450" spc="105" dirty="0">
                <a:latin typeface="Times New Roman"/>
                <a:cs typeface="Times New Roman"/>
              </a:rPr>
              <a:t>of</a:t>
            </a:r>
            <a:r>
              <a:rPr sz="1450" spc="75" dirty="0">
                <a:latin typeface="Times New Roman"/>
                <a:cs typeface="Times New Roman"/>
              </a:rPr>
              <a:t> </a:t>
            </a:r>
            <a:r>
              <a:rPr sz="1450" b="1" spc="110" dirty="0">
                <a:latin typeface="Times New Roman"/>
                <a:cs typeface="Times New Roman"/>
              </a:rPr>
              <a:t>0.70</a:t>
            </a:r>
            <a:r>
              <a:rPr sz="1450" b="1" spc="85" dirty="0">
                <a:latin typeface="Times New Roman"/>
                <a:cs typeface="Times New Roman"/>
              </a:rPr>
              <a:t> </a:t>
            </a:r>
            <a:r>
              <a:rPr sz="1450" spc="100" dirty="0">
                <a:latin typeface="Times New Roman"/>
                <a:cs typeface="Times New Roman"/>
              </a:rPr>
              <a:t>indicates</a:t>
            </a:r>
            <a:r>
              <a:rPr sz="1450" spc="90" dirty="0">
                <a:latin typeface="Times New Roman"/>
                <a:cs typeface="Times New Roman"/>
              </a:rPr>
              <a:t> </a:t>
            </a:r>
            <a:r>
              <a:rPr sz="1450" spc="114" dirty="0">
                <a:latin typeface="Times New Roman"/>
                <a:cs typeface="Times New Roman"/>
              </a:rPr>
              <a:t>balanced</a:t>
            </a:r>
            <a:r>
              <a:rPr sz="1450" spc="85" dirty="0">
                <a:latin typeface="Times New Roman"/>
                <a:cs typeface="Times New Roman"/>
              </a:rPr>
              <a:t> </a:t>
            </a:r>
            <a:r>
              <a:rPr sz="1450" spc="114" dirty="0">
                <a:latin typeface="Times New Roman"/>
                <a:cs typeface="Times New Roman"/>
              </a:rPr>
              <a:t>performance</a:t>
            </a:r>
            <a:r>
              <a:rPr sz="1450" spc="75" dirty="0">
                <a:latin typeface="Times New Roman"/>
                <a:cs typeface="Times New Roman"/>
              </a:rPr>
              <a:t> </a:t>
            </a:r>
            <a:r>
              <a:rPr sz="1450" spc="105" dirty="0">
                <a:latin typeface="Times New Roman"/>
                <a:cs typeface="Times New Roman"/>
              </a:rPr>
              <a:t>across </a:t>
            </a:r>
            <a:r>
              <a:rPr sz="1450" spc="90" dirty="0">
                <a:latin typeface="Times New Roman"/>
                <a:cs typeface="Times New Roman"/>
              </a:rPr>
              <a:t>classes.</a:t>
            </a:r>
            <a:r>
              <a:rPr sz="1450" spc="500" dirty="0">
                <a:latin typeface="Times New Roman"/>
                <a:cs typeface="Times New Roman"/>
              </a:rPr>
              <a:t> </a:t>
            </a:r>
            <a:r>
              <a:rPr sz="1450" spc="120" dirty="0">
                <a:latin typeface="Times New Roman"/>
                <a:cs typeface="Times New Roman"/>
              </a:rPr>
              <a:t>These</a:t>
            </a:r>
            <a:r>
              <a:rPr sz="1450" spc="75" dirty="0">
                <a:latin typeface="Times New Roman"/>
                <a:cs typeface="Times New Roman"/>
              </a:rPr>
              <a:t> </a:t>
            </a:r>
            <a:r>
              <a:rPr sz="1450" spc="90" dirty="0">
                <a:latin typeface="Times New Roman"/>
                <a:cs typeface="Times New Roman"/>
              </a:rPr>
              <a:t>results,</a:t>
            </a:r>
            <a:r>
              <a:rPr sz="1450" spc="80" dirty="0">
                <a:latin typeface="Times New Roman"/>
                <a:cs typeface="Times New Roman"/>
              </a:rPr>
              <a:t> </a:t>
            </a:r>
            <a:r>
              <a:rPr sz="1450" spc="105" dirty="0">
                <a:latin typeface="Times New Roman"/>
                <a:cs typeface="Times New Roman"/>
              </a:rPr>
              <a:t>together</a:t>
            </a:r>
            <a:r>
              <a:rPr sz="1450" spc="80" dirty="0">
                <a:latin typeface="Times New Roman"/>
                <a:cs typeface="Times New Roman"/>
              </a:rPr>
              <a:t> </a:t>
            </a:r>
            <a:r>
              <a:rPr sz="1450" spc="120" dirty="0">
                <a:latin typeface="Times New Roman"/>
                <a:cs typeface="Times New Roman"/>
              </a:rPr>
              <a:t>with</a:t>
            </a:r>
            <a:r>
              <a:rPr sz="1450" spc="80" dirty="0">
                <a:latin typeface="Times New Roman"/>
                <a:cs typeface="Times New Roman"/>
              </a:rPr>
              <a:t> </a:t>
            </a:r>
            <a:r>
              <a:rPr sz="1450" spc="175" dirty="0">
                <a:latin typeface="Times New Roman"/>
                <a:cs typeface="Times New Roman"/>
              </a:rPr>
              <a:t>ROC–AUC</a:t>
            </a:r>
            <a:r>
              <a:rPr sz="1450" spc="90" dirty="0">
                <a:latin typeface="Times New Roman"/>
                <a:cs typeface="Times New Roman"/>
              </a:rPr>
              <a:t> </a:t>
            </a:r>
            <a:r>
              <a:rPr sz="1450" spc="120" dirty="0">
                <a:latin typeface="Times New Roman"/>
                <a:cs typeface="Times New Roman"/>
              </a:rPr>
              <a:t>and</a:t>
            </a:r>
            <a:r>
              <a:rPr sz="1450" spc="80" dirty="0">
                <a:latin typeface="Times New Roman"/>
                <a:cs typeface="Times New Roman"/>
              </a:rPr>
              <a:t> </a:t>
            </a:r>
            <a:r>
              <a:rPr sz="1450" spc="110" dirty="0">
                <a:latin typeface="Times New Roman"/>
                <a:cs typeface="Times New Roman"/>
              </a:rPr>
              <a:t>confusion</a:t>
            </a:r>
            <a:r>
              <a:rPr sz="1450" spc="80" dirty="0">
                <a:latin typeface="Times New Roman"/>
                <a:cs typeface="Times New Roman"/>
              </a:rPr>
              <a:t> </a:t>
            </a:r>
            <a:r>
              <a:rPr sz="1450" spc="110" dirty="0">
                <a:latin typeface="Times New Roman"/>
                <a:cs typeface="Times New Roman"/>
              </a:rPr>
              <a:t>matrix</a:t>
            </a:r>
            <a:r>
              <a:rPr sz="1450" spc="80" dirty="0">
                <a:latin typeface="Times New Roman"/>
                <a:cs typeface="Times New Roman"/>
              </a:rPr>
              <a:t> </a:t>
            </a:r>
            <a:r>
              <a:rPr sz="1450" spc="100" dirty="0">
                <a:latin typeface="Times New Roman"/>
                <a:cs typeface="Times New Roman"/>
              </a:rPr>
              <a:t>analysis,</a:t>
            </a:r>
            <a:r>
              <a:rPr sz="1450" spc="85" dirty="0">
                <a:latin typeface="Times New Roman"/>
                <a:cs typeface="Times New Roman"/>
              </a:rPr>
              <a:t> </a:t>
            </a:r>
            <a:r>
              <a:rPr sz="1450" spc="130" dirty="0">
                <a:latin typeface="Times New Roman"/>
                <a:cs typeface="Times New Roman"/>
              </a:rPr>
              <a:t>show</a:t>
            </a:r>
            <a:r>
              <a:rPr sz="1450" spc="80" dirty="0">
                <a:latin typeface="Times New Roman"/>
                <a:cs typeface="Times New Roman"/>
              </a:rPr>
              <a:t> </a:t>
            </a:r>
            <a:r>
              <a:rPr sz="1450" spc="100" dirty="0">
                <a:latin typeface="Times New Roman"/>
                <a:cs typeface="Times New Roman"/>
              </a:rPr>
              <a:t>that</a:t>
            </a:r>
            <a:r>
              <a:rPr sz="1450" spc="80" dirty="0">
                <a:latin typeface="Times New Roman"/>
                <a:cs typeface="Times New Roman"/>
              </a:rPr>
              <a:t> </a:t>
            </a:r>
            <a:r>
              <a:rPr sz="1450" spc="85" dirty="0">
                <a:latin typeface="Times New Roman"/>
                <a:cs typeface="Times New Roman"/>
              </a:rPr>
              <a:t>the </a:t>
            </a:r>
            <a:r>
              <a:rPr sz="1450" spc="130" dirty="0">
                <a:latin typeface="Times New Roman"/>
                <a:cs typeface="Times New Roman"/>
              </a:rPr>
              <a:t>model</a:t>
            </a:r>
            <a:r>
              <a:rPr sz="1450" spc="85" dirty="0">
                <a:latin typeface="Times New Roman"/>
                <a:cs typeface="Times New Roman"/>
              </a:rPr>
              <a:t> </a:t>
            </a:r>
            <a:r>
              <a:rPr sz="1450" spc="100" dirty="0">
                <a:latin typeface="Times New Roman"/>
                <a:cs typeface="Times New Roman"/>
              </a:rPr>
              <a:t>effectively</a:t>
            </a:r>
            <a:r>
              <a:rPr sz="1450" spc="85" dirty="0">
                <a:latin typeface="Times New Roman"/>
                <a:cs typeface="Times New Roman"/>
              </a:rPr>
              <a:t> </a:t>
            </a:r>
            <a:r>
              <a:rPr sz="1450" spc="100" dirty="0">
                <a:latin typeface="Times New Roman"/>
                <a:cs typeface="Times New Roman"/>
              </a:rPr>
              <a:t>learns</a:t>
            </a:r>
            <a:r>
              <a:rPr sz="1450" spc="95" dirty="0">
                <a:latin typeface="Times New Roman"/>
                <a:cs typeface="Times New Roman"/>
              </a:rPr>
              <a:t> </a:t>
            </a:r>
            <a:r>
              <a:rPr sz="1450" spc="105" dirty="0">
                <a:latin typeface="Times New Roman"/>
                <a:cs typeface="Times New Roman"/>
              </a:rPr>
              <a:t>discriminative</a:t>
            </a:r>
            <a:r>
              <a:rPr sz="1450" spc="85" dirty="0">
                <a:latin typeface="Times New Roman"/>
                <a:cs typeface="Times New Roman"/>
              </a:rPr>
              <a:t> </a:t>
            </a:r>
            <a:r>
              <a:rPr sz="1450" spc="100" dirty="0">
                <a:latin typeface="Times New Roman"/>
                <a:cs typeface="Times New Roman"/>
              </a:rPr>
              <a:t>features</a:t>
            </a:r>
            <a:r>
              <a:rPr sz="1450" spc="85" dirty="0">
                <a:latin typeface="Times New Roman"/>
                <a:cs typeface="Times New Roman"/>
              </a:rPr>
              <a:t> </a:t>
            </a:r>
            <a:r>
              <a:rPr sz="1450" spc="114" dirty="0">
                <a:latin typeface="Times New Roman"/>
                <a:cs typeface="Times New Roman"/>
              </a:rPr>
              <a:t>but</a:t>
            </a:r>
            <a:r>
              <a:rPr sz="1450" spc="85" dirty="0">
                <a:latin typeface="Times New Roman"/>
                <a:cs typeface="Times New Roman"/>
              </a:rPr>
              <a:t> </a:t>
            </a:r>
            <a:r>
              <a:rPr sz="1450" spc="95" dirty="0">
                <a:latin typeface="Times New Roman"/>
                <a:cs typeface="Times New Roman"/>
              </a:rPr>
              <a:t>suffers</a:t>
            </a:r>
            <a:r>
              <a:rPr sz="1450" spc="85" dirty="0">
                <a:latin typeface="Times New Roman"/>
                <a:cs typeface="Times New Roman"/>
              </a:rPr>
              <a:t> </a:t>
            </a:r>
            <a:r>
              <a:rPr sz="1450" spc="125" dirty="0">
                <a:latin typeface="Times New Roman"/>
                <a:cs typeface="Times New Roman"/>
              </a:rPr>
              <a:t>from</a:t>
            </a:r>
            <a:r>
              <a:rPr sz="1450" spc="85" dirty="0">
                <a:latin typeface="Times New Roman"/>
                <a:cs typeface="Times New Roman"/>
              </a:rPr>
              <a:t> </a:t>
            </a:r>
            <a:r>
              <a:rPr sz="1450" spc="114" dirty="0">
                <a:latin typeface="Times New Roman"/>
                <a:cs typeface="Times New Roman"/>
              </a:rPr>
              <a:t>moderate</a:t>
            </a:r>
            <a:r>
              <a:rPr sz="1450" spc="95" dirty="0">
                <a:latin typeface="Times New Roman"/>
                <a:cs typeface="Times New Roman"/>
              </a:rPr>
              <a:t> overfitting</a:t>
            </a:r>
            <a:r>
              <a:rPr sz="1450" spc="85" dirty="0">
                <a:latin typeface="Times New Roman"/>
                <a:cs typeface="Times New Roman"/>
              </a:rPr>
              <a:t> </a:t>
            </a:r>
            <a:r>
              <a:rPr sz="1450" spc="95" dirty="0">
                <a:latin typeface="Times New Roman"/>
                <a:cs typeface="Times New Roman"/>
              </a:rPr>
              <a:t>and </a:t>
            </a:r>
            <a:r>
              <a:rPr sz="1450" spc="100" dirty="0">
                <a:latin typeface="Times New Roman"/>
                <a:cs typeface="Times New Roman"/>
              </a:rPr>
              <a:t>class</a:t>
            </a:r>
            <a:r>
              <a:rPr sz="1450" spc="75" dirty="0">
                <a:latin typeface="Times New Roman"/>
                <a:cs typeface="Times New Roman"/>
              </a:rPr>
              <a:t> </a:t>
            </a:r>
            <a:r>
              <a:rPr sz="1450" spc="120" dirty="0">
                <a:latin typeface="Times New Roman"/>
                <a:cs typeface="Times New Roman"/>
              </a:rPr>
              <a:t>imbalance</a:t>
            </a:r>
            <a:r>
              <a:rPr sz="1450" spc="70" dirty="0">
                <a:latin typeface="Times New Roman"/>
                <a:cs typeface="Times New Roman"/>
              </a:rPr>
              <a:t> </a:t>
            </a:r>
            <a:r>
              <a:rPr sz="1450" spc="85" dirty="0">
                <a:latin typeface="Times New Roman"/>
                <a:cs typeface="Times New Roman"/>
              </a:rPr>
              <a:t>issues.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09192" y="5149193"/>
            <a:ext cx="7876540" cy="1270000"/>
          </a:xfrm>
          <a:prstGeom prst="rect">
            <a:avLst/>
          </a:prstGeom>
        </p:spPr>
        <p:txBody>
          <a:bodyPr vert="horz" wrap="square" lIns="0" tIns="68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1700" b="1" spc="114" dirty="0">
                <a:solidFill>
                  <a:srgbClr val="365F91"/>
                </a:solidFill>
                <a:latin typeface="Calibri"/>
                <a:cs typeface="Calibri"/>
              </a:rPr>
              <a:t>6.</a:t>
            </a:r>
            <a:r>
              <a:rPr sz="1700" b="1" spc="55" dirty="0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sz="1700" b="1" spc="130" dirty="0">
                <a:solidFill>
                  <a:srgbClr val="365F91"/>
                </a:solidFill>
                <a:latin typeface="Calibri"/>
                <a:cs typeface="Calibri"/>
              </a:rPr>
              <a:t>Overall</a:t>
            </a:r>
            <a:r>
              <a:rPr sz="1700" b="1" spc="75" dirty="0">
                <a:solidFill>
                  <a:srgbClr val="365F91"/>
                </a:solidFill>
                <a:latin typeface="Calibri"/>
                <a:cs typeface="Calibri"/>
              </a:rPr>
              <a:t> </a:t>
            </a:r>
            <a:r>
              <a:rPr sz="1700" b="1" spc="110" dirty="0">
                <a:solidFill>
                  <a:srgbClr val="365F91"/>
                </a:solidFill>
                <a:latin typeface="Calibri"/>
                <a:cs typeface="Calibri"/>
              </a:rPr>
              <a:t>Interpretation</a:t>
            </a:r>
            <a:endParaRPr sz="1700">
              <a:latin typeface="Calibri"/>
              <a:cs typeface="Calibri"/>
            </a:endParaRPr>
          </a:p>
          <a:p>
            <a:pPr marL="12700" marR="5080">
              <a:lnSpc>
                <a:spcPct val="115100"/>
              </a:lnSpc>
              <a:spcBef>
                <a:spcPts val="150"/>
              </a:spcBef>
            </a:pPr>
            <a:r>
              <a:rPr sz="1300" spc="114" dirty="0">
                <a:latin typeface="Cambria"/>
                <a:cs typeface="Cambria"/>
              </a:rPr>
              <a:t>Strengths:</a:t>
            </a:r>
            <a:r>
              <a:rPr sz="1300" spc="70" dirty="0">
                <a:latin typeface="Cambria"/>
                <a:cs typeface="Cambria"/>
              </a:rPr>
              <a:t> </a:t>
            </a:r>
            <a:r>
              <a:rPr sz="1300" spc="130" dirty="0">
                <a:latin typeface="Cambria"/>
                <a:cs typeface="Cambria"/>
              </a:rPr>
              <a:t>High</a:t>
            </a:r>
            <a:r>
              <a:rPr sz="1300" spc="80" dirty="0">
                <a:latin typeface="Cambria"/>
                <a:cs typeface="Cambria"/>
              </a:rPr>
              <a:t> </a:t>
            </a:r>
            <a:r>
              <a:rPr sz="1300" spc="110" dirty="0">
                <a:latin typeface="Cambria"/>
                <a:cs typeface="Cambria"/>
              </a:rPr>
              <a:t>training</a:t>
            </a:r>
            <a:r>
              <a:rPr sz="1300" spc="85" dirty="0">
                <a:latin typeface="Cambria"/>
                <a:cs typeface="Cambria"/>
              </a:rPr>
              <a:t> </a:t>
            </a:r>
            <a:r>
              <a:rPr sz="1300" spc="114" dirty="0">
                <a:latin typeface="Cambria"/>
                <a:cs typeface="Cambria"/>
              </a:rPr>
              <a:t>accuracy,</a:t>
            </a:r>
            <a:r>
              <a:rPr sz="1300" spc="60" dirty="0">
                <a:latin typeface="Cambria"/>
                <a:cs typeface="Cambria"/>
              </a:rPr>
              <a:t> </a:t>
            </a:r>
            <a:r>
              <a:rPr sz="1300" spc="114" dirty="0">
                <a:latin typeface="Cambria"/>
                <a:cs typeface="Cambria"/>
              </a:rPr>
              <a:t>strong</a:t>
            </a:r>
            <a:r>
              <a:rPr sz="1300" spc="85" dirty="0">
                <a:latin typeface="Cambria"/>
                <a:cs typeface="Cambria"/>
              </a:rPr>
              <a:t> </a:t>
            </a:r>
            <a:r>
              <a:rPr sz="1300" spc="160" dirty="0">
                <a:latin typeface="Cambria"/>
                <a:cs typeface="Cambria"/>
              </a:rPr>
              <a:t>ROC–AUC</a:t>
            </a:r>
            <a:r>
              <a:rPr sz="1300" spc="60" dirty="0">
                <a:latin typeface="Cambria"/>
                <a:cs typeface="Cambria"/>
              </a:rPr>
              <a:t> </a:t>
            </a:r>
            <a:r>
              <a:rPr sz="1300" spc="125" dirty="0">
                <a:latin typeface="Cambria"/>
                <a:cs typeface="Cambria"/>
              </a:rPr>
              <a:t>performance,</a:t>
            </a:r>
            <a:r>
              <a:rPr sz="1300" spc="80" dirty="0">
                <a:latin typeface="Cambria"/>
                <a:cs typeface="Cambria"/>
              </a:rPr>
              <a:t> </a:t>
            </a:r>
            <a:r>
              <a:rPr sz="1300" spc="140" dirty="0">
                <a:latin typeface="Cambria"/>
                <a:cs typeface="Cambria"/>
              </a:rPr>
              <a:t>good</a:t>
            </a:r>
            <a:r>
              <a:rPr sz="1300" spc="75" dirty="0">
                <a:latin typeface="Cambria"/>
                <a:cs typeface="Cambria"/>
              </a:rPr>
              <a:t> </a:t>
            </a:r>
            <a:r>
              <a:rPr sz="1300" spc="114" dirty="0">
                <a:latin typeface="Cambria"/>
                <a:cs typeface="Cambria"/>
              </a:rPr>
              <a:t>prediction</a:t>
            </a:r>
            <a:r>
              <a:rPr sz="1300" spc="65" dirty="0">
                <a:latin typeface="Cambria"/>
                <a:cs typeface="Cambria"/>
              </a:rPr>
              <a:t> </a:t>
            </a:r>
            <a:r>
              <a:rPr sz="1300" spc="114" dirty="0">
                <a:latin typeface="Cambria"/>
                <a:cs typeface="Cambria"/>
              </a:rPr>
              <a:t>for</a:t>
            </a:r>
            <a:r>
              <a:rPr sz="1300" spc="60" dirty="0">
                <a:latin typeface="Cambria"/>
                <a:cs typeface="Cambria"/>
              </a:rPr>
              <a:t> </a:t>
            </a:r>
            <a:r>
              <a:rPr sz="1300" spc="114" dirty="0">
                <a:latin typeface="Cambria"/>
                <a:cs typeface="Cambria"/>
              </a:rPr>
              <a:t>severe </a:t>
            </a:r>
            <a:r>
              <a:rPr sz="1300" spc="90" dirty="0">
                <a:latin typeface="Cambria"/>
                <a:cs typeface="Cambria"/>
              </a:rPr>
              <a:t>classes.</a:t>
            </a:r>
            <a:endParaRPr sz="1300">
              <a:latin typeface="Cambria"/>
              <a:cs typeface="Cambria"/>
            </a:endParaRPr>
          </a:p>
          <a:p>
            <a:pPr marL="12700" marR="974090">
              <a:lnSpc>
                <a:spcPts val="1789"/>
              </a:lnSpc>
              <a:spcBef>
                <a:spcPts val="85"/>
              </a:spcBef>
            </a:pPr>
            <a:r>
              <a:rPr sz="1300" spc="130" dirty="0">
                <a:latin typeface="Cambria"/>
                <a:cs typeface="Cambria"/>
              </a:rPr>
              <a:t>Weaknesses:</a:t>
            </a:r>
            <a:r>
              <a:rPr sz="1300" spc="70" dirty="0">
                <a:latin typeface="Cambria"/>
                <a:cs typeface="Cambria"/>
              </a:rPr>
              <a:t> </a:t>
            </a:r>
            <a:r>
              <a:rPr sz="1300" spc="105" dirty="0">
                <a:latin typeface="Cambria"/>
                <a:cs typeface="Cambria"/>
              </a:rPr>
              <a:t>Overfitting,</a:t>
            </a:r>
            <a:r>
              <a:rPr sz="1300" spc="85" dirty="0">
                <a:latin typeface="Cambria"/>
                <a:cs typeface="Cambria"/>
              </a:rPr>
              <a:t> </a:t>
            </a:r>
            <a:r>
              <a:rPr sz="1300" spc="130" dirty="0">
                <a:latin typeface="Cambria"/>
                <a:cs typeface="Cambria"/>
              </a:rPr>
              <a:t>lower</a:t>
            </a:r>
            <a:r>
              <a:rPr sz="1300" spc="70" dirty="0">
                <a:latin typeface="Cambria"/>
                <a:cs typeface="Cambria"/>
              </a:rPr>
              <a:t> </a:t>
            </a:r>
            <a:r>
              <a:rPr sz="1300" spc="110" dirty="0">
                <a:latin typeface="Cambria"/>
                <a:cs typeface="Cambria"/>
              </a:rPr>
              <a:t>validation</a:t>
            </a:r>
            <a:r>
              <a:rPr sz="1300" spc="70" dirty="0">
                <a:latin typeface="Cambria"/>
                <a:cs typeface="Cambria"/>
              </a:rPr>
              <a:t> </a:t>
            </a:r>
            <a:r>
              <a:rPr sz="1300" spc="114" dirty="0">
                <a:latin typeface="Cambria"/>
                <a:cs typeface="Cambria"/>
              </a:rPr>
              <a:t>accuracy,</a:t>
            </a:r>
            <a:r>
              <a:rPr sz="1300" spc="60" dirty="0">
                <a:latin typeface="Cambria"/>
                <a:cs typeface="Cambria"/>
              </a:rPr>
              <a:t> </a:t>
            </a:r>
            <a:r>
              <a:rPr sz="1300" spc="120" dirty="0">
                <a:latin typeface="Cambria"/>
                <a:cs typeface="Cambria"/>
              </a:rPr>
              <a:t>confusion</a:t>
            </a:r>
            <a:r>
              <a:rPr sz="1300" spc="70" dirty="0">
                <a:latin typeface="Cambria"/>
                <a:cs typeface="Cambria"/>
              </a:rPr>
              <a:t> </a:t>
            </a:r>
            <a:r>
              <a:rPr sz="1300" spc="114" dirty="0">
                <a:latin typeface="Cambria"/>
                <a:cs typeface="Cambria"/>
              </a:rPr>
              <a:t>in</a:t>
            </a:r>
            <a:r>
              <a:rPr sz="1300" spc="75" dirty="0">
                <a:latin typeface="Cambria"/>
                <a:cs typeface="Cambria"/>
              </a:rPr>
              <a:t> </a:t>
            </a:r>
            <a:r>
              <a:rPr sz="1300" spc="125" dirty="0">
                <a:latin typeface="Cambria"/>
                <a:cs typeface="Cambria"/>
              </a:rPr>
              <a:t>middle</a:t>
            </a:r>
            <a:r>
              <a:rPr sz="1300" spc="80" dirty="0">
                <a:latin typeface="Cambria"/>
                <a:cs typeface="Cambria"/>
              </a:rPr>
              <a:t> </a:t>
            </a:r>
            <a:r>
              <a:rPr sz="1300" spc="90" dirty="0">
                <a:latin typeface="Cambria"/>
                <a:cs typeface="Cambria"/>
              </a:rPr>
              <a:t>classes. </a:t>
            </a:r>
            <a:r>
              <a:rPr sz="1300" spc="105" dirty="0">
                <a:latin typeface="Cambria"/>
                <a:cs typeface="Cambria"/>
              </a:rPr>
              <a:t>Overall,</a:t>
            </a:r>
            <a:r>
              <a:rPr sz="1300" spc="75" dirty="0">
                <a:latin typeface="Cambria"/>
                <a:cs typeface="Cambria"/>
              </a:rPr>
              <a:t> </a:t>
            </a:r>
            <a:r>
              <a:rPr sz="1300" spc="120" dirty="0">
                <a:latin typeface="Cambria"/>
                <a:cs typeface="Cambria"/>
              </a:rPr>
              <a:t>the</a:t>
            </a:r>
            <a:r>
              <a:rPr sz="1300" spc="55" dirty="0">
                <a:latin typeface="Cambria"/>
                <a:cs typeface="Cambria"/>
              </a:rPr>
              <a:t> </a:t>
            </a:r>
            <a:r>
              <a:rPr sz="1300" spc="140" dirty="0">
                <a:latin typeface="Cambria"/>
                <a:cs typeface="Cambria"/>
              </a:rPr>
              <a:t>model</a:t>
            </a:r>
            <a:r>
              <a:rPr sz="1300" spc="75" dirty="0">
                <a:latin typeface="Cambria"/>
                <a:cs typeface="Cambria"/>
              </a:rPr>
              <a:t> </a:t>
            </a:r>
            <a:r>
              <a:rPr sz="1300" spc="110" dirty="0">
                <a:latin typeface="Cambria"/>
                <a:cs typeface="Cambria"/>
              </a:rPr>
              <a:t>learns</a:t>
            </a:r>
            <a:r>
              <a:rPr sz="1300" spc="55" dirty="0">
                <a:latin typeface="Cambria"/>
                <a:cs typeface="Cambria"/>
              </a:rPr>
              <a:t> </a:t>
            </a:r>
            <a:r>
              <a:rPr sz="1300" spc="125" dirty="0">
                <a:latin typeface="Cambria"/>
                <a:cs typeface="Cambria"/>
              </a:rPr>
              <a:t>meaningful</a:t>
            </a:r>
            <a:r>
              <a:rPr sz="1300" spc="75" dirty="0">
                <a:latin typeface="Cambria"/>
                <a:cs typeface="Cambria"/>
              </a:rPr>
              <a:t> </a:t>
            </a:r>
            <a:r>
              <a:rPr sz="1300" spc="114" dirty="0">
                <a:latin typeface="Cambria"/>
                <a:cs typeface="Cambria"/>
              </a:rPr>
              <a:t>patterns</a:t>
            </a:r>
            <a:r>
              <a:rPr sz="1300" spc="80" dirty="0">
                <a:latin typeface="Cambria"/>
                <a:cs typeface="Cambria"/>
              </a:rPr>
              <a:t> </a:t>
            </a:r>
            <a:r>
              <a:rPr sz="1300" spc="125" dirty="0">
                <a:latin typeface="Cambria"/>
                <a:cs typeface="Cambria"/>
              </a:rPr>
              <a:t>but</a:t>
            </a:r>
            <a:r>
              <a:rPr sz="1300" spc="70" dirty="0">
                <a:latin typeface="Cambria"/>
                <a:cs typeface="Cambria"/>
              </a:rPr>
              <a:t> </a:t>
            </a:r>
            <a:r>
              <a:rPr sz="1300" spc="114" dirty="0">
                <a:latin typeface="Cambria"/>
                <a:cs typeface="Cambria"/>
              </a:rPr>
              <a:t>requires</a:t>
            </a:r>
            <a:r>
              <a:rPr sz="1300" spc="80" dirty="0">
                <a:latin typeface="Cambria"/>
                <a:cs typeface="Cambria"/>
              </a:rPr>
              <a:t> </a:t>
            </a:r>
            <a:r>
              <a:rPr sz="1300" spc="114" dirty="0">
                <a:latin typeface="Cambria"/>
                <a:cs typeface="Cambria"/>
              </a:rPr>
              <a:t>better</a:t>
            </a:r>
            <a:r>
              <a:rPr sz="1300" spc="55" dirty="0">
                <a:latin typeface="Cambria"/>
                <a:cs typeface="Cambria"/>
              </a:rPr>
              <a:t> </a:t>
            </a:r>
            <a:r>
              <a:rPr sz="1300" spc="100" dirty="0">
                <a:latin typeface="Cambria"/>
                <a:cs typeface="Cambria"/>
              </a:rPr>
              <a:t>generalization.</a:t>
            </a:r>
            <a:endParaRPr sz="1300">
              <a:latin typeface="Cambria"/>
              <a:cs typeface="Cambria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56" y="36017"/>
            <a:ext cx="3127248" cy="91610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7092" y="1264177"/>
            <a:ext cx="3774213" cy="399460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4846" rIns="0" bIns="0" rtlCol="0">
            <a:spAutoFit/>
          </a:bodyPr>
          <a:lstStyle/>
          <a:p>
            <a:pPr marL="158115">
              <a:lnSpc>
                <a:spcPct val="100000"/>
              </a:lnSpc>
              <a:spcBef>
                <a:spcPts val="100"/>
              </a:spcBef>
            </a:pPr>
            <a:r>
              <a:rPr sz="3200" spc="-110" dirty="0">
                <a:latin typeface="Arial"/>
                <a:cs typeface="Arial"/>
              </a:rPr>
              <a:t>Current</a:t>
            </a:r>
            <a:r>
              <a:rPr sz="3200" spc="-95" dirty="0">
                <a:latin typeface="Arial"/>
                <a:cs typeface="Arial"/>
              </a:rPr>
              <a:t> </a:t>
            </a:r>
            <a:r>
              <a:rPr sz="3200" spc="-145" dirty="0">
                <a:latin typeface="Arial"/>
                <a:cs typeface="Arial"/>
              </a:rPr>
              <a:t>Progress:-</a:t>
            </a:r>
            <a:r>
              <a:rPr sz="3200" spc="-100" dirty="0">
                <a:latin typeface="Arial"/>
                <a:cs typeface="Arial"/>
              </a:rPr>
              <a:t> </a:t>
            </a:r>
            <a:r>
              <a:rPr sz="2800" spc="-80" dirty="0"/>
              <a:t>Efficienct</a:t>
            </a:r>
            <a:r>
              <a:rPr sz="2800" spc="-65" dirty="0"/>
              <a:t> </a:t>
            </a:r>
            <a:r>
              <a:rPr sz="2800" spc="-25" dirty="0"/>
              <a:t>net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756" y="36017"/>
            <a:ext cx="3127248" cy="91610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92930" y="1171146"/>
            <a:ext cx="5225653" cy="472347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8451" y="1110900"/>
            <a:ext cx="4732095" cy="341199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0756" y="36017"/>
            <a:ext cx="3127248" cy="91610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420364" y="1116211"/>
            <a:ext cx="4377476" cy="336561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43406" y="4583048"/>
            <a:ext cx="9088120" cy="1946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930" indent="-69850">
              <a:lnSpc>
                <a:spcPct val="100000"/>
              </a:lnSpc>
              <a:spcBef>
                <a:spcPts val="100"/>
              </a:spcBef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sz="1400" spc="10" dirty="0">
                <a:latin typeface="Tahoma"/>
                <a:cs typeface="Tahoma"/>
              </a:rPr>
              <a:t>The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spc="105" dirty="0">
                <a:latin typeface="Tahoma"/>
                <a:cs typeface="Tahoma"/>
              </a:rPr>
              <a:t>ROC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curve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shows strong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overall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classification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performance</a:t>
            </a:r>
            <a:r>
              <a:rPr sz="1400" spc="-3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across</a:t>
            </a:r>
            <a:r>
              <a:rPr sz="1400" spc="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most</a:t>
            </a:r>
            <a:r>
              <a:rPr sz="1400" spc="-2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classes.</a:t>
            </a:r>
            <a:endParaRPr sz="1400">
              <a:latin typeface="Tahoma"/>
              <a:cs typeface="Tahoma"/>
            </a:endParaRPr>
          </a:p>
          <a:p>
            <a:pPr marL="74930" indent="-69850">
              <a:lnSpc>
                <a:spcPct val="100000"/>
              </a:lnSpc>
              <a:spcBef>
                <a:spcPts val="5"/>
              </a:spcBef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sz="1400" spc="55" dirty="0">
                <a:latin typeface="Tahoma"/>
                <a:cs typeface="Tahoma"/>
              </a:rPr>
              <a:t>Achieved</a:t>
            </a:r>
            <a:r>
              <a:rPr sz="1400" spc="-95" dirty="0">
                <a:latin typeface="Tahoma"/>
                <a:cs typeface="Tahoma"/>
              </a:rPr>
              <a:t> </a:t>
            </a:r>
            <a:r>
              <a:rPr sz="1400" spc="50" dirty="0">
                <a:latin typeface="Tahoma"/>
                <a:cs typeface="Tahoma"/>
              </a:rPr>
              <a:t>high</a:t>
            </a:r>
            <a:r>
              <a:rPr sz="1400" spc="-85" dirty="0">
                <a:latin typeface="Tahoma"/>
                <a:cs typeface="Tahoma"/>
              </a:rPr>
              <a:t> </a:t>
            </a:r>
            <a:r>
              <a:rPr sz="1400" spc="120" dirty="0">
                <a:latin typeface="Tahoma"/>
                <a:cs typeface="Tahoma"/>
              </a:rPr>
              <a:t>AUC</a:t>
            </a:r>
            <a:r>
              <a:rPr sz="1400" spc="-5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values</a:t>
            </a:r>
            <a:r>
              <a:rPr sz="1400" spc="-5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for</a:t>
            </a:r>
            <a:r>
              <a:rPr sz="1400" spc="-7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majority</a:t>
            </a:r>
            <a:r>
              <a:rPr sz="1400" spc="-4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of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classes:</a:t>
            </a:r>
            <a:endParaRPr sz="140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buFont typeface="Microsoft Sans Serif"/>
              <a:buChar char="•"/>
              <a:tabLst>
                <a:tab pos="756285" algn="l"/>
              </a:tabLst>
            </a:pPr>
            <a:r>
              <a:rPr sz="1400" dirty="0">
                <a:latin typeface="Tahoma"/>
                <a:cs typeface="Tahoma"/>
              </a:rPr>
              <a:t>Class</a:t>
            </a:r>
            <a:r>
              <a:rPr sz="1400" spc="-1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0:</a:t>
            </a:r>
            <a:r>
              <a:rPr sz="1400" spc="-10" dirty="0">
                <a:latin typeface="Tahoma"/>
                <a:cs typeface="Tahoma"/>
              </a:rPr>
              <a:t> </a:t>
            </a:r>
            <a:r>
              <a:rPr sz="1400" b="1" spc="-20" dirty="0">
                <a:latin typeface="Tahoma"/>
                <a:cs typeface="Tahoma"/>
              </a:rPr>
              <a:t>0.85</a:t>
            </a:r>
            <a:endParaRPr sz="140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buFont typeface="Microsoft Sans Serif"/>
              <a:buChar char="•"/>
              <a:tabLst>
                <a:tab pos="756285" algn="l"/>
              </a:tabLst>
            </a:pPr>
            <a:r>
              <a:rPr sz="1400" dirty="0">
                <a:latin typeface="Tahoma"/>
                <a:cs typeface="Tahoma"/>
              </a:rPr>
              <a:t>Class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2: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b="1" spc="-20" dirty="0">
                <a:latin typeface="Tahoma"/>
                <a:cs typeface="Tahoma"/>
              </a:rPr>
              <a:t>0.86</a:t>
            </a:r>
            <a:endParaRPr sz="140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buFont typeface="Microsoft Sans Serif"/>
              <a:buChar char="•"/>
              <a:tabLst>
                <a:tab pos="756285" algn="l"/>
              </a:tabLst>
            </a:pPr>
            <a:r>
              <a:rPr sz="1400" dirty="0">
                <a:latin typeface="Tahoma"/>
                <a:cs typeface="Tahoma"/>
              </a:rPr>
              <a:t>Class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3:</a:t>
            </a:r>
            <a:r>
              <a:rPr sz="1400" spc="-5" dirty="0">
                <a:latin typeface="Tahoma"/>
                <a:cs typeface="Tahoma"/>
              </a:rPr>
              <a:t> </a:t>
            </a:r>
            <a:r>
              <a:rPr sz="1400" b="1" spc="-20" dirty="0">
                <a:latin typeface="Tahoma"/>
                <a:cs typeface="Tahoma"/>
              </a:rPr>
              <a:t>0.95</a:t>
            </a:r>
            <a:endParaRPr sz="1400">
              <a:latin typeface="Tahoma"/>
              <a:cs typeface="Tahoma"/>
            </a:endParaRPr>
          </a:p>
          <a:p>
            <a:pPr marL="756285" lvl="1" indent="-287020">
              <a:lnSpc>
                <a:spcPct val="100000"/>
              </a:lnSpc>
              <a:buFont typeface="Microsoft Sans Serif"/>
              <a:buChar char="•"/>
              <a:tabLst>
                <a:tab pos="756285" algn="l"/>
              </a:tabLst>
            </a:pPr>
            <a:r>
              <a:rPr sz="1400" dirty="0">
                <a:latin typeface="Tahoma"/>
                <a:cs typeface="Tahoma"/>
              </a:rPr>
              <a:t>Class</a:t>
            </a:r>
            <a:r>
              <a:rPr sz="1400" spc="3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4:</a:t>
            </a:r>
            <a:r>
              <a:rPr sz="1400" spc="40" dirty="0">
                <a:latin typeface="Tahoma"/>
                <a:cs typeface="Tahoma"/>
              </a:rPr>
              <a:t> </a:t>
            </a:r>
            <a:r>
              <a:rPr sz="1400" b="1" dirty="0">
                <a:latin typeface="Tahoma"/>
                <a:cs typeface="Tahoma"/>
              </a:rPr>
              <a:t>1.00</a:t>
            </a:r>
            <a:r>
              <a:rPr sz="1400" b="1" spc="15" dirty="0">
                <a:latin typeface="Tahoma"/>
                <a:cs typeface="Tahoma"/>
              </a:rPr>
              <a:t> </a:t>
            </a:r>
            <a:r>
              <a:rPr sz="1400" spc="-30" dirty="0">
                <a:latin typeface="Tahoma"/>
                <a:cs typeface="Tahoma"/>
              </a:rPr>
              <a:t>(near-</a:t>
            </a:r>
            <a:r>
              <a:rPr sz="1400" dirty="0">
                <a:latin typeface="Tahoma"/>
                <a:cs typeface="Tahoma"/>
              </a:rPr>
              <a:t>perfect</a:t>
            </a:r>
            <a:r>
              <a:rPr sz="1400" spc="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separability)</a:t>
            </a:r>
            <a:endParaRPr sz="1400">
              <a:latin typeface="Tahoma"/>
              <a:cs typeface="Tahoma"/>
            </a:endParaRPr>
          </a:p>
          <a:p>
            <a:pPr marL="74930" indent="-6985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sz="1400" dirty="0">
                <a:latin typeface="Tahoma"/>
                <a:cs typeface="Tahoma"/>
              </a:rPr>
              <a:t>Class</a:t>
            </a:r>
            <a:r>
              <a:rPr sz="1400" spc="8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1</a:t>
            </a:r>
            <a:r>
              <a:rPr sz="1400" spc="7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shows</a:t>
            </a:r>
            <a:r>
              <a:rPr sz="1400" spc="8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comparatively</a:t>
            </a:r>
            <a:r>
              <a:rPr sz="1400" spc="5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lower</a:t>
            </a:r>
            <a:r>
              <a:rPr sz="1400" spc="6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performance</a:t>
            </a:r>
            <a:r>
              <a:rPr sz="1400" spc="40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(</a:t>
            </a:r>
            <a:r>
              <a:rPr sz="1400" b="1" spc="-10" dirty="0">
                <a:latin typeface="Tahoma"/>
                <a:cs typeface="Tahoma"/>
              </a:rPr>
              <a:t>AUC</a:t>
            </a:r>
            <a:r>
              <a:rPr sz="1400" b="1" spc="95" dirty="0">
                <a:latin typeface="Tahoma"/>
                <a:cs typeface="Tahoma"/>
              </a:rPr>
              <a:t> </a:t>
            </a:r>
            <a:r>
              <a:rPr sz="1400" b="1" spc="-225" dirty="0">
                <a:latin typeface="Tahoma"/>
                <a:cs typeface="Tahoma"/>
              </a:rPr>
              <a:t>=</a:t>
            </a:r>
            <a:r>
              <a:rPr sz="1400" b="1" spc="114" dirty="0">
                <a:latin typeface="Tahoma"/>
                <a:cs typeface="Tahoma"/>
              </a:rPr>
              <a:t> </a:t>
            </a:r>
            <a:r>
              <a:rPr sz="1400" b="1" spc="-30" dirty="0">
                <a:latin typeface="Tahoma"/>
                <a:cs typeface="Tahoma"/>
              </a:rPr>
              <a:t>0.68</a:t>
            </a:r>
            <a:r>
              <a:rPr sz="1400" spc="-30" dirty="0">
                <a:latin typeface="Tahoma"/>
                <a:cs typeface="Tahoma"/>
              </a:rPr>
              <a:t>),</a:t>
            </a:r>
            <a:r>
              <a:rPr sz="1400" spc="-25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indicating</a:t>
            </a:r>
            <a:r>
              <a:rPr sz="1400" spc="3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room</a:t>
            </a:r>
            <a:r>
              <a:rPr sz="1400" spc="50" dirty="0">
                <a:latin typeface="Tahoma"/>
                <a:cs typeface="Tahoma"/>
              </a:rPr>
              <a:t> </a:t>
            </a:r>
            <a:r>
              <a:rPr sz="1400" dirty="0">
                <a:latin typeface="Tahoma"/>
                <a:cs typeface="Tahoma"/>
              </a:rPr>
              <a:t>for</a:t>
            </a:r>
            <a:r>
              <a:rPr sz="1400" spc="55" dirty="0">
                <a:latin typeface="Tahoma"/>
                <a:cs typeface="Tahoma"/>
              </a:rPr>
              <a:t> </a:t>
            </a:r>
            <a:r>
              <a:rPr sz="1400" spc="-10" dirty="0">
                <a:latin typeface="Tahoma"/>
                <a:cs typeface="Tahoma"/>
              </a:rPr>
              <a:t>improvement.</a:t>
            </a:r>
            <a:endParaRPr sz="1400">
              <a:latin typeface="Tahoma"/>
              <a:cs typeface="Tahoma"/>
            </a:endParaRPr>
          </a:p>
          <a:p>
            <a:pPr marL="12700" marR="5080" indent="-7620">
              <a:lnSpc>
                <a:spcPct val="100000"/>
              </a:lnSpc>
              <a:buSzPct val="92857"/>
              <a:buFont typeface="Microsoft Sans Serif"/>
              <a:buChar char="•"/>
              <a:tabLst>
                <a:tab pos="74930" algn="l"/>
              </a:tabLst>
            </a:pPr>
            <a:r>
              <a:rPr sz="1400" spc="10" dirty="0">
                <a:latin typeface="Tahoma"/>
                <a:cs typeface="Tahoma"/>
              </a:rPr>
              <a:t>	Overall,</a:t>
            </a:r>
            <a:r>
              <a:rPr sz="1400" spc="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EfficientNet</a:t>
            </a:r>
            <a:r>
              <a:rPr sz="1400" spc="2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demonstrates</a:t>
            </a:r>
            <a:r>
              <a:rPr sz="1400" spc="3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strong</a:t>
            </a:r>
            <a:r>
              <a:rPr sz="1400" spc="4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discriminative</a:t>
            </a:r>
            <a:r>
              <a:rPr sz="1400" spc="5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capability</a:t>
            </a:r>
            <a:r>
              <a:rPr sz="1400" spc="4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with</a:t>
            </a:r>
            <a:r>
              <a:rPr sz="1400" spc="6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excellent</a:t>
            </a:r>
            <a:r>
              <a:rPr sz="1400" spc="4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performance</a:t>
            </a:r>
            <a:r>
              <a:rPr sz="1400" spc="35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in</a:t>
            </a:r>
            <a:r>
              <a:rPr sz="1400" spc="70" dirty="0">
                <a:latin typeface="Tahoma"/>
                <a:cs typeface="Tahoma"/>
              </a:rPr>
              <a:t> </a:t>
            </a:r>
            <a:r>
              <a:rPr sz="1400" spc="10" dirty="0">
                <a:latin typeface="Tahoma"/>
                <a:cs typeface="Tahoma"/>
              </a:rPr>
              <a:t>higher-</a:t>
            </a:r>
            <a:r>
              <a:rPr sz="1400" spc="-10" dirty="0">
                <a:latin typeface="Tahoma"/>
                <a:cs typeface="Tahoma"/>
              </a:rPr>
              <a:t>severity classes.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98628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pc="-40" dirty="0"/>
              <a:t>EfficientNet</a:t>
            </a:r>
            <a:r>
              <a:rPr spc="-60" dirty="0"/>
              <a:t> </a:t>
            </a:r>
            <a:r>
              <a:rPr spc="-440" dirty="0"/>
              <a:t>–</a:t>
            </a:r>
            <a:r>
              <a:rPr spc="-55" dirty="0"/>
              <a:t> </a:t>
            </a:r>
            <a:r>
              <a:rPr spc="-50" dirty="0"/>
              <a:t>ROC–AUC</a:t>
            </a:r>
            <a:r>
              <a:rPr spc="-80" dirty="0"/>
              <a:t> </a:t>
            </a:r>
            <a:r>
              <a:rPr spc="-10" dirty="0"/>
              <a:t>Analysis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>
            <a:extLst>
              <a:ext uri="{FF2B5EF4-FFF2-40B4-BE49-F238E27FC236}">
                <a16:creationId xmlns:a16="http://schemas.microsoft.com/office/drawing/2014/main" id="{DD395F33-94BC-749B-B842-95891821A967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56" y="36017"/>
            <a:ext cx="3127248" cy="9161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8526665-5ADA-08D5-AF4C-5A01075931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829" y="769798"/>
            <a:ext cx="4047032" cy="269802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9908DDB-A07A-5616-1BEB-627D75CE4AD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886" y="3691430"/>
            <a:ext cx="4475914" cy="316657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E7A7FEE-C722-6E97-F53D-0DD8A37B14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2976" y="769798"/>
            <a:ext cx="4382448" cy="29216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718E7CC-8E6F-6628-1CE9-6448573A512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7600" y="4031894"/>
            <a:ext cx="3955733" cy="2819400"/>
          </a:xfrm>
          <a:prstGeom prst="rect">
            <a:avLst/>
          </a:prstGeom>
        </p:spPr>
      </p:pic>
      <p:sp>
        <p:nvSpPr>
          <p:cNvPr id="14" name="Title 13">
            <a:extLst>
              <a:ext uri="{FF2B5EF4-FFF2-40B4-BE49-F238E27FC236}">
                <a16:creationId xmlns:a16="http://schemas.microsoft.com/office/drawing/2014/main" id="{C638FE77-F8B3-410A-59D6-2C6777982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38600" y="492799"/>
            <a:ext cx="8252459" cy="276999"/>
          </a:xfrm>
        </p:spPr>
        <p:txBody>
          <a:bodyPr/>
          <a:lstStyle/>
          <a:p>
            <a:r>
              <a:rPr lang="en-US" dirty="0"/>
              <a:t>RES-NET 50 ATTENTION MODULE</a:t>
            </a:r>
            <a:endParaRPr lang="en-IN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D9C56F8-198F-4E79-C12F-774A6FC145E0}"/>
              </a:ext>
            </a:extLst>
          </p:cNvPr>
          <p:cNvSpPr txBox="1"/>
          <p:nvPr/>
        </p:nvSpPr>
        <p:spPr>
          <a:xfrm>
            <a:off x="4730307" y="1075430"/>
            <a:ext cx="3070122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ResNet-50 + Attention Module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Achieves highest training accuracy (~70%) with stable convergence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Validation accuracy (~60–63%) shows moderate generalization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Low validation loss indicates effective learning without severe overfitting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Strong ROC performance (AUC up to 1.00 for some classes)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Confusion matrix shows good classification but some inter-class confusion</a:t>
            </a:r>
          </a:p>
        </p:txBody>
      </p:sp>
    </p:spTree>
    <p:extLst>
      <p:ext uri="{BB962C8B-B14F-4D97-AF65-F5344CB8AC3E}">
        <p14:creationId xmlns:p14="http://schemas.microsoft.com/office/powerpoint/2010/main" val="14538367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3BAC6-1D71-E110-AE79-8D8F7F0798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46170" y="451240"/>
            <a:ext cx="8252459" cy="276999"/>
          </a:xfrm>
        </p:spPr>
        <p:txBody>
          <a:bodyPr/>
          <a:lstStyle/>
          <a:p>
            <a:r>
              <a:rPr lang="en-US" dirty="0"/>
              <a:t>RES-NET50 CLAHE</a:t>
            </a:r>
            <a:endParaRPr lang="en-IN" dirty="0"/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8592B241-C522-6579-D0ED-4526476CA50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56" y="36017"/>
            <a:ext cx="3127248" cy="9161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C5AC9BC-3834-FAE3-DCAC-7B2DB67AB6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667" y="3733800"/>
            <a:ext cx="4421237" cy="294749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64B6A02-2E68-A336-28E9-1B4744B6612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667" y="811845"/>
            <a:ext cx="4329399" cy="288626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FD3D3D1-803A-3E9E-332B-3740F6AA951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6095" y="773954"/>
            <a:ext cx="4117238" cy="343103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4D15B8D-6C0D-A6F7-7277-6F3285AA555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0" y="4203260"/>
            <a:ext cx="3791610" cy="252774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D256A6C-FB83-BF0F-D76A-E592402EB0E8}"/>
              </a:ext>
            </a:extLst>
          </p:cNvPr>
          <p:cNvSpPr txBox="1"/>
          <p:nvPr/>
        </p:nvSpPr>
        <p:spPr>
          <a:xfrm>
            <a:off x="4837320" y="960295"/>
            <a:ext cx="258125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ResNet-50 with CLAHE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Improves contrast → better feature extraction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Training accuracy ~65%, validation ~60–62%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Slightly lower performance than Attention model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ROC curves show balanced performance across classes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Confusion matrix indicates similar misclassification trends</a:t>
            </a:r>
          </a:p>
        </p:txBody>
      </p:sp>
    </p:spTree>
    <p:extLst>
      <p:ext uri="{BB962C8B-B14F-4D97-AF65-F5344CB8AC3E}">
        <p14:creationId xmlns:p14="http://schemas.microsoft.com/office/powerpoint/2010/main" val="46321814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DF5FF-CD1C-8C4C-D80F-70073C9F5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9000" y="268468"/>
            <a:ext cx="8252459" cy="276999"/>
          </a:xfrm>
        </p:spPr>
        <p:txBody>
          <a:bodyPr/>
          <a:lstStyle/>
          <a:p>
            <a:r>
              <a:rPr lang="en-US" dirty="0"/>
              <a:t>RESNET INCEPTION V2</a:t>
            </a:r>
            <a:endParaRPr lang="en-IN" dirty="0"/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C64588E1-069A-CEB4-8404-BF933A07F50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56" y="36017"/>
            <a:ext cx="3127248" cy="9161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FB2632F-3E9B-60CF-4B96-23AF7A240B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3558911"/>
            <a:ext cx="4165848" cy="27772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CC88B59-16DA-26E0-4E24-F9C2EEB0EE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392" y="783696"/>
            <a:ext cx="4310856" cy="287390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4193996-1A58-5D78-0B53-D58CE5B64BC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5648" y="838200"/>
            <a:ext cx="3807047" cy="317253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01C2DA2-BCF9-FA70-7C34-AFF192D15E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65923" y="3886200"/>
            <a:ext cx="3807047" cy="253803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A32462AB-270D-688A-FF1E-188C8766575A}"/>
              </a:ext>
            </a:extLst>
          </p:cNvPr>
          <p:cNvSpPr txBox="1"/>
          <p:nvPr/>
        </p:nvSpPr>
        <p:spPr>
          <a:xfrm>
            <a:off x="4818347" y="1026554"/>
            <a:ext cx="261730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 err="1"/>
              <a:t>ResNet</a:t>
            </a:r>
            <a:r>
              <a:rPr lang="en-IN" b="1" dirty="0"/>
              <a:t> Inception V2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Fast convergence with training accuracy ~69%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Validation accuracy ~61–63% (competitive performance)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Stable loss curves → good optimization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Strong ROC (AUC up to 1.00 for some classes)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Slightly better class separation than CLAHE </a:t>
            </a:r>
          </a:p>
        </p:txBody>
      </p:sp>
    </p:spTree>
    <p:extLst>
      <p:ext uri="{BB962C8B-B14F-4D97-AF65-F5344CB8AC3E}">
        <p14:creationId xmlns:p14="http://schemas.microsoft.com/office/powerpoint/2010/main" val="24934847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99BACC-C223-C4A0-D53F-6886D0FB2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9494" y="355567"/>
            <a:ext cx="8252459" cy="276999"/>
          </a:xfrm>
        </p:spPr>
        <p:txBody>
          <a:bodyPr/>
          <a:lstStyle/>
          <a:p>
            <a:r>
              <a:rPr lang="en-US" dirty="0"/>
              <a:t>SUMMARRY :- MODEL COMPARISON TABLE</a:t>
            </a:r>
            <a:endParaRPr lang="en-IN" dirty="0"/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ED2ABA45-FBF0-C9B6-EF28-47948801F78F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56" y="36017"/>
            <a:ext cx="3127248" cy="916101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4F2F301-FC41-6F29-D2F2-12F0F2B9DC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9616738"/>
              </p:ext>
            </p:extLst>
          </p:nvPr>
        </p:nvGraphicFramePr>
        <p:xfrm>
          <a:off x="2133600" y="1371600"/>
          <a:ext cx="7010320" cy="3593015"/>
        </p:xfrm>
        <a:graphic>
          <a:graphicData uri="http://schemas.openxmlformats.org/drawingml/2006/table">
            <a:tbl>
              <a:tblPr/>
              <a:tblGrid>
                <a:gridCol w="1752580">
                  <a:extLst>
                    <a:ext uri="{9D8B030D-6E8A-4147-A177-3AD203B41FA5}">
                      <a16:colId xmlns:a16="http://schemas.microsoft.com/office/drawing/2014/main" val="4097069166"/>
                    </a:ext>
                  </a:extLst>
                </a:gridCol>
                <a:gridCol w="1752580">
                  <a:extLst>
                    <a:ext uri="{9D8B030D-6E8A-4147-A177-3AD203B41FA5}">
                      <a16:colId xmlns:a16="http://schemas.microsoft.com/office/drawing/2014/main" val="3070075923"/>
                    </a:ext>
                  </a:extLst>
                </a:gridCol>
                <a:gridCol w="1752580">
                  <a:extLst>
                    <a:ext uri="{9D8B030D-6E8A-4147-A177-3AD203B41FA5}">
                      <a16:colId xmlns:a16="http://schemas.microsoft.com/office/drawing/2014/main" val="2319310769"/>
                    </a:ext>
                  </a:extLst>
                </a:gridCol>
                <a:gridCol w="1752580">
                  <a:extLst>
                    <a:ext uri="{9D8B030D-6E8A-4147-A177-3AD203B41FA5}">
                      <a16:colId xmlns:a16="http://schemas.microsoft.com/office/drawing/2014/main" val="2367819546"/>
                    </a:ext>
                  </a:extLst>
                </a:gridCol>
              </a:tblGrid>
              <a:tr h="353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Angsana New" panose="020B0502040204020203" pitchFamily="18" charset="-34"/>
                          <a:cs typeface="Angsana New" panose="020B0502040204020203" pitchFamily="18" charset="-34"/>
                        </a:rPr>
                        <a:t>Feature / Metric</a:t>
                      </a:r>
                    </a:p>
                  </a:txBody>
                  <a:tcPr marL="44155" marR="44155" marT="22078" marB="220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Angsana New" panose="020B0502040204020203" pitchFamily="18" charset="-34"/>
                          <a:cs typeface="Angsana New" panose="020B0502040204020203" pitchFamily="18" charset="-34"/>
                        </a:rPr>
                        <a:t>ResNet-50 + Attention</a:t>
                      </a:r>
                    </a:p>
                  </a:txBody>
                  <a:tcPr marL="44155" marR="44155" marT="22078" marB="220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Angsana New" panose="020B0502040204020203" pitchFamily="18" charset="-34"/>
                          <a:cs typeface="Angsana New" panose="020B0502040204020203" pitchFamily="18" charset="-34"/>
                        </a:rPr>
                        <a:t>ResNet-50 (CLAHE)</a:t>
                      </a:r>
                    </a:p>
                  </a:txBody>
                  <a:tcPr marL="44155" marR="44155" marT="22078" marB="220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Angsana New" panose="020B0502040204020203" pitchFamily="18" charset="-34"/>
                          <a:cs typeface="Angsana New" panose="020B0502040204020203" pitchFamily="18" charset="-34"/>
                        </a:rPr>
                        <a:t>ResNet Inception V2</a:t>
                      </a:r>
                    </a:p>
                  </a:txBody>
                  <a:tcPr marL="44155" marR="44155" marT="22078" marB="220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113156"/>
                  </a:ext>
                </a:extLst>
              </a:tr>
              <a:tr h="353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Angsana New" panose="020B0502040204020203" pitchFamily="18" charset="-34"/>
                          <a:cs typeface="Angsana New" panose="020B0502040204020203" pitchFamily="18" charset="-34"/>
                        </a:rPr>
                        <a:t>Training Accuracy</a:t>
                      </a:r>
                    </a:p>
                  </a:txBody>
                  <a:tcPr marL="44155" marR="44155" marT="22078" marB="220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Angsana New" panose="020B0502040204020203" pitchFamily="18" charset="-34"/>
                          <a:cs typeface="Angsana New" panose="020B0502040204020203" pitchFamily="18" charset="-34"/>
                        </a:rPr>
                        <a:t>~70% (Highest)</a:t>
                      </a:r>
                    </a:p>
                  </a:txBody>
                  <a:tcPr marL="44155" marR="44155" marT="22078" marB="220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Angsana New" panose="020B0502040204020203" pitchFamily="18" charset="-34"/>
                          <a:cs typeface="Angsana New" panose="020B0502040204020203" pitchFamily="18" charset="-34"/>
                        </a:rPr>
                        <a:t>~65%</a:t>
                      </a:r>
                    </a:p>
                  </a:txBody>
                  <a:tcPr marL="44155" marR="44155" marT="22078" marB="220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Angsana New" panose="020B0502040204020203" pitchFamily="18" charset="-34"/>
                          <a:cs typeface="Angsana New" panose="020B0502040204020203" pitchFamily="18" charset="-34"/>
                        </a:rPr>
                        <a:t>~69%</a:t>
                      </a:r>
                    </a:p>
                  </a:txBody>
                  <a:tcPr marL="44155" marR="44155" marT="22078" marB="220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9049959"/>
                  </a:ext>
                </a:extLst>
              </a:tr>
              <a:tr h="353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Angsana New" panose="020B0502040204020203" pitchFamily="18" charset="-34"/>
                          <a:cs typeface="Angsana New" panose="020B0502040204020203" pitchFamily="18" charset="-34"/>
                        </a:rPr>
                        <a:t>Validation Accuracy</a:t>
                      </a:r>
                    </a:p>
                  </a:txBody>
                  <a:tcPr marL="44155" marR="44155" marT="22078" marB="220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Angsana New" panose="020B0502040204020203" pitchFamily="18" charset="-34"/>
                          <a:cs typeface="Angsana New" panose="020B0502040204020203" pitchFamily="18" charset="-34"/>
                        </a:rPr>
                        <a:t>~60–63%</a:t>
                      </a:r>
                    </a:p>
                  </a:txBody>
                  <a:tcPr marL="44155" marR="44155" marT="22078" marB="220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Angsana New" panose="020B0502040204020203" pitchFamily="18" charset="-34"/>
                          <a:cs typeface="Angsana New" panose="020B0502040204020203" pitchFamily="18" charset="-34"/>
                        </a:rPr>
                        <a:t>~60–62%</a:t>
                      </a:r>
                    </a:p>
                  </a:txBody>
                  <a:tcPr marL="44155" marR="44155" marT="22078" marB="220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Angsana New" panose="020B0502040204020203" pitchFamily="18" charset="-34"/>
                          <a:cs typeface="Angsana New" panose="020B0502040204020203" pitchFamily="18" charset="-34"/>
                        </a:rPr>
                        <a:t>~61–63%</a:t>
                      </a:r>
                    </a:p>
                  </a:txBody>
                  <a:tcPr marL="44155" marR="44155" marT="22078" marB="220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38667634"/>
                  </a:ext>
                </a:extLst>
              </a:tr>
              <a:tr h="353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Angsana New" panose="020B0502040204020203" pitchFamily="18" charset="-34"/>
                          <a:cs typeface="Angsana New" panose="020B0502040204020203" pitchFamily="18" charset="-34"/>
                        </a:rPr>
                        <a:t>Convergence Speed</a:t>
                      </a:r>
                    </a:p>
                  </a:txBody>
                  <a:tcPr marL="44155" marR="44155" marT="22078" marB="220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Angsana New" panose="020B0502040204020203" pitchFamily="18" charset="-34"/>
                          <a:cs typeface="Angsana New" panose="020B0502040204020203" pitchFamily="18" charset="-34"/>
                        </a:rPr>
                        <a:t>Moderate</a:t>
                      </a:r>
                    </a:p>
                  </a:txBody>
                  <a:tcPr marL="44155" marR="44155" marT="22078" marB="220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Angsana New" panose="020B0502040204020203" pitchFamily="18" charset="-34"/>
                          <a:cs typeface="Angsana New" panose="020B0502040204020203" pitchFamily="18" charset="-34"/>
                        </a:rPr>
                        <a:t>Fast</a:t>
                      </a:r>
                    </a:p>
                  </a:txBody>
                  <a:tcPr marL="44155" marR="44155" marT="22078" marB="220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Angsana New" panose="020B0502040204020203" pitchFamily="18" charset="-34"/>
                          <a:cs typeface="Angsana New" panose="020B0502040204020203" pitchFamily="18" charset="-34"/>
                        </a:rPr>
                        <a:t>Fast</a:t>
                      </a:r>
                    </a:p>
                  </a:txBody>
                  <a:tcPr marL="44155" marR="44155" marT="22078" marB="220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699057"/>
                  </a:ext>
                </a:extLst>
              </a:tr>
              <a:tr h="353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Angsana New" panose="020B0502040204020203" pitchFamily="18" charset="-34"/>
                          <a:cs typeface="Angsana New" panose="020B0502040204020203" pitchFamily="18" charset="-34"/>
                        </a:rPr>
                        <a:t>Overfitting</a:t>
                      </a:r>
                    </a:p>
                  </a:txBody>
                  <a:tcPr marL="44155" marR="44155" marT="22078" marB="220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Angsana New" panose="020B0502040204020203" pitchFamily="18" charset="-34"/>
                          <a:cs typeface="Angsana New" panose="020B0502040204020203" pitchFamily="18" charset="-34"/>
                        </a:rPr>
                        <a:t>Low</a:t>
                      </a:r>
                    </a:p>
                  </a:txBody>
                  <a:tcPr marL="44155" marR="44155" marT="22078" marB="220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Angsana New" panose="020B0502040204020203" pitchFamily="18" charset="-34"/>
                          <a:cs typeface="Angsana New" panose="020B0502040204020203" pitchFamily="18" charset="-34"/>
                        </a:rPr>
                        <a:t>Low–Moderate</a:t>
                      </a:r>
                    </a:p>
                  </a:txBody>
                  <a:tcPr marL="44155" marR="44155" marT="22078" marB="220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Angsana New" panose="020B0502040204020203" pitchFamily="18" charset="-34"/>
                          <a:cs typeface="Angsana New" panose="020B0502040204020203" pitchFamily="18" charset="-34"/>
                        </a:rPr>
                        <a:t>Low</a:t>
                      </a:r>
                    </a:p>
                  </a:txBody>
                  <a:tcPr marL="44155" marR="44155" marT="22078" marB="220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9742168"/>
                  </a:ext>
                </a:extLst>
              </a:tr>
              <a:tr h="2075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Angsana New" panose="020B0502040204020203" pitchFamily="18" charset="-34"/>
                          <a:cs typeface="Angsana New" panose="020B0502040204020203" pitchFamily="18" charset="-34"/>
                        </a:rPr>
                        <a:t>Loss Stability</a:t>
                      </a:r>
                    </a:p>
                  </a:txBody>
                  <a:tcPr marL="44155" marR="44155" marT="22078" marB="220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Angsana New" panose="020B0502040204020203" pitchFamily="18" charset="-34"/>
                          <a:cs typeface="Angsana New" panose="020B0502040204020203" pitchFamily="18" charset="-34"/>
                        </a:rPr>
                        <a:t>Stable</a:t>
                      </a:r>
                    </a:p>
                  </a:txBody>
                  <a:tcPr marL="44155" marR="44155" marT="22078" marB="220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Angsana New" panose="020B0502040204020203" pitchFamily="18" charset="-34"/>
                          <a:cs typeface="Angsana New" panose="020B0502040204020203" pitchFamily="18" charset="-34"/>
                        </a:rPr>
                        <a:t>Stable</a:t>
                      </a:r>
                    </a:p>
                  </a:txBody>
                  <a:tcPr marL="44155" marR="44155" marT="22078" marB="220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Angsana New" panose="020B0502040204020203" pitchFamily="18" charset="-34"/>
                          <a:cs typeface="Angsana New" panose="020B0502040204020203" pitchFamily="18" charset="-34"/>
                        </a:rPr>
                        <a:t>Very Stable</a:t>
                      </a:r>
                    </a:p>
                  </a:txBody>
                  <a:tcPr marL="44155" marR="44155" marT="22078" marB="220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73543996"/>
                  </a:ext>
                </a:extLst>
              </a:tr>
              <a:tr h="353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Angsana New" panose="020B0502040204020203" pitchFamily="18" charset="-34"/>
                          <a:cs typeface="Angsana New" panose="020B0502040204020203" pitchFamily="18" charset="-34"/>
                        </a:rPr>
                        <a:t>ROC-AUC Performance</a:t>
                      </a:r>
                    </a:p>
                  </a:txBody>
                  <a:tcPr marL="44155" marR="44155" marT="22078" marB="220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Angsana New" panose="020B0502040204020203" pitchFamily="18" charset="-34"/>
                          <a:cs typeface="Angsana New" panose="020B0502040204020203" pitchFamily="18" charset="-34"/>
                        </a:rPr>
                        <a:t>Strong (up to 1.00)</a:t>
                      </a:r>
                    </a:p>
                  </a:txBody>
                  <a:tcPr marL="44155" marR="44155" marT="22078" marB="220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Angsana New" panose="020B0502040204020203" pitchFamily="18" charset="-34"/>
                          <a:cs typeface="Angsana New" panose="020B0502040204020203" pitchFamily="18" charset="-34"/>
                        </a:rPr>
                        <a:t>Good</a:t>
                      </a:r>
                    </a:p>
                  </a:txBody>
                  <a:tcPr marL="44155" marR="44155" marT="22078" marB="220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Angsana New" panose="020B0502040204020203" pitchFamily="18" charset="-34"/>
                          <a:cs typeface="Angsana New" panose="020B0502040204020203" pitchFamily="18" charset="-34"/>
                        </a:rPr>
                        <a:t>Strong (up to 1.00)</a:t>
                      </a:r>
                    </a:p>
                  </a:txBody>
                  <a:tcPr marL="44155" marR="44155" marT="22078" marB="220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1867327"/>
                  </a:ext>
                </a:extLst>
              </a:tr>
              <a:tr h="353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Angsana New" panose="020B0502040204020203" pitchFamily="18" charset="-34"/>
                          <a:cs typeface="Angsana New" panose="020B0502040204020203" pitchFamily="18" charset="-34"/>
                        </a:rPr>
                        <a:t>Class Separation</a:t>
                      </a:r>
                    </a:p>
                  </a:txBody>
                  <a:tcPr marL="44155" marR="44155" marT="22078" marB="220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Angsana New" panose="020B0502040204020203" pitchFamily="18" charset="-34"/>
                          <a:cs typeface="Angsana New" panose="020B0502040204020203" pitchFamily="18" charset="-34"/>
                        </a:rPr>
                        <a:t>Good</a:t>
                      </a:r>
                    </a:p>
                  </a:txBody>
                  <a:tcPr marL="44155" marR="44155" marT="22078" marB="220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Angsana New" panose="020B0502040204020203" pitchFamily="18" charset="-34"/>
                          <a:cs typeface="Angsana New" panose="020B0502040204020203" pitchFamily="18" charset="-34"/>
                        </a:rPr>
                        <a:t>Moderate</a:t>
                      </a:r>
                    </a:p>
                  </a:txBody>
                  <a:tcPr marL="44155" marR="44155" marT="22078" marB="220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Angsana New" panose="020B0502040204020203" pitchFamily="18" charset="-34"/>
                          <a:cs typeface="Angsana New" panose="020B0502040204020203" pitchFamily="18" charset="-34"/>
                        </a:rPr>
                        <a:t>Better</a:t>
                      </a:r>
                    </a:p>
                  </a:txBody>
                  <a:tcPr marL="44155" marR="44155" marT="22078" marB="220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957658"/>
                  </a:ext>
                </a:extLst>
              </a:tr>
              <a:tr h="50537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Angsana New" panose="020B0502040204020203" pitchFamily="18" charset="-34"/>
                          <a:cs typeface="Angsana New" panose="020B0502040204020203" pitchFamily="18" charset="-34"/>
                        </a:rPr>
                        <a:t>Preprocessing Used</a:t>
                      </a:r>
                    </a:p>
                  </a:txBody>
                  <a:tcPr marL="44155" marR="44155" marT="22078" marB="220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Angsana New" panose="020B0502040204020203" pitchFamily="18" charset="-34"/>
                          <a:cs typeface="Angsana New" panose="020B0502040204020203" pitchFamily="18" charset="-34"/>
                        </a:rPr>
                        <a:t>Attention Mechanism</a:t>
                      </a:r>
                    </a:p>
                  </a:txBody>
                  <a:tcPr marL="44155" marR="44155" marT="22078" marB="220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Angsana New" panose="020B0502040204020203" pitchFamily="18" charset="-34"/>
                          <a:cs typeface="Angsana New" panose="020B0502040204020203" pitchFamily="18" charset="-34"/>
                        </a:rPr>
                        <a:t>CLAHE</a:t>
                      </a:r>
                    </a:p>
                  </a:txBody>
                  <a:tcPr marL="44155" marR="44155" marT="22078" marB="220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Angsana New" panose="020B0502040204020203" pitchFamily="18" charset="-34"/>
                          <a:cs typeface="Angsana New" panose="020B0502040204020203" pitchFamily="18" charset="-34"/>
                        </a:rPr>
                        <a:t>None (Architecture-based)</a:t>
                      </a:r>
                    </a:p>
                  </a:txBody>
                  <a:tcPr marL="44155" marR="44155" marT="22078" marB="220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5447900"/>
                  </a:ext>
                </a:extLst>
              </a:tr>
              <a:tr h="3537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Angsana New" panose="020B0502040204020203" pitchFamily="18" charset="-34"/>
                          <a:cs typeface="Angsana New" panose="020B0502040204020203" pitchFamily="18" charset="-34"/>
                        </a:rPr>
                        <a:t>Overall Performance</a:t>
                      </a:r>
                    </a:p>
                  </a:txBody>
                  <a:tcPr marL="44155" marR="44155" marT="22078" marB="220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Angsana New" panose="020B0502040204020203" pitchFamily="18" charset="-34"/>
                          <a:cs typeface="Angsana New" panose="020B0502040204020203" pitchFamily="18" charset="-34"/>
                        </a:rPr>
                        <a:t> Best</a:t>
                      </a:r>
                    </a:p>
                  </a:txBody>
                  <a:tcPr marL="44155" marR="44155" marT="22078" marB="220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>
                          <a:latin typeface="Angsana New" panose="020B0502040204020203" pitchFamily="18" charset="-34"/>
                          <a:cs typeface="Angsana New" panose="020B0502040204020203" pitchFamily="18" charset="-34"/>
                        </a:rPr>
                        <a:t>Average</a:t>
                      </a:r>
                    </a:p>
                  </a:txBody>
                  <a:tcPr marL="44155" marR="44155" marT="22078" marB="220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>
                          <a:latin typeface="Angsana New" panose="020B0502040204020203" pitchFamily="18" charset="-34"/>
                          <a:cs typeface="Angsana New" panose="020B0502040204020203" pitchFamily="18" charset="-34"/>
                        </a:rPr>
                        <a:t> Competitive</a:t>
                      </a:r>
                    </a:p>
                  </a:txBody>
                  <a:tcPr marL="44155" marR="44155" marT="22078" marB="22078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109893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524817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56" y="36017"/>
            <a:ext cx="3127248" cy="91610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929741" y="1339418"/>
            <a:ext cx="10316210" cy="51911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330"/>
              </a:lnSpc>
              <a:spcBef>
                <a:spcPts val="105"/>
              </a:spcBef>
            </a:pPr>
            <a:r>
              <a:rPr sz="2000" b="1" spc="-25" dirty="0">
                <a:latin typeface="Times New Roman"/>
                <a:cs typeface="Times New Roman"/>
              </a:rPr>
              <a:t>1.</a:t>
            </a:r>
            <a:endParaRPr sz="2000">
              <a:latin typeface="Times New Roman"/>
              <a:cs typeface="Times New Roman"/>
            </a:endParaRPr>
          </a:p>
          <a:p>
            <a:pPr marL="12700" marR="905510">
              <a:lnSpc>
                <a:spcPts val="2400"/>
              </a:lnSpc>
              <a:spcBef>
                <a:spcPts val="10"/>
              </a:spcBef>
            </a:pPr>
            <a:r>
              <a:rPr sz="2000" b="1" spc="-10" dirty="0">
                <a:latin typeface="Times New Roman"/>
                <a:cs typeface="Times New Roman"/>
              </a:rPr>
              <a:t>Bortoluzzi</a:t>
            </a:r>
            <a:r>
              <a:rPr sz="2000" b="1" spc="-1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A,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Furini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spc="-85" dirty="0">
                <a:latin typeface="Times New Roman"/>
                <a:cs typeface="Times New Roman"/>
              </a:rPr>
              <a:t>F,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Scirè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CA.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Osteoarthritis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its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management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-</a:t>
            </a:r>
            <a:r>
              <a:rPr sz="2000" b="1" spc="-10" dirty="0">
                <a:latin typeface="Times New Roman"/>
                <a:cs typeface="Times New Roman"/>
              </a:rPr>
              <a:t> Epidemiology, </a:t>
            </a:r>
            <a:r>
              <a:rPr sz="2000" b="1" dirty="0">
                <a:latin typeface="Times New Roman"/>
                <a:cs typeface="Times New Roman"/>
              </a:rPr>
              <a:t>nutritional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aspects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environmental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factors.</a:t>
            </a:r>
            <a:r>
              <a:rPr sz="2000" b="1" spc="-1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Autoimmun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Rev.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2018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Nov;17(11):1097- 1104.</a:t>
            </a:r>
            <a:r>
              <a:rPr sz="2000" b="1" spc="-9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[</a:t>
            </a:r>
            <a:r>
              <a:rPr sz="2000" b="1" u="sng" spc="-10" dirty="0">
                <a:solidFill>
                  <a:srgbClr val="F92381"/>
                </a:solidFill>
                <a:uFill>
                  <a:solidFill>
                    <a:srgbClr val="F92381"/>
                  </a:solidFill>
                </a:uFill>
                <a:latin typeface="Times New Roman"/>
                <a:cs typeface="Times New Roman"/>
                <a:hlinkClick r:id="rId3"/>
              </a:rPr>
              <a:t>PubMed</a:t>
            </a:r>
            <a:r>
              <a:rPr sz="2000" b="1" spc="-10" dirty="0">
                <a:latin typeface="Times New Roman"/>
                <a:cs typeface="Times New Roman"/>
              </a:rPr>
              <a:t>]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330"/>
              </a:lnSpc>
              <a:spcBef>
                <a:spcPts val="65"/>
              </a:spcBef>
            </a:pPr>
            <a:r>
              <a:rPr sz="2000" b="1" spc="-25" dirty="0">
                <a:latin typeface="Times New Roman"/>
                <a:cs typeface="Times New Roman"/>
              </a:rPr>
              <a:t>2.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330"/>
              </a:lnSpc>
            </a:pPr>
            <a:r>
              <a:rPr sz="2000" b="1" spc="-10" dirty="0">
                <a:latin typeface="Times New Roman"/>
                <a:cs typeface="Times New Roman"/>
              </a:rPr>
              <a:t>Miller</a:t>
            </a:r>
            <a:r>
              <a:rPr sz="2000" b="1" spc="-1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A,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Lutsky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45" dirty="0">
                <a:latin typeface="Times New Roman"/>
                <a:cs typeface="Times New Roman"/>
              </a:rPr>
              <a:t>KF,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Shearin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J,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Cantlon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M,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Wolfe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S,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Beredjiklian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PK.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Radiographic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Patterns</a:t>
            </a:r>
            <a:endParaRPr sz="2000">
              <a:latin typeface="Times New Roman"/>
              <a:cs typeface="Times New Roman"/>
            </a:endParaRPr>
          </a:p>
          <a:p>
            <a:pPr marL="12700" marR="1058545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Radiocarpal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Midcarpal</a:t>
            </a:r>
            <a:r>
              <a:rPr sz="2000" b="1" spc="-1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Arthritis.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J</a:t>
            </a:r>
            <a:r>
              <a:rPr sz="2000" b="1" spc="-114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Am</a:t>
            </a:r>
            <a:r>
              <a:rPr sz="2000" b="1" spc="-1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Acad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Orthop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Surg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Glob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Res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Rev. </a:t>
            </a:r>
            <a:r>
              <a:rPr sz="2000" b="1" spc="-20" dirty="0">
                <a:latin typeface="Times New Roman"/>
                <a:cs typeface="Times New Roman"/>
              </a:rPr>
              <a:t>2017 </a:t>
            </a:r>
            <a:r>
              <a:rPr sz="2000" b="1" dirty="0">
                <a:latin typeface="Times New Roman"/>
                <a:cs typeface="Times New Roman"/>
              </a:rPr>
              <a:t>Jun;1(3):e017.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[</a:t>
            </a:r>
            <a:r>
              <a:rPr sz="2000" b="1" u="sng" dirty="0">
                <a:solidFill>
                  <a:srgbClr val="F92381"/>
                </a:solidFill>
                <a:uFill>
                  <a:solidFill>
                    <a:srgbClr val="F92381"/>
                  </a:solidFill>
                </a:uFill>
                <a:latin typeface="Times New Roman"/>
                <a:cs typeface="Times New Roman"/>
                <a:hlinkClick r:id="rId4"/>
              </a:rPr>
              <a:t>PMC</a:t>
            </a:r>
            <a:r>
              <a:rPr sz="2000" b="1" u="sng" spc="-35" dirty="0">
                <a:solidFill>
                  <a:srgbClr val="F92381"/>
                </a:solidFill>
                <a:uFill>
                  <a:solidFill>
                    <a:srgbClr val="F92381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sz="2000" b="1" u="sng" dirty="0">
                <a:solidFill>
                  <a:srgbClr val="F92381"/>
                </a:solidFill>
                <a:uFill>
                  <a:solidFill>
                    <a:srgbClr val="F92381"/>
                  </a:solidFill>
                </a:uFill>
                <a:latin typeface="Times New Roman"/>
                <a:cs typeface="Times New Roman"/>
                <a:hlinkClick r:id="rId4"/>
              </a:rPr>
              <a:t>free</a:t>
            </a:r>
            <a:r>
              <a:rPr sz="2000" b="1" u="sng" spc="-45" dirty="0">
                <a:solidFill>
                  <a:srgbClr val="F92381"/>
                </a:solidFill>
                <a:uFill>
                  <a:solidFill>
                    <a:srgbClr val="F92381"/>
                  </a:solidFill>
                </a:uFill>
                <a:latin typeface="Times New Roman"/>
                <a:cs typeface="Times New Roman"/>
                <a:hlinkClick r:id="rId4"/>
              </a:rPr>
              <a:t> </a:t>
            </a:r>
            <a:r>
              <a:rPr sz="2000" b="1" u="sng" dirty="0">
                <a:solidFill>
                  <a:srgbClr val="F92381"/>
                </a:solidFill>
                <a:uFill>
                  <a:solidFill>
                    <a:srgbClr val="F92381"/>
                  </a:solidFill>
                </a:uFill>
                <a:latin typeface="Times New Roman"/>
                <a:cs typeface="Times New Roman"/>
                <a:hlinkClick r:id="rId4"/>
              </a:rPr>
              <a:t>article</a:t>
            </a:r>
            <a:r>
              <a:rPr sz="2000" b="1" dirty="0">
                <a:latin typeface="Times New Roman"/>
                <a:cs typeface="Times New Roman"/>
              </a:rPr>
              <a:t>]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[</a:t>
            </a:r>
            <a:r>
              <a:rPr sz="2000" b="1" u="sng" spc="-10" dirty="0">
                <a:solidFill>
                  <a:srgbClr val="F92381"/>
                </a:solidFill>
                <a:uFill>
                  <a:solidFill>
                    <a:srgbClr val="F92381"/>
                  </a:solidFill>
                </a:uFill>
                <a:latin typeface="Times New Roman"/>
                <a:cs typeface="Times New Roman"/>
                <a:hlinkClick r:id="rId5"/>
              </a:rPr>
              <a:t>PubMed</a:t>
            </a:r>
            <a:r>
              <a:rPr sz="2000" b="1" spc="-10" dirty="0">
                <a:latin typeface="Times New Roman"/>
                <a:cs typeface="Times New Roman"/>
              </a:rPr>
              <a:t>]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330"/>
              </a:lnSpc>
              <a:spcBef>
                <a:spcPts val="145"/>
              </a:spcBef>
            </a:pPr>
            <a:r>
              <a:rPr sz="2000" b="1" spc="-25" dirty="0">
                <a:latin typeface="Times New Roman"/>
                <a:cs typeface="Times New Roman"/>
              </a:rPr>
              <a:t>3.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330"/>
              </a:lnSpc>
            </a:pPr>
            <a:r>
              <a:rPr sz="2000" b="1" dirty="0">
                <a:latin typeface="Times New Roman"/>
                <a:cs typeface="Times New Roman"/>
              </a:rPr>
              <a:t>Berenbaum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spc="-105" dirty="0">
                <a:latin typeface="Times New Roman"/>
                <a:cs typeface="Times New Roman"/>
              </a:rPr>
              <a:t>F,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Wallace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IJ,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Lieberman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DE,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Felson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DT.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Modern-</a:t>
            </a:r>
            <a:r>
              <a:rPr sz="2000" b="1" dirty="0">
                <a:latin typeface="Times New Roman"/>
                <a:cs typeface="Times New Roman"/>
              </a:rPr>
              <a:t>day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environmental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factors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in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pathogenesis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of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osteoarthritis.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Nat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Rev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Rheumatol.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2018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Nov;14(11):674-</a:t>
            </a:r>
            <a:r>
              <a:rPr sz="2000" b="1" dirty="0">
                <a:latin typeface="Times New Roman"/>
                <a:cs typeface="Times New Roman"/>
              </a:rPr>
              <a:t>681.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[</a:t>
            </a:r>
            <a:r>
              <a:rPr sz="2000" b="1" u="sng" spc="-10" dirty="0">
                <a:solidFill>
                  <a:srgbClr val="F92381"/>
                </a:solidFill>
                <a:uFill>
                  <a:solidFill>
                    <a:srgbClr val="F92381"/>
                  </a:solidFill>
                </a:uFill>
                <a:latin typeface="Times New Roman"/>
                <a:cs typeface="Times New Roman"/>
                <a:hlinkClick r:id="rId6"/>
              </a:rPr>
              <a:t>PubMed</a:t>
            </a:r>
            <a:r>
              <a:rPr sz="2000" b="1" spc="-10" dirty="0">
                <a:latin typeface="Times New Roman"/>
                <a:cs typeface="Times New Roman"/>
              </a:rPr>
              <a:t>]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330"/>
              </a:lnSpc>
              <a:spcBef>
                <a:spcPts val="145"/>
              </a:spcBef>
            </a:pPr>
            <a:r>
              <a:rPr sz="2000" b="1" spc="-25" dirty="0">
                <a:latin typeface="Times New Roman"/>
                <a:cs typeface="Times New Roman"/>
              </a:rPr>
              <a:t>4.</a:t>
            </a:r>
            <a:endParaRPr sz="2000">
              <a:latin typeface="Times New Roman"/>
              <a:cs typeface="Times New Roman"/>
            </a:endParaRPr>
          </a:p>
          <a:p>
            <a:pPr marL="12700" marR="5080">
              <a:lnSpc>
                <a:spcPts val="2400"/>
              </a:lnSpc>
              <a:spcBef>
                <a:spcPts val="10"/>
              </a:spcBef>
            </a:pPr>
            <a:r>
              <a:rPr sz="2000" b="1" dirty="0">
                <a:latin typeface="Times New Roman"/>
                <a:cs typeface="Times New Roman"/>
              </a:rPr>
              <a:t>Donahue</a:t>
            </a:r>
            <a:r>
              <a:rPr sz="2000" b="1" spc="-55" dirty="0">
                <a:latin typeface="Times New Roman"/>
                <a:cs typeface="Times New Roman"/>
              </a:rPr>
              <a:t> </a:t>
            </a:r>
            <a:r>
              <a:rPr sz="2000" b="1" spc="-35" dirty="0">
                <a:latin typeface="Times New Roman"/>
                <a:cs typeface="Times New Roman"/>
              </a:rPr>
              <a:t>SW.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Krogh's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principle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for</a:t>
            </a:r>
            <a:r>
              <a:rPr sz="2000" b="1" spc="-6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musculoskeletal</a:t>
            </a:r>
            <a:r>
              <a:rPr sz="2000" b="1" spc="-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physiology</a:t>
            </a:r>
            <a:r>
              <a:rPr sz="2000" b="1" spc="-6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and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pathology.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J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Musculoskelet </a:t>
            </a:r>
            <a:r>
              <a:rPr sz="2000" b="1" dirty="0">
                <a:latin typeface="Times New Roman"/>
                <a:cs typeface="Times New Roman"/>
              </a:rPr>
              <a:t>Neuronal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Interact.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2018</a:t>
            </a:r>
            <a:r>
              <a:rPr sz="2000" b="1" spc="-2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Sep</a:t>
            </a:r>
            <a:r>
              <a:rPr sz="2000" b="1" spc="-10" dirty="0">
                <a:latin typeface="Times New Roman"/>
                <a:cs typeface="Times New Roman"/>
              </a:rPr>
              <a:t> 01;18(3):284-</a:t>
            </a:r>
            <a:r>
              <a:rPr sz="2000" b="1" dirty="0">
                <a:latin typeface="Times New Roman"/>
                <a:cs typeface="Times New Roman"/>
              </a:rPr>
              <a:t>291.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[</a:t>
            </a:r>
            <a:r>
              <a:rPr sz="2000" b="1" u="sng" dirty="0">
                <a:solidFill>
                  <a:srgbClr val="F92381"/>
                </a:solidFill>
                <a:uFill>
                  <a:solidFill>
                    <a:srgbClr val="F92381"/>
                  </a:solidFill>
                </a:uFill>
                <a:latin typeface="Times New Roman"/>
                <a:cs typeface="Times New Roman"/>
                <a:hlinkClick r:id="rId7"/>
              </a:rPr>
              <a:t>PMC</a:t>
            </a:r>
            <a:r>
              <a:rPr sz="2000" b="1" u="sng" spc="-10" dirty="0">
                <a:solidFill>
                  <a:srgbClr val="F92381"/>
                </a:solidFill>
                <a:uFill>
                  <a:solidFill>
                    <a:srgbClr val="F92381"/>
                  </a:solidFill>
                </a:uFill>
                <a:latin typeface="Times New Roman"/>
                <a:cs typeface="Times New Roman"/>
                <a:hlinkClick r:id="rId7"/>
              </a:rPr>
              <a:t> </a:t>
            </a:r>
            <a:r>
              <a:rPr sz="2000" b="1" u="sng" dirty="0">
                <a:solidFill>
                  <a:srgbClr val="F92381"/>
                </a:solidFill>
                <a:uFill>
                  <a:solidFill>
                    <a:srgbClr val="F92381"/>
                  </a:solidFill>
                </a:uFill>
                <a:latin typeface="Times New Roman"/>
                <a:cs typeface="Times New Roman"/>
                <a:hlinkClick r:id="rId7"/>
              </a:rPr>
              <a:t>free</a:t>
            </a:r>
            <a:r>
              <a:rPr sz="2000" b="1" u="sng" spc="-15" dirty="0">
                <a:solidFill>
                  <a:srgbClr val="F92381"/>
                </a:solidFill>
                <a:uFill>
                  <a:solidFill>
                    <a:srgbClr val="F92381"/>
                  </a:solidFill>
                </a:uFill>
                <a:latin typeface="Times New Roman"/>
                <a:cs typeface="Times New Roman"/>
                <a:hlinkClick r:id="rId7"/>
              </a:rPr>
              <a:t> </a:t>
            </a:r>
            <a:r>
              <a:rPr sz="2000" b="1" u="sng" dirty="0">
                <a:solidFill>
                  <a:srgbClr val="F92381"/>
                </a:solidFill>
                <a:uFill>
                  <a:solidFill>
                    <a:srgbClr val="F92381"/>
                  </a:solidFill>
                </a:uFill>
                <a:latin typeface="Times New Roman"/>
                <a:cs typeface="Times New Roman"/>
                <a:hlinkClick r:id="rId7"/>
              </a:rPr>
              <a:t>article</a:t>
            </a:r>
            <a:r>
              <a:rPr sz="2000" b="1" dirty="0">
                <a:latin typeface="Times New Roman"/>
                <a:cs typeface="Times New Roman"/>
              </a:rPr>
              <a:t>]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[</a:t>
            </a:r>
            <a:r>
              <a:rPr sz="2000" b="1" u="sng" spc="-10" dirty="0">
                <a:solidFill>
                  <a:srgbClr val="F92381"/>
                </a:solidFill>
                <a:uFill>
                  <a:solidFill>
                    <a:srgbClr val="F92381"/>
                  </a:solidFill>
                </a:uFill>
                <a:latin typeface="Times New Roman"/>
                <a:cs typeface="Times New Roman"/>
                <a:hlinkClick r:id="rId8"/>
              </a:rPr>
              <a:t>PubMed</a:t>
            </a:r>
            <a:r>
              <a:rPr sz="2000" b="1" spc="-10" dirty="0">
                <a:latin typeface="Times New Roman"/>
                <a:cs typeface="Times New Roman"/>
              </a:rPr>
              <a:t>]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330"/>
              </a:lnSpc>
              <a:spcBef>
                <a:spcPts val="65"/>
              </a:spcBef>
            </a:pPr>
            <a:r>
              <a:rPr sz="2000" b="1" spc="-25" dirty="0">
                <a:latin typeface="Times New Roman"/>
                <a:cs typeface="Times New Roman"/>
              </a:rPr>
              <a:t>5.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ts val="2330"/>
              </a:lnSpc>
            </a:pPr>
            <a:r>
              <a:rPr sz="2000" b="1" spc="-10" dirty="0">
                <a:latin typeface="Times New Roman"/>
                <a:cs typeface="Times New Roman"/>
              </a:rPr>
              <a:t>Krishnan</a:t>
            </a:r>
            <a:r>
              <a:rPr sz="2000" b="1" spc="-114" dirty="0">
                <a:latin typeface="Times New Roman"/>
                <a:cs typeface="Times New Roman"/>
              </a:rPr>
              <a:t> </a:t>
            </a:r>
            <a:r>
              <a:rPr sz="2000" b="1" spc="-80" dirty="0">
                <a:latin typeface="Times New Roman"/>
                <a:cs typeface="Times New Roman"/>
              </a:rPr>
              <a:t>Y,</a:t>
            </a:r>
            <a:r>
              <a:rPr sz="2000" b="1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Grodzinsky</a:t>
            </a:r>
            <a:r>
              <a:rPr sz="2000" b="1" spc="-14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AJ.</a:t>
            </a:r>
            <a:r>
              <a:rPr sz="2000" b="1" spc="-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Cartilage</a:t>
            </a:r>
            <a:r>
              <a:rPr sz="2000" b="1" spc="-3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diseases.</a:t>
            </a:r>
            <a:r>
              <a:rPr sz="2000" b="1" spc="-3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Matrix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Biol. 2018</a:t>
            </a:r>
            <a:r>
              <a:rPr sz="2000" b="1" spc="-2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Oct;71-</a:t>
            </a:r>
            <a:r>
              <a:rPr sz="2000" b="1" spc="-10" dirty="0">
                <a:latin typeface="Times New Roman"/>
                <a:cs typeface="Times New Roman"/>
              </a:rPr>
              <a:t>72:51-</a:t>
            </a:r>
            <a:r>
              <a:rPr sz="2000" b="1" dirty="0">
                <a:latin typeface="Times New Roman"/>
                <a:cs typeface="Times New Roman"/>
              </a:rPr>
              <a:t>69.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[</a:t>
            </a:r>
            <a:r>
              <a:rPr sz="2000" b="1" u="sng" dirty="0">
                <a:solidFill>
                  <a:srgbClr val="F92381"/>
                </a:solidFill>
                <a:uFill>
                  <a:solidFill>
                    <a:srgbClr val="F92381"/>
                  </a:solidFill>
                </a:uFill>
                <a:latin typeface="Times New Roman"/>
                <a:cs typeface="Times New Roman"/>
                <a:hlinkClick r:id="rId9"/>
              </a:rPr>
              <a:t>PMC</a:t>
            </a:r>
            <a:r>
              <a:rPr sz="2000" b="1" u="sng" spc="-15" dirty="0">
                <a:solidFill>
                  <a:srgbClr val="F92381"/>
                </a:solidFill>
                <a:uFill>
                  <a:solidFill>
                    <a:srgbClr val="F92381"/>
                  </a:solidFill>
                </a:uFill>
                <a:latin typeface="Times New Roman"/>
                <a:cs typeface="Times New Roman"/>
                <a:hlinkClick r:id="rId9"/>
              </a:rPr>
              <a:t> </a:t>
            </a:r>
            <a:r>
              <a:rPr sz="2000" b="1" u="sng" spc="-20" dirty="0">
                <a:solidFill>
                  <a:srgbClr val="F92381"/>
                </a:solidFill>
                <a:uFill>
                  <a:solidFill>
                    <a:srgbClr val="F92381"/>
                  </a:solidFill>
                </a:uFill>
                <a:latin typeface="Times New Roman"/>
                <a:cs typeface="Times New Roman"/>
                <a:hlinkClick r:id="rId9"/>
              </a:rPr>
              <a:t>free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000" b="1" u="sng" dirty="0">
                <a:solidFill>
                  <a:srgbClr val="F92381"/>
                </a:solidFill>
                <a:uFill>
                  <a:solidFill>
                    <a:srgbClr val="F92381"/>
                  </a:solidFill>
                </a:uFill>
                <a:latin typeface="Times New Roman"/>
                <a:cs typeface="Times New Roman"/>
                <a:hlinkClick r:id="rId9"/>
              </a:rPr>
              <a:t>article</a:t>
            </a:r>
            <a:r>
              <a:rPr sz="2000" b="1" dirty="0">
                <a:latin typeface="Times New Roman"/>
                <a:cs typeface="Times New Roman"/>
              </a:rPr>
              <a:t>]</a:t>
            </a:r>
            <a:r>
              <a:rPr sz="2000" b="1" spc="-4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[</a:t>
            </a:r>
            <a:r>
              <a:rPr sz="2000" b="1" u="sng" spc="-10" dirty="0">
                <a:solidFill>
                  <a:srgbClr val="F92381"/>
                </a:solidFill>
                <a:uFill>
                  <a:solidFill>
                    <a:srgbClr val="F92381"/>
                  </a:solidFill>
                </a:uFill>
                <a:latin typeface="Times New Roman"/>
                <a:cs typeface="Times New Roman"/>
                <a:hlinkClick r:id="rId10"/>
              </a:rPr>
              <a:t>PubMed</a:t>
            </a:r>
            <a:r>
              <a:rPr sz="2000" b="1" spc="-10" dirty="0">
                <a:latin typeface="Times New Roman"/>
                <a:cs typeface="Times New Roman"/>
              </a:rPr>
              <a:t>]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929741" y="773430"/>
            <a:ext cx="331724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i="1" spc="-445" dirty="0">
                <a:latin typeface="Verdana"/>
                <a:cs typeface="Verdana"/>
              </a:rPr>
              <a:t>Refereneces</a:t>
            </a:r>
            <a:endParaRPr sz="4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0756" y="36017"/>
            <a:ext cx="3127248" cy="916101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33957" y="1919097"/>
            <a:ext cx="9936480" cy="34404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R="1270" algn="ctr">
              <a:lnSpc>
                <a:spcPct val="100000"/>
              </a:lnSpc>
              <a:spcBef>
                <a:spcPts val="105"/>
              </a:spcBef>
            </a:pPr>
            <a:r>
              <a:rPr sz="3200" b="1" i="1" spc="-365" dirty="0">
                <a:solidFill>
                  <a:srgbClr val="121522"/>
                </a:solidFill>
                <a:latin typeface="Verdana"/>
                <a:cs typeface="Verdana"/>
              </a:rPr>
              <a:t>Thank</a:t>
            </a:r>
            <a:r>
              <a:rPr sz="3200" b="1" i="1" spc="-275" dirty="0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sz="3200" b="1" i="1" spc="-310" dirty="0">
                <a:solidFill>
                  <a:srgbClr val="121522"/>
                </a:solidFill>
                <a:latin typeface="Verdana"/>
                <a:cs typeface="Verdana"/>
              </a:rPr>
              <a:t>you</a:t>
            </a:r>
            <a:endParaRPr sz="3200">
              <a:latin typeface="Verdana"/>
              <a:cs typeface="Verdana"/>
            </a:endParaRPr>
          </a:p>
          <a:p>
            <a:pPr marL="12700" marR="5080" indent="-13970" algn="ctr">
              <a:lnSpc>
                <a:spcPct val="100000"/>
              </a:lnSpc>
            </a:pPr>
            <a:r>
              <a:rPr sz="3200" b="1" i="1" spc="-260" dirty="0">
                <a:solidFill>
                  <a:srgbClr val="121522"/>
                </a:solidFill>
                <a:latin typeface="Verdana"/>
                <a:cs typeface="Verdana"/>
              </a:rPr>
              <a:t>for</a:t>
            </a:r>
            <a:r>
              <a:rPr sz="3200" b="1" i="1" spc="-305" dirty="0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sz="3200" b="1" i="1" spc="-310" dirty="0">
                <a:solidFill>
                  <a:srgbClr val="121522"/>
                </a:solidFill>
                <a:latin typeface="Verdana"/>
                <a:cs typeface="Verdana"/>
              </a:rPr>
              <a:t>your</a:t>
            </a:r>
            <a:r>
              <a:rPr sz="3200" b="1" i="1" spc="-305" dirty="0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sz="3200" b="1" i="1" spc="-254" dirty="0">
                <a:solidFill>
                  <a:srgbClr val="121522"/>
                </a:solidFill>
                <a:latin typeface="Verdana"/>
                <a:cs typeface="Verdana"/>
              </a:rPr>
              <a:t>guidance</a:t>
            </a:r>
            <a:r>
              <a:rPr sz="3200" b="1" i="1" spc="-280" dirty="0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sz="3200" b="1" i="1" spc="-270" dirty="0">
                <a:solidFill>
                  <a:srgbClr val="121522"/>
                </a:solidFill>
                <a:latin typeface="Verdana"/>
                <a:cs typeface="Verdana"/>
              </a:rPr>
              <a:t>and</a:t>
            </a:r>
            <a:r>
              <a:rPr sz="3200" b="1" i="1" spc="-285" dirty="0">
                <a:solidFill>
                  <a:srgbClr val="121522"/>
                </a:solidFill>
                <a:latin typeface="Verdana"/>
                <a:cs typeface="Verdana"/>
              </a:rPr>
              <a:t> support</a:t>
            </a:r>
            <a:r>
              <a:rPr sz="3200" b="1" i="1" spc="-300" dirty="0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sz="3200" b="1" i="1" spc="-285" dirty="0">
                <a:solidFill>
                  <a:srgbClr val="121522"/>
                </a:solidFill>
                <a:latin typeface="Verdana"/>
                <a:cs typeface="Verdana"/>
              </a:rPr>
              <a:t>throughout</a:t>
            </a:r>
            <a:r>
              <a:rPr sz="3200" b="1" i="1" spc="-300" dirty="0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sz="3200" b="1" i="1" spc="-325" dirty="0">
                <a:solidFill>
                  <a:srgbClr val="121522"/>
                </a:solidFill>
                <a:latin typeface="Verdana"/>
                <a:cs typeface="Verdana"/>
              </a:rPr>
              <a:t>this </a:t>
            </a:r>
            <a:r>
              <a:rPr sz="3200" b="1" i="1" spc="-280" dirty="0">
                <a:solidFill>
                  <a:srgbClr val="121522"/>
                </a:solidFill>
                <a:latin typeface="Verdana"/>
                <a:cs typeface="Verdana"/>
              </a:rPr>
              <a:t>project.</a:t>
            </a:r>
            <a:r>
              <a:rPr sz="3200" b="1" i="1" spc="-465" dirty="0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sz="3200" b="1" i="1" spc="-380" dirty="0">
                <a:solidFill>
                  <a:srgbClr val="121522"/>
                </a:solidFill>
                <a:latin typeface="Verdana"/>
                <a:cs typeface="Verdana"/>
              </a:rPr>
              <a:t>Your</a:t>
            </a:r>
            <a:r>
              <a:rPr sz="3200" b="1" i="1" spc="-290" dirty="0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sz="3200" b="1" i="1" spc="-285" dirty="0">
                <a:solidFill>
                  <a:srgbClr val="121522"/>
                </a:solidFill>
                <a:latin typeface="Verdana"/>
                <a:cs typeface="Verdana"/>
              </a:rPr>
              <a:t>insights</a:t>
            </a:r>
            <a:r>
              <a:rPr sz="3200" b="1" i="1" spc="-265" dirty="0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sz="3200" b="1" i="1" spc="-305" dirty="0">
                <a:solidFill>
                  <a:srgbClr val="121522"/>
                </a:solidFill>
                <a:latin typeface="Verdana"/>
                <a:cs typeface="Verdana"/>
              </a:rPr>
              <a:t>have</a:t>
            </a:r>
            <a:r>
              <a:rPr sz="3200" b="1" i="1" spc="-275" dirty="0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sz="3200" b="1" i="1" spc="-250" dirty="0">
                <a:solidFill>
                  <a:srgbClr val="121522"/>
                </a:solidFill>
                <a:latin typeface="Verdana"/>
                <a:cs typeface="Verdana"/>
              </a:rPr>
              <a:t>been</a:t>
            </a:r>
            <a:r>
              <a:rPr sz="3200" b="1" i="1" spc="-265" dirty="0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sz="3200" b="1" i="1" spc="-250" dirty="0">
                <a:solidFill>
                  <a:srgbClr val="121522"/>
                </a:solidFill>
                <a:latin typeface="Verdana"/>
                <a:cs typeface="Verdana"/>
              </a:rPr>
              <a:t>incredibly</a:t>
            </a:r>
            <a:r>
              <a:rPr sz="3200" b="1" i="1" spc="-285" dirty="0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sz="3200" b="1" i="1" spc="-180" dirty="0">
                <a:solidFill>
                  <a:srgbClr val="121522"/>
                </a:solidFill>
                <a:latin typeface="Verdana"/>
                <a:cs typeface="Verdana"/>
              </a:rPr>
              <a:t>helpful, </a:t>
            </a:r>
            <a:r>
              <a:rPr sz="3200" b="1" i="1" spc="-270" dirty="0">
                <a:solidFill>
                  <a:srgbClr val="121522"/>
                </a:solidFill>
                <a:latin typeface="Verdana"/>
                <a:cs typeface="Verdana"/>
              </a:rPr>
              <a:t>and</a:t>
            </a:r>
            <a:r>
              <a:rPr sz="3200" b="1" i="1" spc="-290" dirty="0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sz="3200" b="1" i="1" spc="-345" dirty="0">
                <a:solidFill>
                  <a:srgbClr val="121522"/>
                </a:solidFill>
                <a:latin typeface="Verdana"/>
                <a:cs typeface="Verdana"/>
              </a:rPr>
              <a:t>we</a:t>
            </a:r>
            <a:r>
              <a:rPr sz="3200" b="1" i="1" spc="-300" dirty="0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sz="3200" b="1" i="1" spc="-285" dirty="0">
                <a:solidFill>
                  <a:srgbClr val="121522"/>
                </a:solidFill>
                <a:latin typeface="Verdana"/>
                <a:cs typeface="Verdana"/>
              </a:rPr>
              <a:t>appreciate</a:t>
            </a:r>
            <a:r>
              <a:rPr sz="3200" b="1" i="1" spc="-305" dirty="0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sz="3200" b="1" i="1" spc="-295" dirty="0">
                <a:solidFill>
                  <a:srgbClr val="121522"/>
                </a:solidFill>
                <a:latin typeface="Verdana"/>
                <a:cs typeface="Verdana"/>
              </a:rPr>
              <a:t>the </a:t>
            </a:r>
            <a:r>
              <a:rPr sz="3200" b="1" i="1" spc="-260" dirty="0">
                <a:solidFill>
                  <a:srgbClr val="121522"/>
                </a:solidFill>
                <a:latin typeface="Verdana"/>
                <a:cs typeface="Verdana"/>
              </a:rPr>
              <a:t>opportunity</a:t>
            </a:r>
            <a:r>
              <a:rPr sz="3200" b="1" i="1" spc="-300" dirty="0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sz="3200" b="1" i="1" spc="-260" dirty="0">
                <a:solidFill>
                  <a:srgbClr val="121522"/>
                </a:solidFill>
                <a:latin typeface="Verdana"/>
                <a:cs typeface="Verdana"/>
              </a:rPr>
              <a:t>to</a:t>
            </a:r>
            <a:r>
              <a:rPr sz="3200" b="1" i="1" spc="-300" dirty="0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sz="3200" b="1" i="1" spc="-310" dirty="0">
                <a:solidFill>
                  <a:srgbClr val="121522"/>
                </a:solidFill>
                <a:latin typeface="Verdana"/>
                <a:cs typeface="Verdana"/>
              </a:rPr>
              <a:t>present</a:t>
            </a:r>
            <a:r>
              <a:rPr sz="3200" b="1" i="1" spc="-285" dirty="0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sz="3200" b="1" i="1" spc="-330" dirty="0">
                <a:solidFill>
                  <a:srgbClr val="121522"/>
                </a:solidFill>
                <a:latin typeface="Verdana"/>
                <a:cs typeface="Verdana"/>
              </a:rPr>
              <a:t>our </a:t>
            </a:r>
            <a:r>
              <a:rPr sz="3200" b="1" i="1" spc="-310" dirty="0">
                <a:solidFill>
                  <a:srgbClr val="121522"/>
                </a:solidFill>
                <a:latin typeface="Verdana"/>
                <a:cs typeface="Verdana"/>
              </a:rPr>
              <a:t>progress</a:t>
            </a:r>
            <a:r>
              <a:rPr sz="3200" b="1" i="1" spc="-300" dirty="0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sz="3200" b="1" i="1" spc="-285" dirty="0">
                <a:solidFill>
                  <a:srgbClr val="121522"/>
                </a:solidFill>
                <a:latin typeface="Verdana"/>
                <a:cs typeface="Verdana"/>
              </a:rPr>
              <a:t>today.</a:t>
            </a:r>
            <a:r>
              <a:rPr sz="3200" b="1" i="1" spc="-415" dirty="0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sz="3200" b="1" i="1" spc="-340" dirty="0">
                <a:solidFill>
                  <a:srgbClr val="121522"/>
                </a:solidFill>
                <a:latin typeface="Verdana"/>
                <a:cs typeface="Verdana"/>
              </a:rPr>
              <a:t>We</a:t>
            </a:r>
            <a:r>
              <a:rPr sz="3200" b="1" i="1" spc="-300" dirty="0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sz="3200" b="1" i="1" spc="-350" dirty="0">
                <a:solidFill>
                  <a:srgbClr val="121522"/>
                </a:solidFill>
                <a:latin typeface="Verdana"/>
                <a:cs typeface="Verdana"/>
              </a:rPr>
              <a:t>are</a:t>
            </a:r>
            <a:r>
              <a:rPr sz="3200" b="1" i="1" spc="-280" dirty="0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sz="3200" b="1" i="1" spc="-285" dirty="0">
                <a:solidFill>
                  <a:srgbClr val="121522"/>
                </a:solidFill>
                <a:latin typeface="Verdana"/>
                <a:cs typeface="Verdana"/>
              </a:rPr>
              <a:t>grateful</a:t>
            </a:r>
            <a:r>
              <a:rPr sz="3200" b="1" i="1" spc="-295" dirty="0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sz="3200" b="1" i="1" spc="-260" dirty="0">
                <a:solidFill>
                  <a:srgbClr val="121522"/>
                </a:solidFill>
                <a:latin typeface="Verdana"/>
                <a:cs typeface="Verdana"/>
              </a:rPr>
              <a:t>for</a:t>
            </a:r>
            <a:r>
              <a:rPr sz="3200" b="1" i="1" spc="-290" dirty="0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sz="3200" b="1" i="1" spc="-315" dirty="0">
                <a:solidFill>
                  <a:srgbClr val="121522"/>
                </a:solidFill>
                <a:latin typeface="Verdana"/>
                <a:cs typeface="Verdana"/>
              </a:rPr>
              <a:t>your</a:t>
            </a:r>
            <a:r>
              <a:rPr sz="3200" b="1" i="1" spc="-295" dirty="0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sz="3200" b="1" i="1" spc="-80" dirty="0">
                <a:solidFill>
                  <a:srgbClr val="121522"/>
                </a:solidFill>
                <a:latin typeface="Verdana"/>
                <a:cs typeface="Verdana"/>
              </a:rPr>
              <a:t>feedback </a:t>
            </a:r>
            <a:r>
              <a:rPr sz="3200" b="1" i="1" spc="-270" dirty="0">
                <a:solidFill>
                  <a:srgbClr val="121522"/>
                </a:solidFill>
                <a:latin typeface="Verdana"/>
                <a:cs typeface="Verdana"/>
              </a:rPr>
              <a:t>and</a:t>
            </a:r>
            <a:r>
              <a:rPr sz="3200" b="1" i="1" spc="-285" dirty="0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sz="3200" b="1" i="1" spc="-235" dirty="0">
                <a:solidFill>
                  <a:srgbClr val="121522"/>
                </a:solidFill>
                <a:latin typeface="Verdana"/>
                <a:cs typeface="Verdana"/>
              </a:rPr>
              <a:t>look</a:t>
            </a:r>
            <a:r>
              <a:rPr sz="3200" b="1" i="1" spc="-300" dirty="0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sz="3200" b="1" i="1" spc="-305" dirty="0">
                <a:solidFill>
                  <a:srgbClr val="121522"/>
                </a:solidFill>
                <a:latin typeface="Verdana"/>
                <a:cs typeface="Verdana"/>
              </a:rPr>
              <a:t>forward</a:t>
            </a:r>
            <a:r>
              <a:rPr sz="3200" b="1" i="1" spc="-290" dirty="0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sz="3200" b="1" i="1" spc="-260" dirty="0">
                <a:solidFill>
                  <a:srgbClr val="121522"/>
                </a:solidFill>
                <a:latin typeface="Verdana"/>
                <a:cs typeface="Verdana"/>
              </a:rPr>
              <a:t>to</a:t>
            </a:r>
            <a:r>
              <a:rPr sz="3200" b="1" i="1" spc="-295" dirty="0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sz="3200" b="1" i="1" spc="-270" dirty="0">
                <a:solidFill>
                  <a:srgbClr val="121522"/>
                </a:solidFill>
                <a:latin typeface="Verdana"/>
                <a:cs typeface="Verdana"/>
              </a:rPr>
              <a:t>incorporating</a:t>
            </a:r>
            <a:r>
              <a:rPr sz="3200" b="1" i="1" spc="-280" dirty="0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sz="3200" b="1" i="1" spc="-240" dirty="0">
                <a:solidFill>
                  <a:srgbClr val="121522"/>
                </a:solidFill>
                <a:latin typeface="Verdana"/>
                <a:cs typeface="Verdana"/>
              </a:rPr>
              <a:t>it</a:t>
            </a:r>
            <a:r>
              <a:rPr sz="3200" b="1" i="1" spc="-295" dirty="0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sz="3200" b="1" i="1" spc="-385" dirty="0">
                <a:solidFill>
                  <a:srgbClr val="121522"/>
                </a:solidFill>
                <a:latin typeface="Verdana"/>
                <a:cs typeface="Verdana"/>
              </a:rPr>
              <a:t>as</a:t>
            </a:r>
            <a:r>
              <a:rPr sz="3200" b="1" i="1" spc="-280" dirty="0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sz="3200" b="1" i="1" spc="-345" dirty="0">
                <a:solidFill>
                  <a:srgbClr val="121522"/>
                </a:solidFill>
                <a:latin typeface="Verdana"/>
                <a:cs typeface="Verdana"/>
              </a:rPr>
              <a:t>we</a:t>
            </a:r>
            <a:r>
              <a:rPr sz="3200" b="1" i="1" spc="-295" dirty="0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sz="3200" b="1" i="1" spc="-365" dirty="0">
                <a:solidFill>
                  <a:srgbClr val="121522"/>
                </a:solidFill>
                <a:latin typeface="Verdana"/>
                <a:cs typeface="Verdana"/>
              </a:rPr>
              <a:t>work </a:t>
            </a:r>
            <a:r>
              <a:rPr sz="3200" b="1" i="1" spc="-315" dirty="0">
                <a:solidFill>
                  <a:srgbClr val="121522"/>
                </a:solidFill>
                <a:latin typeface="Verdana"/>
                <a:cs typeface="Verdana"/>
              </a:rPr>
              <a:t>toward</a:t>
            </a:r>
            <a:r>
              <a:rPr sz="3200" b="1" i="1" spc="-295" dirty="0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sz="3200" b="1" i="1" spc="-305" dirty="0">
                <a:solidFill>
                  <a:srgbClr val="121522"/>
                </a:solidFill>
                <a:latin typeface="Verdana"/>
                <a:cs typeface="Verdana"/>
              </a:rPr>
              <a:t>our</a:t>
            </a:r>
            <a:r>
              <a:rPr sz="3200" b="1" i="1" spc="-290" dirty="0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sz="3200" b="1" i="1" spc="-250" dirty="0">
                <a:solidFill>
                  <a:srgbClr val="121522"/>
                </a:solidFill>
                <a:latin typeface="Verdana"/>
                <a:cs typeface="Verdana"/>
              </a:rPr>
              <a:t>final</a:t>
            </a:r>
            <a:r>
              <a:rPr sz="3200" b="1" i="1" spc="-275" dirty="0">
                <a:solidFill>
                  <a:srgbClr val="121522"/>
                </a:solidFill>
                <a:latin typeface="Verdana"/>
                <a:cs typeface="Verdana"/>
              </a:rPr>
              <a:t> </a:t>
            </a:r>
            <a:r>
              <a:rPr sz="3200" b="1" i="1" spc="-315" dirty="0">
                <a:solidFill>
                  <a:srgbClr val="121522"/>
                </a:solidFill>
                <a:latin typeface="Verdana"/>
                <a:cs typeface="Verdana"/>
              </a:rPr>
              <a:t>submission.</a:t>
            </a:r>
            <a:endParaRPr sz="32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9238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77</TotalTime>
  <Words>2405</Words>
  <Application>Microsoft Office PowerPoint</Application>
  <PresentationFormat>Widescreen</PresentationFormat>
  <Paragraphs>251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8" baseType="lpstr">
      <vt:lpstr>Angsana New</vt:lpstr>
      <vt:lpstr>Arial</vt:lpstr>
      <vt:lpstr>Arial MT</vt:lpstr>
      <vt:lpstr>Calibri</vt:lpstr>
      <vt:lpstr>Cambria</vt:lpstr>
      <vt:lpstr>Microsoft Sans Serif</vt:lpstr>
      <vt:lpstr>Tahoma</vt:lpstr>
      <vt:lpstr>Times New Roman</vt:lpstr>
      <vt:lpstr>Trebuchet MS</vt:lpstr>
      <vt:lpstr>Verdana</vt:lpstr>
      <vt:lpstr>Wingdings</vt:lpstr>
      <vt:lpstr>Office Theme</vt:lpstr>
      <vt:lpstr>School of Computer Science and Engineering Department of Computer Science and Engineering</vt:lpstr>
      <vt:lpstr>Outline</vt:lpstr>
      <vt:lpstr>PowerPoint Presentation</vt:lpstr>
      <vt:lpstr>PowerPoint Presentation</vt:lpstr>
      <vt:lpstr>PowerPoint Presentation</vt:lpstr>
      <vt:lpstr>Problem Statement:- How to detect stage of disease using Ai-Models?</vt:lpstr>
      <vt:lpstr>Proposed solution</vt:lpstr>
      <vt:lpstr>PowerPoint Presentation</vt:lpstr>
      <vt:lpstr>PowerPoint Presentation</vt:lpstr>
      <vt:lpstr>Key Machine Learning &amp; Deep Learning Concepts</vt:lpstr>
      <vt:lpstr>Current Progress:- RESNET</vt:lpstr>
      <vt:lpstr>Sample data to train the model</vt:lpstr>
      <vt:lpstr>Model Evaluation Report</vt:lpstr>
      <vt:lpstr>2. Training vs Validation Loss</vt:lpstr>
      <vt:lpstr>3. Confusion Matrix Analysis</vt:lpstr>
      <vt:lpstr>4. ROC–AUC Curve Analysis</vt:lpstr>
      <vt:lpstr>PowerPoint Presentation</vt:lpstr>
      <vt:lpstr>Classification Report Analysis</vt:lpstr>
      <vt:lpstr>Current Progress:- Efficienct net</vt:lpstr>
      <vt:lpstr>EfficientNet – ROC–AUC Analysis</vt:lpstr>
      <vt:lpstr>RES-NET 50 ATTENTION MODULE</vt:lpstr>
      <vt:lpstr>RES-NET50 CLAHE</vt:lpstr>
      <vt:lpstr>RESNET INCEPTION V2</vt:lpstr>
      <vt:lpstr>SUMMARRY :- MODEL COMPARISON TABLE</vt:lpstr>
      <vt:lpstr>Refereneces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YASH SINGH</dc:creator>
  <cp:lastModifiedBy>Yash Singh [CSE - 2024]</cp:lastModifiedBy>
  <cp:revision>1</cp:revision>
  <dcterms:created xsi:type="dcterms:W3CDTF">2026-02-19T04:47:32Z</dcterms:created>
  <dcterms:modified xsi:type="dcterms:W3CDTF">2026-04-10T16:24:57Z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2026-02-14T00:00:00Z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2026-02-19T00:00:00Z</vt:filetime>
  </property>
  <property fmtid="{D5CDD505-2E9C-101B-9397-08002B2CF9AE}" pid="5" name="Producer">
    <vt:lpwstr>Microsoft® PowerPoint® for Microsoft 365</vt:lpwstr>
  </property>
</Properties>
</file>